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부트캠프 신청의 실제 이유는 사용자가 발표에서 직접 설명한다. 이미지는 이번 발표자료를 위해 생성한 개발 학습 환경 개념 이미지이며, 실제 부트캠프 현장이나 사용자의 책상을 촬영한 자료가 아니다. 영업·챗봇·골프 프로젝트 동기를 이 장에 넣지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확인 자료: C:\Users\user\Desktop\수업 자료의 01_java-jdk17, 02_mysql, 05_spring-web-mvc, 06_jpa, 10_next, 11_js, 12_ts, 14_python, 15_fastapi, 17_langchain/09_langgraph. 폴더와 수업 문서 존재는 확인했으나 개인별 수강 완료는 확인하지 않았다.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수업 근거: 05_spring-web-mvc의 요청 처리·인증 자료, 06_jpa의 데이터 매핑 실습, 02_mysql 자료. 이 장은 교육 내용만 보여주며 스윙분석기 구현 여부를 주장하지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수업 근거: 15_fastapi/02_pydantic의 입력 모델, 17_langchain/09_langgraph의 StateGraph·상태 스키마·조건부 간선. 이 장은 일반 수업 개념이며 프로젝트 적용은 뒤에서 다룬다.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개발 학습에서 익힌 문제 해결 과정: 문제 정의, 원인 가설, 배운 개념 적용, 결과 검증과 수정. 부트캠프 신청 동기와 프로젝트의 영업적 목적은 별도 주제이며 이 장에 혼합하지 않음. 개인 경험의 구체적인 사례는 발표자가 설명.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 설계 과정의 AI 학습 주제이며 모델 훈련·파인튜닝 실적이 아님. Ubiquitous Language: 골프 도메인 용어와 FEEL/OBSERVATION 구분을 계약에 정리. Context Packet: 최근 대화, 관련 사실, 활성 주제, 로드맵, 미해결 질문을 선택 전달. Response Policy: 응답 길이와 질문 전략은 독립 정책 코드 및 대화 상태 추적 POC에 존재하며 전체가 서비스 경로에 통합된 것은 아님.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사용자가 직접 밝힌 프로젝트 선택 이유: 골프를 좋아해 도메인으로 정했고, 구매력 있는 고객층과 차량·부동산 등 향후 사업 확장 가능성을 봤다. 구매력과 사업 확장은 사용자 판단 및 가설이지 이 발표에서 실증한 결과가 아니다. 골프 사진은 기존 발표 자료에서 가져왔다.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사용자가 직접 밝힌 UI 선택 이유: 영업 기술을 살려 챗봇으로 사람을 끌어오고, 젊은 층뿐 아니라 고령층까지 대상으로 삼고 싶었다. 고령층 도달은 목표이지 검증된 결과가 아니다. 제품 근거: ui-prototype/README.md는 채팅을 기본 화면으로 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좌측은 수업 자료의 항목, 우측은 현재 프로젝트의 구현 책임이다. UI는 ui-prototype/package.json에서 React/TypeScript/Vite로 확인했다. Java/Python 소유권은 backend/contracts/java-python-boundary.md, LangGraph 처리 순서는 backend/ai-processing/app/graphs/runtime.py로 확인했다. Next는 수업 영역이지만 프로젝트 UI는 Vite이다.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7개 섹션 중 1. 현재 구현 기반과 확장 설계, 도입 계획을 구분한다. 기존 구현은 회원 인증·대화 저장·프로필·초기 로드맵·LangGraph 분석 처리·근거 검증이다. 이후 메모리 자동 추출·갱신, RAG 검색과 영업 전략의 통합은 발표용 확장 설계안이며 실제 구현 완료가 아니다. 모델 훈련 또는 파인튜닝 실적을 주장하지 않는다. 전문가 자료 수집과 검색 평가, 영상 단서 추출 방식 선정은 후속 도입 계획이다.</a:t>
            </a:r>
          </a:p>
          <a:p/>
          <a:p>
            <a:r>
              <a:t>발표 화면은 핵심어 중심으로 축약. 상세 설명은 발표자 노트의 설계 설명 참조.</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7개 섹션 중 2. 채팅 엔진은 전체 대화 처리 시스템, LangGraph는 그 내부의 AI 처리 순서와 조건부 경로를 제어하는 구성 요소로 설명한다. 두 개의 동급 엔진으로 설명하지 않는다. Java/Spring Boot는 공개 API·인증·제품 DB, Python/FastAPI는 모델 호출·AI 처리라는 현재 경계가 있다. 그림의 메모리 조회·RAG 검색 연결은 확장 설계다. 정보가 부족하면 질문 단계로 돌아가고, 충분하면 검색·응답 경로로 진행하도록 구상한다. 현재 일반 대화에는 직접 모델 호출 경로도 있어 모든 메시지가 LangGraph를 통과하는 것은 아니다.</a:t>
            </a:r>
          </a:p>
          <a:p/>
          <a:p>
            <a:r>
              <a:t>발표 화면은 핵심어 중심으로 축약. 상세 설명은 발표자 노트의 설계 설명 참조.</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7개 섹션 중 3. ChatGPT의 개인 메모리 개념에서 착안한 확장 설계안. 원본 대화를 저장하는 것과 모델에 전달할 사용자 맥락을 추출하는 것을 분리한다. 고민·목표·시도·반응을 후보로 추출하되 단일 짧은 반응으로 감정이나 성향을 확정하지 않는다. 명시 정보와 추론을 구분하고 근거 발화·시점·적용 범위를 함께 유지하도록 설계한다. 새 정보와 충돌하면 기존 기록을 무조건 덮어쓰지 않고 확인 질문 또는 이력 보존을 거친다. 저장된 메모리를 현재 요청에 맞게 검색하는 기능은 다음 RAG 섹션의 책임이다.</a:t>
            </a:r>
          </a:p>
          <a:p/>
          <a:p>
            <a:r>
              <a:t>발표 화면은 핵심어 중심으로 축약. 상세 설명은 발표자 노트의 설계 설명 참조.</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7개 섹션 중 4. 사용자 기록 검색은 개인 맥락 복원, 전문가 지식 검색은 설명 근거 확보라는 다른 목적을 가진다. 논리적 검색 범위를 분리하며 물리 DB를 반드시 두 개 사용한다는 결정은 아니다. 회원 기록은 인증된 회원 ID로 접근 범위를 제한하고 샷 조건과 시점 등을 사용해 관련성을 좁힌다. 전문가 자료는 문제 유형·설명 조건·출처를 함께 저장하는 도입 계획이다. 현재 질문과 문제 후보로 의미 유사성을 검색하되 유사도를 정답이나 원인 확정으로 취급하지 않는다. 임베딩 모델, 검색 저장소, 문서 분할 방식과 임계치는 아직 선정되지 않았다. RAG 통합은 실제 구현이 아닌 설계안이다.</a:t>
            </a:r>
          </a:p>
          <a:p/>
          <a:p>
            <a:r>
              <a:t>발표 화면은 핵심어 중심으로 축약. 상세 설명은 발표자 노트의 설계 설명 참조.</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7개 섹션 중 5. 채팅과 영상에서 얻을 수 있는 단서를 공통 문제 유형으로 표현한 뒤 전문가 검색에 사용한다. 영상만으로 정밀 원인 진단이 가능하다고 주장하지 않는다. 영상에서 검색 가능한 단서를 얻는 구체적인 추출 기술은 후속 검토 대상이다. 예를 들어 오른쪽으로 벗어난다는 표현만으로 슬라이스를 확정하지 않고 출발 방향, 휘는 방향과 샷 조건 등을 추가 확인한다. FEEL은 사용자 체감, OBSERVATION은 실제 확인한 관찰이며 두 출처를 구분한다. 문제 분류 결과는 후보로 유지하고 충분한 정보가 없으면 질문으로 돌아가는 설계다.</a:t>
            </a:r>
          </a:p>
          <a:p/>
          <a:p>
            <a:r>
              <a:t>발표 화면은 핵심어 중심으로 축약. 상세 설명은 발표자 노트의 설계 설명 참조.</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7개 섹션 중 6. 핵심 USP는 분석 모델 자체가 아니라 영업 경험을 대화 전략으로 전환한 설계다. 사용자 상태에 따라 질문 하나, 직접 설명, 길이 조절, 이전 주제 연결, 발전 인정, 다음 행동 제안 등을 선택한다. 모든 응답에 질문을 강제하지 않는다. 발전 인정은 실제 근거가 있는 경우에만 하며 오픈 루프는 미해결 질문이나 다음 과제를 남겨 대화를 이어가는 구조다. 상태 추적과 전략 선택은 별도 POC가 있고 발전 인정·OpenLoop의 검증·저장 기반은 존재하지만 서비스 자동 생성과 전체 연결은 미완성이다. 후킹 또는 재방문 향상 효과는 측정되지 않았다.</a:t>
            </a:r>
          </a:p>
          <a:p/>
          <a:p>
            <a:r>
              <a:t>발표 화면은 핵심어 중심으로 축약. 상세 설명은 발표자 노트의 설계 설명 참조.</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7개 섹션 중 7. 기존 영상·코칭 근거 검사와 앞으로 연결할 RAG 실패 처리를 구분한다. 검색 근거가 없을 때는 확인 질문으로 돌아가고, 전문가 설명이 충돌하면 출처와 적용 조건 차이를 먼저 확인한다. 문제 분류가 불확실하면 원인을 단정하지 않고 후보를 유지한다. 메모리 추출 오류, 검색 관련성 오류, 대화 전략 오류를 분리해 점검할 수 있도록 책임을 나눈다. 세부 검색 기준과 평가 데이터는 도입 계획이며 이번 작업에서 소프트웨어에 구현하거나 운영 검증한 것은 아니다.</a:t>
            </a:r>
          </a:p>
          <a:p/>
          <a:p>
            <a:r>
              <a:t>발표 화면은 핵심어 중심으로 축약. 상세 설명은 발표자 노트의 설계 설명 참조.</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화면 모두 기존 swing-analyzer-bootcamp-technical-section.pptx의 UI 재현 이미지를 다시 사용한다. ui-prototype/README.md와 package.json은 React/TypeScript/Vite 채팅 UI와 사진·영상 첨부 흐름을 설명한다. 이 이미지는 mock API 화면이며 이번 발표자료 수정에서 live media E2E를 실행한 결과가 아니다.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주제 5. 성공 또는 제한적 성공 분석의 변경점과 확인 기준을 바탕으로 초기 로드맵 milestone 생성. 회원 JWT 주체로 소유자를 식별해 장기 프로필과 활성 로드맵을 저장·재조회한다. 재로그인 후 같은 회원 데이터 복원 경로가 구현되어 있다. 다단계 자동 갱신 전체 완료를 뜻하지 않으며 이번 PPT 수정에서 실시간 E2E를 다시 실행하지 않았다.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384048"/>
            <a:ext cx="9875520" cy="265176"/>
          </a:xfrm>
          <a:prstGeom prst="rect">
            <a:avLst/>
          </a:prstGeom>
          <a:noFill/>
          <a:ln/>
        </p:spPr>
        <p:txBody>
          <a:bodyPr wrap="square" lIns="0" tIns="0" rIns="0" bIns="0" rtlCol="0" anchor="ctr">
            <a:normAutofit/>
          </a:bodyPr>
          <a:lstStyle/>
          <a:p>
            <a:pPr indent="0" marL="0">
              <a:buNone/>
            </a:pPr>
            <a:r>
              <a:rPr lang="en-US" sz="1030" b="1" spc="120" kern="0" dirty="0">
                <a:solidFill>
                  <a:srgbClr val="707070"/>
                </a:solidFill>
                <a:latin typeface="Arial" pitchFamily="34" charset="0"/>
                <a:ea typeface="Arial" pitchFamily="34" charset="-122"/>
                <a:cs typeface="Arial" pitchFamily="34" charset="-120"/>
              </a:rPr>
              <a:t>PERSONAL · BOOTCAMP APPLICATION</a:t>
            </a:r>
            <a:endParaRPr lang="en-US" sz="1030" dirty="0"/>
          </a:p>
        </p:txBody>
      </p:sp>
      <p:sp>
        <p:nvSpPr>
          <p:cNvPr id="3" name="Text 1"/>
          <p:cNvSpPr/>
          <p:nvPr/>
        </p:nvSpPr>
        <p:spPr>
          <a:xfrm>
            <a:off x="777240" y="786384"/>
            <a:ext cx="10652760" cy="612648"/>
          </a:xfrm>
          <a:prstGeom prst="rect">
            <a:avLst/>
          </a:prstGeom>
          <a:noFill/>
          <a:ln/>
        </p:spPr>
        <p:txBody>
          <a:bodyPr wrap="square" lIns="0" tIns="0" rIns="0" bIns="0" rtlCol="0" anchor="ctr">
            <a:normAutofit/>
          </a:bodyPr>
          <a:lstStyle/>
          <a:p>
            <a:pPr indent="0" marL="0">
              <a:buNone/>
            </a:pPr>
            <a:r>
              <a:rPr lang="en-US" sz="3100" b="1" dirty="0">
                <a:solidFill>
                  <a:srgbClr val="171717"/>
                </a:solidFill>
                <a:latin typeface="Malgun Gothic" pitchFamily="34" charset="0"/>
                <a:ea typeface="Malgun Gothic" pitchFamily="34" charset="-122"/>
                <a:cs typeface="Malgun Gothic" pitchFamily="34" charset="-120"/>
              </a:rPr>
              <a:t>부트캠프 신청 이유</a:t>
            </a:r>
            <a:endParaRPr lang="en-US" sz="3100" dirty="0"/>
          </a:p>
        </p:txBody>
      </p:sp>
      <p:sp>
        <p:nvSpPr>
          <p:cNvPr id="4" name="Shape 2"/>
          <p:cNvSpPr/>
          <p:nvPr/>
        </p:nvSpPr>
        <p:spPr>
          <a:xfrm>
            <a:off x="777240" y="1508760"/>
            <a:ext cx="10634472" cy="0"/>
          </a:xfrm>
          <a:prstGeom prst="line">
            <a:avLst/>
          </a:prstGeom>
          <a:noFill/>
          <a:ln w="10160">
            <a:solidFill>
              <a:srgbClr val="EDEDED"/>
            </a:solidFill>
            <a:prstDash val="solid"/>
          </a:ln>
        </p:spPr>
      </p:sp>
      <p:sp>
        <p:nvSpPr>
          <p:cNvPr id="5" name="Text 3"/>
          <p:cNvSpPr/>
          <p:nvPr/>
        </p:nvSpPr>
        <p:spPr>
          <a:xfrm>
            <a:off x="10652760" y="6446520"/>
            <a:ext cx="758952" cy="201168"/>
          </a:xfrm>
          <a:prstGeom prst="rect">
            <a:avLst/>
          </a:prstGeom>
          <a:noFill/>
          <a:ln/>
        </p:spPr>
        <p:txBody>
          <a:bodyPr wrap="square" lIns="0" tIns="0" rIns="0" bIns="0" rtlCol="0" anchor="ctr">
            <a:normAutofit/>
          </a:bodyPr>
          <a:lstStyle/>
          <a:p>
            <a:pPr algn="r" indent="0" marL="0">
              <a:buNone/>
            </a:pPr>
            <a:r>
              <a:rPr lang="en-US" sz="1040" dirty="0">
                <a:solidFill>
                  <a:srgbClr val="707070"/>
                </a:solidFill>
                <a:latin typeface="Arial" pitchFamily="34" charset="0"/>
                <a:ea typeface="Arial" pitchFamily="34" charset="-122"/>
                <a:cs typeface="Arial" pitchFamily="34" charset="-120"/>
              </a:rPr>
              <a:t>01 / 18</a:t>
            </a:r>
            <a:endParaRPr lang="en-US" sz="1040" dirty="0"/>
          </a:p>
        </p:txBody>
      </p:sp>
      <p:sp>
        <p:nvSpPr>
          <p:cNvPr id="6" name="Shape 4"/>
          <p:cNvSpPr/>
          <p:nvPr/>
        </p:nvSpPr>
        <p:spPr>
          <a:xfrm>
            <a:off x="2313432" y="1901952"/>
            <a:ext cx="7571232" cy="4279392"/>
          </a:xfrm>
          <a:prstGeom prst="roundRect">
            <a:avLst>
              <a:gd name="adj" fmla="val 1709"/>
            </a:avLst>
          </a:prstGeom>
          <a:solidFill>
            <a:srgbClr val="FFFFFF"/>
          </a:solidFill>
          <a:ln w="10160">
            <a:solidFill>
              <a:srgbClr val="DFDFDF"/>
            </a:solidFill>
            <a:prstDash val="solid"/>
          </a:ln>
        </p:spPr>
      </p:sp>
      <p:pic>
        <p:nvPicPr>
          <p:cNvPr id="7" name="Image 0" descr="C:\Users\user\Desktop\스윙분석기\docs\presentations\assets\bootcamp-study-desk-v1.png">    </p:cNvPr>
          <p:cNvPicPr>
            <a:picLocks noChangeAspect="1"/>
          </p:cNvPicPr>
          <p:nvPr/>
        </p:nvPicPr>
        <p:blipFill>
          <a:blip r:embed="rId1"/>
          <a:stretch>
            <a:fillRect/>
          </a:stretch>
        </p:blipFill>
        <p:spPr>
          <a:xfrm>
            <a:off x="2340864" y="1929384"/>
            <a:ext cx="7516368" cy="4224528"/>
          </a:xfrm>
          <a:prstGeom prst="rect">
            <a:avLst/>
          </a:prstGeom>
        </p:spPr>
      </p:pic>
      <p:sp>
        <p:nvSpPr>
          <p:cNvPr id="8" name="Text 5"/>
          <p:cNvSpPr/>
          <p:nvPr/>
        </p:nvSpPr>
        <p:spPr>
          <a:xfrm>
            <a:off x="777240" y="6437376"/>
            <a:ext cx="8092440" cy="201168"/>
          </a:xfrm>
          <a:prstGeom prst="rect">
            <a:avLst/>
          </a:prstGeom>
          <a:noFill/>
          <a:ln/>
        </p:spPr>
        <p:txBody>
          <a:bodyPr wrap="square" lIns="0" tIns="0" rIns="0" bIns="0" rtlCol="0" anchor="ctr">
            <a:normAutofit/>
          </a:bodyPr>
          <a:lstStyle/>
          <a:p>
            <a:pPr indent="0" marL="0">
              <a:buNone/>
            </a:pPr>
            <a:r>
              <a:rPr lang="en-US" sz="1020" dirty="0">
                <a:solidFill>
                  <a:srgbClr val="707070"/>
                </a:solidFill>
                <a:latin typeface="Malgun Gothic" pitchFamily="34" charset="0"/>
                <a:ea typeface="Malgun Gothic" pitchFamily="34" charset="-122"/>
                <a:cs typeface="Malgun Gothic" pitchFamily="34" charset="-120"/>
              </a:rPr>
              <a:t>개념 이미지 · 개발 학습 환경</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384048"/>
            <a:ext cx="9875520" cy="265176"/>
          </a:xfrm>
          <a:prstGeom prst="rect">
            <a:avLst/>
          </a:prstGeom>
          <a:noFill/>
          <a:ln/>
        </p:spPr>
        <p:txBody>
          <a:bodyPr wrap="square" lIns="0" tIns="0" rIns="0" bIns="0" rtlCol="0" anchor="ctr">
            <a:normAutofit/>
          </a:bodyPr>
          <a:lstStyle/>
          <a:p>
            <a:pPr indent="0" marL="0">
              <a:buNone/>
            </a:pPr>
            <a:r>
              <a:rPr lang="en-US" sz="1030" b="1" spc="120" kern="0" dirty="0">
                <a:solidFill>
                  <a:srgbClr val="707070"/>
                </a:solidFill>
                <a:latin typeface="Arial" pitchFamily="34" charset="0"/>
                <a:ea typeface="Arial" pitchFamily="34" charset="-122"/>
                <a:cs typeface="Arial" pitchFamily="34" charset="-120"/>
              </a:rPr>
              <a:t>CURRICULUM · INVENTORY</a:t>
            </a:r>
            <a:endParaRPr lang="en-US" sz="1030" dirty="0"/>
          </a:p>
        </p:txBody>
      </p:sp>
      <p:sp>
        <p:nvSpPr>
          <p:cNvPr id="3" name="Text 1"/>
          <p:cNvSpPr/>
          <p:nvPr/>
        </p:nvSpPr>
        <p:spPr>
          <a:xfrm>
            <a:off x="777240" y="786384"/>
            <a:ext cx="10652760" cy="612648"/>
          </a:xfrm>
          <a:prstGeom prst="rect">
            <a:avLst/>
          </a:prstGeom>
          <a:noFill/>
          <a:ln/>
        </p:spPr>
        <p:txBody>
          <a:bodyPr wrap="square" lIns="0" tIns="0" rIns="0" bIns="0" rtlCol="0" anchor="ctr">
            <a:normAutofit/>
          </a:bodyPr>
          <a:lstStyle/>
          <a:p>
            <a:pPr indent="0" marL="0">
              <a:buNone/>
            </a:pPr>
            <a:r>
              <a:rPr lang="en-US" sz="3100" b="1" dirty="0">
                <a:solidFill>
                  <a:srgbClr val="171717"/>
                </a:solidFill>
                <a:latin typeface="Malgun Gothic" pitchFamily="34" charset="0"/>
                <a:ea typeface="Malgun Gothic" pitchFamily="34" charset="-122"/>
                <a:cs typeface="Malgun Gothic" pitchFamily="34" charset="-120"/>
              </a:rPr>
              <a:t>교육 범위 — 웹 · 데이터 · AI</a:t>
            </a:r>
            <a:endParaRPr lang="en-US" sz="3100" dirty="0"/>
          </a:p>
        </p:txBody>
      </p:sp>
      <p:sp>
        <p:nvSpPr>
          <p:cNvPr id="4" name="Shape 2"/>
          <p:cNvSpPr/>
          <p:nvPr/>
        </p:nvSpPr>
        <p:spPr>
          <a:xfrm>
            <a:off x="777240" y="1508760"/>
            <a:ext cx="10634472" cy="0"/>
          </a:xfrm>
          <a:prstGeom prst="line">
            <a:avLst/>
          </a:prstGeom>
          <a:noFill/>
          <a:ln w="10160">
            <a:solidFill>
              <a:srgbClr val="EDEDED"/>
            </a:solidFill>
            <a:prstDash val="solid"/>
          </a:ln>
        </p:spPr>
      </p:sp>
      <p:sp>
        <p:nvSpPr>
          <p:cNvPr id="5" name="Text 3"/>
          <p:cNvSpPr/>
          <p:nvPr/>
        </p:nvSpPr>
        <p:spPr>
          <a:xfrm>
            <a:off x="10652760" y="6446520"/>
            <a:ext cx="758952" cy="201168"/>
          </a:xfrm>
          <a:prstGeom prst="rect">
            <a:avLst/>
          </a:prstGeom>
          <a:noFill/>
          <a:ln/>
        </p:spPr>
        <p:txBody>
          <a:bodyPr wrap="square" lIns="0" tIns="0" rIns="0" bIns="0" rtlCol="0" anchor="ctr">
            <a:normAutofit/>
          </a:bodyPr>
          <a:lstStyle/>
          <a:p>
            <a:pPr algn="r" indent="0" marL="0">
              <a:buNone/>
            </a:pPr>
            <a:r>
              <a:rPr lang="en-US" sz="1040" dirty="0">
                <a:solidFill>
                  <a:srgbClr val="707070"/>
                </a:solidFill>
                <a:latin typeface="Arial" pitchFamily="34" charset="0"/>
                <a:ea typeface="Arial" pitchFamily="34" charset="-122"/>
                <a:cs typeface="Arial" pitchFamily="34" charset="-120"/>
              </a:rPr>
              <a:t>02 / 18</a:t>
            </a:r>
            <a:endParaRPr lang="en-US" sz="1040" dirty="0"/>
          </a:p>
        </p:txBody>
      </p:sp>
      <p:sp>
        <p:nvSpPr>
          <p:cNvPr id="6" name="Shape 4"/>
          <p:cNvSpPr/>
          <p:nvPr/>
        </p:nvSpPr>
        <p:spPr>
          <a:xfrm>
            <a:off x="777240" y="2157984"/>
            <a:ext cx="1947672" cy="3346704"/>
          </a:xfrm>
          <a:prstGeom prst="roundRect">
            <a:avLst>
              <a:gd name="adj" fmla="val 5634"/>
            </a:avLst>
          </a:prstGeom>
          <a:solidFill>
            <a:srgbClr val="FFFFFF"/>
          </a:solidFill>
          <a:ln w="10160">
            <a:solidFill>
              <a:srgbClr val="DFDFDF"/>
            </a:solidFill>
            <a:prstDash val="solid"/>
          </a:ln>
        </p:spPr>
      </p:sp>
      <p:sp>
        <p:nvSpPr>
          <p:cNvPr id="7" name="Shape 5"/>
          <p:cNvSpPr/>
          <p:nvPr/>
        </p:nvSpPr>
        <p:spPr>
          <a:xfrm>
            <a:off x="1207008" y="3017520"/>
            <a:ext cx="1124712" cy="393192"/>
          </a:xfrm>
          <a:prstGeom prst="roundRect">
            <a:avLst>
              <a:gd name="adj" fmla="val 11628"/>
            </a:avLst>
          </a:prstGeom>
          <a:solidFill>
            <a:srgbClr val="FAFAFA"/>
          </a:solidFill>
          <a:ln w="10160">
            <a:solidFill>
              <a:srgbClr val="DFDFDF"/>
            </a:solidFill>
            <a:prstDash val="solid"/>
          </a:ln>
        </p:spPr>
      </p:sp>
      <p:sp>
        <p:nvSpPr>
          <p:cNvPr id="8" name="Shape 6"/>
          <p:cNvSpPr/>
          <p:nvPr/>
        </p:nvSpPr>
        <p:spPr>
          <a:xfrm>
            <a:off x="1207008" y="3474720"/>
            <a:ext cx="1124712" cy="393192"/>
          </a:xfrm>
          <a:prstGeom prst="roundRect">
            <a:avLst>
              <a:gd name="adj" fmla="val 11628"/>
            </a:avLst>
          </a:prstGeom>
          <a:solidFill>
            <a:srgbClr val="FAFAFA"/>
          </a:solidFill>
          <a:ln w="10160">
            <a:solidFill>
              <a:srgbClr val="DFDFDF"/>
            </a:solidFill>
            <a:prstDash val="solid"/>
          </a:ln>
        </p:spPr>
      </p:sp>
      <p:sp>
        <p:nvSpPr>
          <p:cNvPr id="9" name="Shape 7"/>
          <p:cNvSpPr/>
          <p:nvPr/>
        </p:nvSpPr>
        <p:spPr>
          <a:xfrm>
            <a:off x="1207008" y="3931920"/>
            <a:ext cx="1124712" cy="393192"/>
          </a:xfrm>
          <a:prstGeom prst="roundRect">
            <a:avLst>
              <a:gd name="adj" fmla="val 11628"/>
            </a:avLst>
          </a:prstGeom>
          <a:solidFill>
            <a:srgbClr val="FAFAFA"/>
          </a:solidFill>
          <a:ln w="10160">
            <a:solidFill>
              <a:srgbClr val="DFDFDF"/>
            </a:solidFill>
            <a:prstDash val="solid"/>
          </a:ln>
        </p:spPr>
      </p:sp>
      <p:sp>
        <p:nvSpPr>
          <p:cNvPr id="10" name="Shape 8"/>
          <p:cNvSpPr/>
          <p:nvPr/>
        </p:nvSpPr>
        <p:spPr>
          <a:xfrm>
            <a:off x="1316736" y="3163824"/>
            <a:ext cx="91440" cy="91440"/>
          </a:xfrm>
          <a:prstGeom prst="ellipse">
            <a:avLst/>
          </a:prstGeom>
          <a:solidFill>
            <a:srgbClr val="3ECF8E"/>
          </a:solidFill>
          <a:ln w="12700">
            <a:solidFill>
              <a:srgbClr val="3ECF8E">
                <a:alpha val="0"/>
              </a:srgbClr>
            </a:solidFill>
            <a:prstDash val="solid"/>
          </a:ln>
        </p:spPr>
      </p:sp>
      <p:sp>
        <p:nvSpPr>
          <p:cNvPr id="11" name="Text 9"/>
          <p:cNvSpPr/>
          <p:nvPr/>
        </p:nvSpPr>
        <p:spPr>
          <a:xfrm>
            <a:off x="932688" y="4736592"/>
            <a:ext cx="1636776" cy="393192"/>
          </a:xfrm>
          <a:prstGeom prst="rect">
            <a:avLst/>
          </a:prstGeom>
          <a:noFill/>
          <a:ln/>
        </p:spPr>
        <p:txBody>
          <a:bodyPr wrap="square" lIns="0" tIns="0" rIns="0" bIns="0" rtlCol="0" anchor="ctr">
            <a:normAutofit/>
          </a:bodyPr>
          <a:lstStyle/>
          <a:p>
            <a:pPr algn="ctr" indent="0" marL="0">
              <a:buNone/>
            </a:pPr>
            <a:r>
              <a:rPr lang="en-US" sz="1290" b="1" dirty="0">
                <a:solidFill>
                  <a:srgbClr val="171717"/>
                </a:solidFill>
                <a:latin typeface="Malgun Gothic" pitchFamily="34" charset="0"/>
                <a:ea typeface="Malgun Gothic" pitchFamily="34" charset="-122"/>
                <a:cs typeface="Malgun Gothic" pitchFamily="34" charset="-120"/>
              </a:rPr>
              <a:t>Java · DB</a:t>
            </a:r>
            <a:endParaRPr lang="en-US" sz="1290" dirty="0"/>
          </a:p>
        </p:txBody>
      </p:sp>
      <p:sp>
        <p:nvSpPr>
          <p:cNvPr id="12" name="Shape 10"/>
          <p:cNvSpPr/>
          <p:nvPr/>
        </p:nvSpPr>
        <p:spPr>
          <a:xfrm>
            <a:off x="2916936" y="2157984"/>
            <a:ext cx="1947672" cy="3346704"/>
          </a:xfrm>
          <a:prstGeom prst="roundRect">
            <a:avLst>
              <a:gd name="adj" fmla="val 5634"/>
            </a:avLst>
          </a:prstGeom>
          <a:solidFill>
            <a:srgbClr val="FFFFFF"/>
          </a:solidFill>
          <a:ln w="10160">
            <a:solidFill>
              <a:srgbClr val="DFDFDF"/>
            </a:solidFill>
            <a:prstDash val="solid"/>
          </a:ln>
        </p:spPr>
      </p:sp>
      <p:sp>
        <p:nvSpPr>
          <p:cNvPr id="13" name="Shape 11"/>
          <p:cNvSpPr/>
          <p:nvPr/>
        </p:nvSpPr>
        <p:spPr>
          <a:xfrm>
            <a:off x="3236976" y="3227832"/>
            <a:ext cx="512064" cy="530352"/>
          </a:xfrm>
          <a:prstGeom prst="roundRect">
            <a:avLst>
              <a:gd name="adj" fmla="val 8929"/>
            </a:avLst>
          </a:prstGeom>
          <a:solidFill>
            <a:srgbClr val="FAFAFA"/>
          </a:solidFill>
          <a:ln w="10160">
            <a:solidFill>
              <a:srgbClr val="DFDFDF"/>
            </a:solidFill>
            <a:prstDash val="solid"/>
          </a:ln>
        </p:spPr>
      </p:sp>
      <p:sp>
        <p:nvSpPr>
          <p:cNvPr id="14" name="Shape 12"/>
          <p:cNvSpPr/>
          <p:nvPr/>
        </p:nvSpPr>
        <p:spPr>
          <a:xfrm>
            <a:off x="4041648" y="3227832"/>
            <a:ext cx="512064" cy="530352"/>
          </a:xfrm>
          <a:prstGeom prst="roundRect">
            <a:avLst>
              <a:gd name="adj" fmla="val 8929"/>
            </a:avLst>
          </a:prstGeom>
          <a:solidFill>
            <a:srgbClr val="1C1C1C"/>
          </a:solidFill>
          <a:ln w="10160">
            <a:solidFill>
              <a:srgbClr val="1C1C1C"/>
            </a:solidFill>
            <a:prstDash val="solid"/>
          </a:ln>
        </p:spPr>
      </p:sp>
      <p:sp>
        <p:nvSpPr>
          <p:cNvPr id="15" name="Text 13"/>
          <p:cNvSpPr/>
          <p:nvPr/>
        </p:nvSpPr>
        <p:spPr>
          <a:xfrm>
            <a:off x="3776472" y="3310128"/>
            <a:ext cx="246888" cy="384048"/>
          </a:xfrm>
          <a:prstGeom prst="rect">
            <a:avLst/>
          </a:prstGeom>
          <a:noFill/>
          <a:ln/>
        </p:spPr>
        <p:txBody>
          <a:bodyPr wrap="square" lIns="0" tIns="0" rIns="0" bIns="0" rtlCol="0" anchor="ctr">
            <a:normAutofit/>
          </a:bodyPr>
          <a:lstStyle/>
          <a:p>
            <a:pPr algn="ctr" indent="0" marL="0">
              <a:buNone/>
            </a:pPr>
            <a:r>
              <a:rPr lang="en-US" sz="2600" dirty="0">
                <a:solidFill>
                  <a:srgbClr val="24B47E"/>
                </a:solidFill>
                <a:latin typeface="Arial" pitchFamily="34" charset="0"/>
                <a:ea typeface="Arial" pitchFamily="34" charset="-122"/>
                <a:cs typeface="Arial" pitchFamily="34" charset="-120"/>
              </a:rPr>
              <a:t>→</a:t>
            </a:r>
            <a:endParaRPr lang="en-US" sz="2600" dirty="0"/>
          </a:p>
        </p:txBody>
      </p:sp>
      <p:sp>
        <p:nvSpPr>
          <p:cNvPr id="16" name="Text 14"/>
          <p:cNvSpPr/>
          <p:nvPr/>
        </p:nvSpPr>
        <p:spPr>
          <a:xfrm>
            <a:off x="3072384" y="4736592"/>
            <a:ext cx="1636776" cy="393192"/>
          </a:xfrm>
          <a:prstGeom prst="rect">
            <a:avLst/>
          </a:prstGeom>
          <a:noFill/>
          <a:ln/>
        </p:spPr>
        <p:txBody>
          <a:bodyPr wrap="square" lIns="0" tIns="0" rIns="0" bIns="0" rtlCol="0" anchor="ctr">
            <a:normAutofit/>
          </a:bodyPr>
          <a:lstStyle/>
          <a:p>
            <a:pPr algn="ctr" indent="0" marL="0">
              <a:buNone/>
            </a:pPr>
            <a:r>
              <a:rPr lang="en-US" sz="1290" b="1" dirty="0">
                <a:solidFill>
                  <a:srgbClr val="171717"/>
                </a:solidFill>
                <a:latin typeface="Malgun Gothic" pitchFamily="34" charset="0"/>
                <a:ea typeface="Malgun Gothic" pitchFamily="34" charset="-122"/>
                <a:cs typeface="Malgun Gothic" pitchFamily="34" charset="-120"/>
              </a:rPr>
              <a:t>Spring · JPA</a:t>
            </a:r>
            <a:endParaRPr lang="en-US" sz="1290" dirty="0"/>
          </a:p>
        </p:txBody>
      </p:sp>
      <p:sp>
        <p:nvSpPr>
          <p:cNvPr id="17" name="Shape 15"/>
          <p:cNvSpPr/>
          <p:nvPr/>
        </p:nvSpPr>
        <p:spPr>
          <a:xfrm>
            <a:off x="5056632" y="2157984"/>
            <a:ext cx="1947672" cy="3346704"/>
          </a:xfrm>
          <a:prstGeom prst="roundRect">
            <a:avLst>
              <a:gd name="adj" fmla="val 5634"/>
            </a:avLst>
          </a:prstGeom>
          <a:solidFill>
            <a:srgbClr val="FFFFFF"/>
          </a:solidFill>
          <a:ln w="10160">
            <a:solidFill>
              <a:srgbClr val="DFDFDF"/>
            </a:solidFill>
            <a:prstDash val="solid"/>
          </a:ln>
        </p:spPr>
      </p:sp>
      <p:sp>
        <p:nvSpPr>
          <p:cNvPr id="18" name="Shape 16"/>
          <p:cNvSpPr/>
          <p:nvPr/>
        </p:nvSpPr>
        <p:spPr>
          <a:xfrm>
            <a:off x="5376672" y="2953512"/>
            <a:ext cx="1307592" cy="1069848"/>
          </a:xfrm>
          <a:prstGeom prst="roundRect">
            <a:avLst>
              <a:gd name="adj" fmla="val 4274"/>
            </a:avLst>
          </a:prstGeom>
          <a:solidFill>
            <a:srgbClr val="FFFFFF"/>
          </a:solidFill>
          <a:ln w="10160">
            <a:solidFill>
              <a:srgbClr val="DFDFDF"/>
            </a:solidFill>
            <a:prstDash val="solid"/>
          </a:ln>
        </p:spPr>
      </p:sp>
      <p:sp>
        <p:nvSpPr>
          <p:cNvPr id="19" name="Shape 17"/>
          <p:cNvSpPr/>
          <p:nvPr/>
        </p:nvSpPr>
        <p:spPr>
          <a:xfrm>
            <a:off x="5394960" y="3246120"/>
            <a:ext cx="1271016" cy="0"/>
          </a:xfrm>
          <a:prstGeom prst="line">
            <a:avLst/>
          </a:prstGeom>
          <a:noFill/>
          <a:ln w="10160">
            <a:solidFill>
              <a:srgbClr val="DFDFDF"/>
            </a:solidFill>
            <a:prstDash val="solid"/>
          </a:ln>
        </p:spPr>
      </p:sp>
      <p:sp>
        <p:nvSpPr>
          <p:cNvPr id="20" name="Shape 18"/>
          <p:cNvSpPr/>
          <p:nvPr/>
        </p:nvSpPr>
        <p:spPr>
          <a:xfrm>
            <a:off x="5532120" y="3081528"/>
            <a:ext cx="73152" cy="73152"/>
          </a:xfrm>
          <a:prstGeom prst="ellipse">
            <a:avLst/>
          </a:prstGeom>
          <a:solidFill>
            <a:srgbClr val="3ECF8E"/>
          </a:solidFill>
          <a:ln w="12700">
            <a:solidFill>
              <a:srgbClr val="3ECF8E">
                <a:alpha val="0"/>
              </a:srgbClr>
            </a:solidFill>
            <a:prstDash val="solid"/>
          </a:ln>
        </p:spPr>
      </p:sp>
      <p:sp>
        <p:nvSpPr>
          <p:cNvPr id="21" name="Shape 19"/>
          <p:cNvSpPr/>
          <p:nvPr/>
        </p:nvSpPr>
        <p:spPr>
          <a:xfrm>
            <a:off x="5559552" y="3502152"/>
            <a:ext cx="859536" cy="64008"/>
          </a:xfrm>
          <a:prstGeom prst="rect">
            <a:avLst/>
          </a:prstGeom>
          <a:solidFill>
            <a:srgbClr val="DFDFDF"/>
          </a:solidFill>
          <a:ln w="12700">
            <a:solidFill>
              <a:srgbClr val="DFDFDF">
                <a:alpha val="0"/>
              </a:srgbClr>
            </a:solidFill>
            <a:prstDash val="solid"/>
          </a:ln>
        </p:spPr>
      </p:sp>
      <p:sp>
        <p:nvSpPr>
          <p:cNvPr id="22" name="Shape 20"/>
          <p:cNvSpPr/>
          <p:nvPr/>
        </p:nvSpPr>
        <p:spPr>
          <a:xfrm>
            <a:off x="5559552" y="3730752"/>
            <a:ext cx="612648" cy="64008"/>
          </a:xfrm>
          <a:prstGeom prst="rect">
            <a:avLst/>
          </a:prstGeom>
          <a:solidFill>
            <a:srgbClr val="DFDFDF"/>
          </a:solidFill>
          <a:ln w="12700">
            <a:solidFill>
              <a:srgbClr val="DFDFDF">
                <a:alpha val="0"/>
              </a:srgbClr>
            </a:solidFill>
            <a:prstDash val="solid"/>
          </a:ln>
        </p:spPr>
      </p:sp>
      <p:sp>
        <p:nvSpPr>
          <p:cNvPr id="23" name="Text 21"/>
          <p:cNvSpPr/>
          <p:nvPr/>
        </p:nvSpPr>
        <p:spPr>
          <a:xfrm>
            <a:off x="5212080" y="4736592"/>
            <a:ext cx="1636776" cy="393192"/>
          </a:xfrm>
          <a:prstGeom prst="rect">
            <a:avLst/>
          </a:prstGeom>
          <a:noFill/>
          <a:ln/>
        </p:spPr>
        <p:txBody>
          <a:bodyPr wrap="square" lIns="0" tIns="0" rIns="0" bIns="0" rtlCol="0" anchor="ctr">
            <a:normAutofit/>
          </a:bodyPr>
          <a:lstStyle/>
          <a:p>
            <a:pPr algn="ctr" indent="0" marL="0">
              <a:buNone/>
            </a:pPr>
            <a:r>
              <a:rPr lang="en-US" sz="1290" b="1" dirty="0">
                <a:solidFill>
                  <a:srgbClr val="171717"/>
                </a:solidFill>
                <a:latin typeface="Malgun Gothic" pitchFamily="34" charset="0"/>
                <a:ea typeface="Malgun Gothic" pitchFamily="34" charset="-122"/>
                <a:cs typeface="Malgun Gothic" pitchFamily="34" charset="-120"/>
              </a:rPr>
              <a:t>JS · TS · Next</a:t>
            </a:r>
            <a:endParaRPr lang="en-US" sz="1290" dirty="0"/>
          </a:p>
        </p:txBody>
      </p:sp>
      <p:sp>
        <p:nvSpPr>
          <p:cNvPr id="24" name="Shape 22"/>
          <p:cNvSpPr/>
          <p:nvPr/>
        </p:nvSpPr>
        <p:spPr>
          <a:xfrm>
            <a:off x="7196328" y="2157984"/>
            <a:ext cx="1947672" cy="3346704"/>
          </a:xfrm>
          <a:prstGeom prst="roundRect">
            <a:avLst>
              <a:gd name="adj" fmla="val 5634"/>
            </a:avLst>
          </a:prstGeom>
          <a:solidFill>
            <a:srgbClr val="FFFFFF"/>
          </a:solidFill>
          <a:ln w="10160">
            <a:solidFill>
              <a:srgbClr val="DFDFDF"/>
            </a:solidFill>
            <a:prstDash val="solid"/>
          </a:ln>
        </p:spPr>
      </p:sp>
      <p:sp>
        <p:nvSpPr>
          <p:cNvPr id="25" name="Shape 23"/>
          <p:cNvSpPr/>
          <p:nvPr/>
        </p:nvSpPr>
        <p:spPr>
          <a:xfrm>
            <a:off x="7516368" y="2953512"/>
            <a:ext cx="1307592" cy="1069848"/>
          </a:xfrm>
          <a:prstGeom prst="roundRect">
            <a:avLst>
              <a:gd name="adj" fmla="val 4274"/>
            </a:avLst>
          </a:prstGeom>
          <a:solidFill>
            <a:srgbClr val="1C1C1C"/>
          </a:solidFill>
          <a:ln w="10160">
            <a:solidFill>
              <a:srgbClr val="1C1C1C"/>
            </a:solidFill>
            <a:prstDash val="solid"/>
          </a:ln>
        </p:spPr>
      </p:sp>
      <p:sp>
        <p:nvSpPr>
          <p:cNvPr id="26" name="Text 24"/>
          <p:cNvSpPr/>
          <p:nvPr/>
        </p:nvSpPr>
        <p:spPr>
          <a:xfrm>
            <a:off x="7744968" y="3200400"/>
            <a:ext cx="777240" cy="521208"/>
          </a:xfrm>
          <a:prstGeom prst="rect">
            <a:avLst/>
          </a:prstGeom>
          <a:noFill/>
          <a:ln/>
        </p:spPr>
        <p:txBody>
          <a:bodyPr wrap="square" lIns="0" tIns="0" rIns="0" bIns="0" rtlCol="0" anchor="ctr">
            <a:normAutofit/>
          </a:bodyPr>
          <a:lstStyle/>
          <a:p>
            <a:pPr indent="0" marL="0">
              <a:buNone/>
            </a:pPr>
            <a:r>
              <a:rPr lang="en-US" sz="2700" dirty="0">
                <a:solidFill>
                  <a:srgbClr val="FFFFFF"/>
                </a:solidFill>
                <a:latin typeface="Consolas" pitchFamily="34" charset="0"/>
                <a:ea typeface="Consolas" pitchFamily="34" charset="-122"/>
                <a:cs typeface="Consolas" pitchFamily="34" charset="-120"/>
              </a:rPr>
              <a:t>&gt;_</a:t>
            </a:r>
            <a:endParaRPr lang="en-US" sz="2700" dirty="0"/>
          </a:p>
        </p:txBody>
      </p:sp>
      <p:sp>
        <p:nvSpPr>
          <p:cNvPr id="27" name="Text 25"/>
          <p:cNvSpPr/>
          <p:nvPr/>
        </p:nvSpPr>
        <p:spPr>
          <a:xfrm>
            <a:off x="7351776" y="4736592"/>
            <a:ext cx="1636776" cy="393192"/>
          </a:xfrm>
          <a:prstGeom prst="rect">
            <a:avLst/>
          </a:prstGeom>
          <a:noFill/>
          <a:ln/>
        </p:spPr>
        <p:txBody>
          <a:bodyPr wrap="square" lIns="0" tIns="0" rIns="0" bIns="0" rtlCol="0" anchor="ctr">
            <a:normAutofit/>
          </a:bodyPr>
          <a:lstStyle/>
          <a:p>
            <a:pPr algn="ctr" indent="0" marL="0">
              <a:buNone/>
            </a:pPr>
            <a:r>
              <a:rPr lang="en-US" sz="1290" b="1" dirty="0">
                <a:solidFill>
                  <a:srgbClr val="171717"/>
                </a:solidFill>
                <a:latin typeface="Malgun Gothic" pitchFamily="34" charset="0"/>
                <a:ea typeface="Malgun Gothic" pitchFamily="34" charset="-122"/>
                <a:cs typeface="Malgun Gothic" pitchFamily="34" charset="-120"/>
              </a:rPr>
              <a:t>Python · FastAPI</a:t>
            </a:r>
            <a:endParaRPr lang="en-US" sz="1290" dirty="0"/>
          </a:p>
        </p:txBody>
      </p:sp>
      <p:sp>
        <p:nvSpPr>
          <p:cNvPr id="28" name="Shape 26"/>
          <p:cNvSpPr/>
          <p:nvPr/>
        </p:nvSpPr>
        <p:spPr>
          <a:xfrm>
            <a:off x="9336024" y="2157984"/>
            <a:ext cx="1947672" cy="3346704"/>
          </a:xfrm>
          <a:prstGeom prst="roundRect">
            <a:avLst>
              <a:gd name="adj" fmla="val 5634"/>
            </a:avLst>
          </a:prstGeom>
          <a:solidFill>
            <a:srgbClr val="FFFFFF"/>
          </a:solidFill>
          <a:ln w="10160">
            <a:solidFill>
              <a:srgbClr val="DFDFDF"/>
            </a:solidFill>
            <a:prstDash val="solid"/>
          </a:ln>
        </p:spPr>
      </p:sp>
      <p:sp>
        <p:nvSpPr>
          <p:cNvPr id="29" name="Shape 27"/>
          <p:cNvSpPr/>
          <p:nvPr/>
        </p:nvSpPr>
        <p:spPr>
          <a:xfrm>
            <a:off x="10094976" y="3127248"/>
            <a:ext cx="704088" cy="329184"/>
          </a:xfrm>
          <a:prstGeom prst="line">
            <a:avLst/>
          </a:prstGeom>
          <a:noFill/>
          <a:ln w="16510">
            <a:solidFill>
              <a:srgbClr val="DFDFDF"/>
            </a:solidFill>
            <a:prstDash val="solid"/>
          </a:ln>
        </p:spPr>
      </p:sp>
      <p:sp>
        <p:nvSpPr>
          <p:cNvPr id="30" name="Shape 28"/>
          <p:cNvSpPr/>
          <p:nvPr/>
        </p:nvSpPr>
        <p:spPr>
          <a:xfrm>
            <a:off x="10094976" y="3456432"/>
            <a:ext cx="704088" cy="484632"/>
          </a:xfrm>
          <a:prstGeom prst="line">
            <a:avLst/>
          </a:prstGeom>
          <a:noFill/>
          <a:ln w="16510">
            <a:solidFill>
              <a:srgbClr val="DFDFDF"/>
            </a:solidFill>
            <a:prstDash val="solid"/>
          </a:ln>
        </p:spPr>
      </p:sp>
      <p:sp>
        <p:nvSpPr>
          <p:cNvPr id="31" name="Shape 29"/>
          <p:cNvSpPr/>
          <p:nvPr/>
        </p:nvSpPr>
        <p:spPr>
          <a:xfrm>
            <a:off x="9829800" y="3209544"/>
            <a:ext cx="521208" cy="521208"/>
          </a:xfrm>
          <a:prstGeom prst="ellipse">
            <a:avLst/>
          </a:prstGeom>
          <a:solidFill>
            <a:srgbClr val="1C1C1C"/>
          </a:solidFill>
          <a:ln w="12700">
            <a:solidFill>
              <a:srgbClr val="1C1C1C"/>
            </a:solidFill>
            <a:prstDash val="solid"/>
          </a:ln>
        </p:spPr>
      </p:sp>
      <p:sp>
        <p:nvSpPr>
          <p:cNvPr id="32" name="Shape 30"/>
          <p:cNvSpPr/>
          <p:nvPr/>
        </p:nvSpPr>
        <p:spPr>
          <a:xfrm>
            <a:off x="10680192" y="2926080"/>
            <a:ext cx="338328" cy="338328"/>
          </a:xfrm>
          <a:prstGeom prst="ellipse">
            <a:avLst/>
          </a:prstGeom>
          <a:solidFill>
            <a:srgbClr val="FFFFFF"/>
          </a:solidFill>
          <a:ln w="12700">
            <a:solidFill>
              <a:srgbClr val="DFDFDF"/>
            </a:solidFill>
            <a:prstDash val="solid"/>
          </a:ln>
        </p:spPr>
      </p:sp>
      <p:sp>
        <p:nvSpPr>
          <p:cNvPr id="33" name="Shape 31"/>
          <p:cNvSpPr/>
          <p:nvPr/>
        </p:nvSpPr>
        <p:spPr>
          <a:xfrm>
            <a:off x="10680192" y="3767328"/>
            <a:ext cx="338328" cy="338328"/>
          </a:xfrm>
          <a:prstGeom prst="ellipse">
            <a:avLst/>
          </a:prstGeom>
          <a:solidFill>
            <a:srgbClr val="3ECF8E"/>
          </a:solidFill>
          <a:ln w="12700">
            <a:solidFill>
              <a:srgbClr val="3ECF8E"/>
            </a:solidFill>
            <a:prstDash val="solid"/>
          </a:ln>
        </p:spPr>
      </p:sp>
      <p:sp>
        <p:nvSpPr>
          <p:cNvPr id="34" name="Text 32"/>
          <p:cNvSpPr/>
          <p:nvPr/>
        </p:nvSpPr>
        <p:spPr>
          <a:xfrm>
            <a:off x="9491472" y="4736592"/>
            <a:ext cx="1636776" cy="393192"/>
          </a:xfrm>
          <a:prstGeom prst="rect">
            <a:avLst/>
          </a:prstGeom>
          <a:noFill/>
          <a:ln/>
        </p:spPr>
        <p:txBody>
          <a:bodyPr wrap="square" lIns="0" tIns="0" rIns="0" bIns="0" rtlCol="0" anchor="ctr">
            <a:normAutofit/>
          </a:bodyPr>
          <a:lstStyle/>
          <a:p>
            <a:pPr algn="ctr" indent="0" marL="0">
              <a:buNone/>
            </a:pPr>
            <a:r>
              <a:rPr lang="en-US" sz="1290" b="1" dirty="0">
                <a:solidFill>
                  <a:srgbClr val="171717"/>
                </a:solidFill>
                <a:latin typeface="Malgun Gothic" pitchFamily="34" charset="0"/>
                <a:ea typeface="Malgun Gothic" pitchFamily="34" charset="-122"/>
                <a:cs typeface="Malgun Gothic" pitchFamily="34" charset="-120"/>
              </a:rPr>
              <a:t>LangGraph</a:t>
            </a:r>
            <a:endParaRPr lang="en-US" sz="129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384048"/>
            <a:ext cx="9875520" cy="265176"/>
          </a:xfrm>
          <a:prstGeom prst="rect">
            <a:avLst/>
          </a:prstGeom>
          <a:noFill/>
          <a:ln/>
        </p:spPr>
        <p:txBody>
          <a:bodyPr wrap="square" lIns="0" tIns="0" rIns="0" bIns="0" rtlCol="0" anchor="ctr">
            <a:normAutofit/>
          </a:bodyPr>
          <a:lstStyle/>
          <a:p>
            <a:pPr indent="0" marL="0">
              <a:buNone/>
            </a:pPr>
            <a:r>
              <a:rPr lang="en-US" sz="1030" b="1" spc="120" kern="0" dirty="0">
                <a:solidFill>
                  <a:srgbClr val="707070"/>
                </a:solidFill>
                <a:latin typeface="Arial" pitchFamily="34" charset="0"/>
                <a:ea typeface="Arial" pitchFamily="34" charset="-122"/>
                <a:cs typeface="Arial" pitchFamily="34" charset="-120"/>
              </a:rPr>
              <a:t>CURRICULUM · WEB &amp; DATA</a:t>
            </a:r>
            <a:endParaRPr lang="en-US" sz="1030" dirty="0"/>
          </a:p>
        </p:txBody>
      </p:sp>
      <p:sp>
        <p:nvSpPr>
          <p:cNvPr id="3" name="Text 1"/>
          <p:cNvSpPr/>
          <p:nvPr/>
        </p:nvSpPr>
        <p:spPr>
          <a:xfrm>
            <a:off x="777240" y="786384"/>
            <a:ext cx="10652760" cy="612648"/>
          </a:xfrm>
          <a:prstGeom prst="rect">
            <a:avLst/>
          </a:prstGeom>
          <a:noFill/>
          <a:ln/>
        </p:spPr>
        <p:txBody>
          <a:bodyPr wrap="square" lIns="0" tIns="0" rIns="0" bIns="0" rtlCol="0" anchor="ctr">
            <a:normAutofit/>
          </a:bodyPr>
          <a:lstStyle/>
          <a:p>
            <a:pPr indent="0" marL="0">
              <a:buNone/>
            </a:pPr>
            <a:r>
              <a:rPr lang="en-US" sz="3100" b="1" dirty="0">
                <a:solidFill>
                  <a:srgbClr val="171717"/>
                </a:solidFill>
                <a:latin typeface="Malgun Gothic" pitchFamily="34" charset="0"/>
                <a:ea typeface="Malgun Gothic" pitchFamily="34" charset="-122"/>
                <a:cs typeface="Malgun Gothic" pitchFamily="34" charset="-120"/>
              </a:rPr>
              <a:t>서비스 개발 — 요청 · 인증 · 저장</a:t>
            </a:r>
            <a:endParaRPr lang="en-US" sz="3100" dirty="0"/>
          </a:p>
        </p:txBody>
      </p:sp>
      <p:sp>
        <p:nvSpPr>
          <p:cNvPr id="4" name="Shape 2"/>
          <p:cNvSpPr/>
          <p:nvPr/>
        </p:nvSpPr>
        <p:spPr>
          <a:xfrm>
            <a:off x="777240" y="1508760"/>
            <a:ext cx="10634472" cy="0"/>
          </a:xfrm>
          <a:prstGeom prst="line">
            <a:avLst/>
          </a:prstGeom>
          <a:noFill/>
          <a:ln w="10160">
            <a:solidFill>
              <a:srgbClr val="EDEDED"/>
            </a:solidFill>
            <a:prstDash val="solid"/>
          </a:ln>
        </p:spPr>
      </p:sp>
      <p:sp>
        <p:nvSpPr>
          <p:cNvPr id="5" name="Text 3"/>
          <p:cNvSpPr/>
          <p:nvPr/>
        </p:nvSpPr>
        <p:spPr>
          <a:xfrm>
            <a:off x="10652760" y="6446520"/>
            <a:ext cx="758952" cy="201168"/>
          </a:xfrm>
          <a:prstGeom prst="rect">
            <a:avLst/>
          </a:prstGeom>
          <a:noFill/>
          <a:ln/>
        </p:spPr>
        <p:txBody>
          <a:bodyPr wrap="square" lIns="0" tIns="0" rIns="0" bIns="0" rtlCol="0" anchor="ctr">
            <a:normAutofit/>
          </a:bodyPr>
          <a:lstStyle/>
          <a:p>
            <a:pPr algn="r" indent="0" marL="0">
              <a:buNone/>
            </a:pPr>
            <a:r>
              <a:rPr lang="en-US" sz="1040" dirty="0">
                <a:solidFill>
                  <a:srgbClr val="707070"/>
                </a:solidFill>
                <a:latin typeface="Arial" pitchFamily="34" charset="0"/>
                <a:ea typeface="Arial" pitchFamily="34" charset="-122"/>
                <a:cs typeface="Arial" pitchFamily="34" charset="-120"/>
              </a:rPr>
              <a:t>03 / 18</a:t>
            </a:r>
            <a:endParaRPr lang="en-US" sz="1040" dirty="0"/>
          </a:p>
        </p:txBody>
      </p:sp>
      <p:sp>
        <p:nvSpPr>
          <p:cNvPr id="6" name="Shape 4"/>
          <p:cNvSpPr/>
          <p:nvPr/>
        </p:nvSpPr>
        <p:spPr>
          <a:xfrm>
            <a:off x="777240" y="2221992"/>
            <a:ext cx="3200400" cy="3008376"/>
          </a:xfrm>
          <a:prstGeom prst="roundRect">
            <a:avLst>
              <a:gd name="adj" fmla="val 3647"/>
            </a:avLst>
          </a:prstGeom>
          <a:solidFill>
            <a:srgbClr val="FFFFFF"/>
          </a:solidFill>
          <a:ln w="10160">
            <a:solidFill>
              <a:srgbClr val="DFDFDF"/>
            </a:solidFill>
            <a:prstDash val="solid"/>
          </a:ln>
        </p:spPr>
      </p:sp>
      <p:sp>
        <p:nvSpPr>
          <p:cNvPr id="7" name="Shape 5"/>
          <p:cNvSpPr/>
          <p:nvPr/>
        </p:nvSpPr>
        <p:spPr>
          <a:xfrm>
            <a:off x="1024128" y="2478024"/>
            <a:ext cx="109728" cy="109728"/>
          </a:xfrm>
          <a:prstGeom prst="ellipse">
            <a:avLst/>
          </a:prstGeom>
          <a:solidFill>
            <a:srgbClr val="3ECF8E"/>
          </a:solidFill>
          <a:ln w="12700">
            <a:solidFill>
              <a:srgbClr val="3ECF8E">
                <a:alpha val="0"/>
              </a:srgbClr>
            </a:solidFill>
            <a:prstDash val="solid"/>
          </a:ln>
        </p:spPr>
      </p:sp>
      <p:sp>
        <p:nvSpPr>
          <p:cNvPr id="8" name="Text 6"/>
          <p:cNvSpPr/>
          <p:nvPr/>
        </p:nvSpPr>
        <p:spPr>
          <a:xfrm>
            <a:off x="1024128" y="2816352"/>
            <a:ext cx="2706624" cy="411480"/>
          </a:xfrm>
          <a:prstGeom prst="rect">
            <a:avLst/>
          </a:prstGeom>
          <a:noFill/>
          <a:ln/>
        </p:spPr>
        <p:txBody>
          <a:bodyPr wrap="square" lIns="0" tIns="0" rIns="0" bIns="0" rtlCol="0" anchor="ctr">
            <a:normAutofit/>
          </a:bodyPr>
          <a:lstStyle/>
          <a:p>
            <a:pPr indent="0" marL="0">
              <a:buNone/>
            </a:pPr>
            <a:r>
              <a:rPr lang="en-US" sz="1700" b="1" dirty="0">
                <a:solidFill>
                  <a:srgbClr val="171717"/>
                </a:solidFill>
                <a:latin typeface="Malgun Gothic" pitchFamily="34" charset="0"/>
                <a:ea typeface="Malgun Gothic" pitchFamily="34" charset="-122"/>
                <a:cs typeface="Malgun Gothic" pitchFamily="34" charset="-120"/>
              </a:rPr>
              <a:t>HTTP 요청 처리</a:t>
            </a:r>
            <a:endParaRPr lang="en-US" sz="1700" dirty="0"/>
          </a:p>
        </p:txBody>
      </p:sp>
      <p:sp>
        <p:nvSpPr>
          <p:cNvPr id="9" name="Text 7"/>
          <p:cNvSpPr/>
          <p:nvPr/>
        </p:nvSpPr>
        <p:spPr>
          <a:xfrm>
            <a:off x="1024128" y="4590288"/>
            <a:ext cx="2706624" cy="338328"/>
          </a:xfrm>
          <a:prstGeom prst="rect">
            <a:avLst/>
          </a:prstGeom>
          <a:noFill/>
          <a:ln/>
        </p:spPr>
        <p:txBody>
          <a:bodyPr wrap="square" lIns="0" tIns="0" rIns="0" bIns="0" rtlCol="0" anchor="ctr">
            <a:normAutofit/>
          </a:bodyPr>
          <a:lstStyle/>
          <a:p>
            <a:pPr indent="0" marL="0">
              <a:buNone/>
            </a:pPr>
            <a:r>
              <a:rPr lang="en-US" sz="1220" dirty="0">
                <a:solidFill>
                  <a:srgbClr val="707070"/>
                </a:solidFill>
                <a:latin typeface="Malgun Gothic" pitchFamily="34" charset="0"/>
                <a:ea typeface="Malgun Gothic" pitchFamily="34" charset="-122"/>
                <a:cs typeface="Malgun Gothic" pitchFamily="34" charset="-120"/>
              </a:rPr>
              <a:t>Spring Web MVC</a:t>
            </a:r>
            <a:endParaRPr lang="en-US" sz="1220" dirty="0"/>
          </a:p>
        </p:txBody>
      </p:sp>
      <p:sp>
        <p:nvSpPr>
          <p:cNvPr id="10" name="Shape 8"/>
          <p:cNvSpPr/>
          <p:nvPr/>
        </p:nvSpPr>
        <p:spPr>
          <a:xfrm>
            <a:off x="4498848" y="2221992"/>
            <a:ext cx="3200400" cy="3008376"/>
          </a:xfrm>
          <a:prstGeom prst="roundRect">
            <a:avLst>
              <a:gd name="adj" fmla="val 3647"/>
            </a:avLst>
          </a:prstGeom>
          <a:solidFill>
            <a:srgbClr val="FFFFFF"/>
          </a:solidFill>
          <a:ln w="10160">
            <a:solidFill>
              <a:srgbClr val="DFDFDF"/>
            </a:solidFill>
            <a:prstDash val="solid"/>
          </a:ln>
        </p:spPr>
      </p:sp>
      <p:sp>
        <p:nvSpPr>
          <p:cNvPr id="11" name="Shape 9"/>
          <p:cNvSpPr/>
          <p:nvPr/>
        </p:nvSpPr>
        <p:spPr>
          <a:xfrm>
            <a:off x="4745736" y="2478024"/>
            <a:ext cx="109728" cy="109728"/>
          </a:xfrm>
          <a:prstGeom prst="ellipse">
            <a:avLst/>
          </a:prstGeom>
          <a:solidFill>
            <a:srgbClr val="3ECF8E"/>
          </a:solidFill>
          <a:ln w="12700">
            <a:solidFill>
              <a:srgbClr val="3ECF8E">
                <a:alpha val="0"/>
              </a:srgbClr>
            </a:solidFill>
            <a:prstDash val="solid"/>
          </a:ln>
        </p:spPr>
      </p:sp>
      <p:sp>
        <p:nvSpPr>
          <p:cNvPr id="12" name="Text 10"/>
          <p:cNvSpPr/>
          <p:nvPr/>
        </p:nvSpPr>
        <p:spPr>
          <a:xfrm>
            <a:off x="4745736" y="2816352"/>
            <a:ext cx="2706624" cy="411480"/>
          </a:xfrm>
          <a:prstGeom prst="rect">
            <a:avLst/>
          </a:prstGeom>
          <a:noFill/>
          <a:ln/>
        </p:spPr>
        <p:txBody>
          <a:bodyPr wrap="square" lIns="0" tIns="0" rIns="0" bIns="0" rtlCol="0" anchor="ctr">
            <a:normAutofit/>
          </a:bodyPr>
          <a:lstStyle/>
          <a:p>
            <a:pPr indent="0" marL="0">
              <a:buNone/>
            </a:pPr>
            <a:r>
              <a:rPr lang="en-US" sz="1700" b="1" dirty="0">
                <a:solidFill>
                  <a:srgbClr val="171717"/>
                </a:solidFill>
                <a:latin typeface="Malgun Gothic" pitchFamily="34" charset="0"/>
                <a:ea typeface="Malgun Gothic" pitchFamily="34" charset="-122"/>
                <a:cs typeface="Malgun Gothic" pitchFamily="34" charset="-120"/>
              </a:rPr>
              <a:t>사용자 인증</a:t>
            </a:r>
            <a:endParaRPr lang="en-US" sz="1700" dirty="0"/>
          </a:p>
        </p:txBody>
      </p:sp>
      <p:sp>
        <p:nvSpPr>
          <p:cNvPr id="13" name="Text 11"/>
          <p:cNvSpPr/>
          <p:nvPr/>
        </p:nvSpPr>
        <p:spPr>
          <a:xfrm>
            <a:off x="4745736" y="4590288"/>
            <a:ext cx="2706624" cy="338328"/>
          </a:xfrm>
          <a:prstGeom prst="rect">
            <a:avLst/>
          </a:prstGeom>
          <a:noFill/>
          <a:ln/>
        </p:spPr>
        <p:txBody>
          <a:bodyPr wrap="square" lIns="0" tIns="0" rIns="0" bIns="0" rtlCol="0" anchor="ctr">
            <a:normAutofit/>
          </a:bodyPr>
          <a:lstStyle/>
          <a:p>
            <a:pPr indent="0" marL="0">
              <a:buNone/>
            </a:pPr>
            <a:r>
              <a:rPr lang="en-US" sz="1220" dirty="0">
                <a:solidFill>
                  <a:srgbClr val="707070"/>
                </a:solidFill>
                <a:latin typeface="Malgun Gothic" pitchFamily="34" charset="0"/>
                <a:ea typeface="Malgun Gothic" pitchFamily="34" charset="-122"/>
                <a:cs typeface="Malgun Gothic" pitchFamily="34" charset="-120"/>
              </a:rPr>
              <a:t>Security / JWT</a:t>
            </a:r>
            <a:endParaRPr lang="en-US" sz="1220" dirty="0"/>
          </a:p>
        </p:txBody>
      </p:sp>
      <p:sp>
        <p:nvSpPr>
          <p:cNvPr id="14" name="Shape 12"/>
          <p:cNvSpPr/>
          <p:nvPr/>
        </p:nvSpPr>
        <p:spPr>
          <a:xfrm>
            <a:off x="8220456" y="2221992"/>
            <a:ext cx="3200400" cy="3008376"/>
          </a:xfrm>
          <a:prstGeom prst="roundRect">
            <a:avLst>
              <a:gd name="adj" fmla="val 3647"/>
            </a:avLst>
          </a:prstGeom>
          <a:solidFill>
            <a:srgbClr val="FFFFFF"/>
          </a:solidFill>
          <a:ln w="10160">
            <a:solidFill>
              <a:srgbClr val="DFDFDF"/>
            </a:solidFill>
            <a:prstDash val="solid"/>
          </a:ln>
        </p:spPr>
      </p:sp>
      <p:sp>
        <p:nvSpPr>
          <p:cNvPr id="15" name="Shape 13"/>
          <p:cNvSpPr/>
          <p:nvPr/>
        </p:nvSpPr>
        <p:spPr>
          <a:xfrm>
            <a:off x="8467344" y="2478024"/>
            <a:ext cx="109728" cy="109728"/>
          </a:xfrm>
          <a:prstGeom prst="ellipse">
            <a:avLst/>
          </a:prstGeom>
          <a:solidFill>
            <a:srgbClr val="3ECF8E"/>
          </a:solidFill>
          <a:ln w="12700">
            <a:solidFill>
              <a:srgbClr val="3ECF8E">
                <a:alpha val="0"/>
              </a:srgbClr>
            </a:solidFill>
            <a:prstDash val="solid"/>
          </a:ln>
        </p:spPr>
      </p:sp>
      <p:sp>
        <p:nvSpPr>
          <p:cNvPr id="16" name="Text 14"/>
          <p:cNvSpPr/>
          <p:nvPr/>
        </p:nvSpPr>
        <p:spPr>
          <a:xfrm>
            <a:off x="8467344" y="2816352"/>
            <a:ext cx="2706624" cy="411480"/>
          </a:xfrm>
          <a:prstGeom prst="rect">
            <a:avLst/>
          </a:prstGeom>
          <a:noFill/>
          <a:ln/>
        </p:spPr>
        <p:txBody>
          <a:bodyPr wrap="square" lIns="0" tIns="0" rIns="0" bIns="0" rtlCol="0" anchor="ctr">
            <a:normAutofit/>
          </a:bodyPr>
          <a:lstStyle/>
          <a:p>
            <a:pPr indent="0" marL="0">
              <a:buNone/>
            </a:pPr>
            <a:r>
              <a:rPr lang="en-US" sz="1700" b="1" dirty="0">
                <a:solidFill>
                  <a:srgbClr val="171717"/>
                </a:solidFill>
                <a:latin typeface="Malgun Gothic" pitchFamily="34" charset="0"/>
                <a:ea typeface="Malgun Gothic" pitchFamily="34" charset="-122"/>
                <a:cs typeface="Malgun Gothic" pitchFamily="34" charset="-120"/>
              </a:rPr>
              <a:t>데이터 영속화</a:t>
            </a:r>
            <a:endParaRPr lang="en-US" sz="1700" dirty="0"/>
          </a:p>
        </p:txBody>
      </p:sp>
      <p:sp>
        <p:nvSpPr>
          <p:cNvPr id="17" name="Text 15"/>
          <p:cNvSpPr/>
          <p:nvPr/>
        </p:nvSpPr>
        <p:spPr>
          <a:xfrm>
            <a:off x="8467344" y="4590288"/>
            <a:ext cx="2706624" cy="338328"/>
          </a:xfrm>
          <a:prstGeom prst="rect">
            <a:avLst/>
          </a:prstGeom>
          <a:noFill/>
          <a:ln/>
        </p:spPr>
        <p:txBody>
          <a:bodyPr wrap="square" lIns="0" tIns="0" rIns="0" bIns="0" rtlCol="0" anchor="ctr">
            <a:normAutofit/>
          </a:bodyPr>
          <a:lstStyle/>
          <a:p>
            <a:pPr indent="0" marL="0">
              <a:buNone/>
            </a:pPr>
            <a:r>
              <a:rPr lang="en-US" sz="1220" dirty="0">
                <a:solidFill>
                  <a:srgbClr val="707070"/>
                </a:solidFill>
                <a:latin typeface="Malgun Gothic" pitchFamily="34" charset="0"/>
                <a:ea typeface="Malgun Gothic" pitchFamily="34" charset="-122"/>
                <a:cs typeface="Malgun Gothic" pitchFamily="34" charset="-120"/>
              </a:rPr>
              <a:t>JPA / DB</a:t>
            </a:r>
            <a:endParaRPr lang="en-US" sz="1220" dirty="0"/>
          </a:p>
        </p:txBody>
      </p:sp>
      <p:sp>
        <p:nvSpPr>
          <p:cNvPr id="18" name="Text 16"/>
          <p:cNvSpPr/>
          <p:nvPr/>
        </p:nvSpPr>
        <p:spPr>
          <a:xfrm>
            <a:off x="4050792" y="3474720"/>
            <a:ext cx="347472" cy="384048"/>
          </a:xfrm>
          <a:prstGeom prst="rect">
            <a:avLst/>
          </a:prstGeom>
          <a:noFill/>
          <a:ln/>
        </p:spPr>
        <p:txBody>
          <a:bodyPr wrap="square" lIns="0" tIns="0" rIns="0" bIns="0" rtlCol="0" anchor="ctr">
            <a:normAutofit/>
          </a:bodyPr>
          <a:lstStyle/>
          <a:p>
            <a:pPr algn="ctr" indent="0" marL="0">
              <a:buNone/>
            </a:pPr>
            <a:r>
              <a:rPr lang="en-US" sz="2600" dirty="0">
                <a:solidFill>
                  <a:srgbClr val="24B47E"/>
                </a:solidFill>
                <a:latin typeface="Arial" pitchFamily="34" charset="0"/>
                <a:ea typeface="Arial" pitchFamily="34" charset="-122"/>
                <a:cs typeface="Arial" pitchFamily="34" charset="-120"/>
              </a:rPr>
              <a:t>→</a:t>
            </a:r>
            <a:endParaRPr lang="en-US" sz="2600" dirty="0"/>
          </a:p>
        </p:txBody>
      </p:sp>
      <p:sp>
        <p:nvSpPr>
          <p:cNvPr id="19" name="Text 17"/>
          <p:cNvSpPr/>
          <p:nvPr/>
        </p:nvSpPr>
        <p:spPr>
          <a:xfrm>
            <a:off x="7772400" y="3474720"/>
            <a:ext cx="347472" cy="384048"/>
          </a:xfrm>
          <a:prstGeom prst="rect">
            <a:avLst/>
          </a:prstGeom>
          <a:noFill/>
          <a:ln/>
        </p:spPr>
        <p:txBody>
          <a:bodyPr wrap="square" lIns="0" tIns="0" rIns="0" bIns="0" rtlCol="0" anchor="ctr">
            <a:normAutofit/>
          </a:bodyPr>
          <a:lstStyle/>
          <a:p>
            <a:pPr algn="ctr" indent="0" marL="0">
              <a:buNone/>
            </a:pPr>
            <a:r>
              <a:rPr lang="en-US" sz="2600" dirty="0">
                <a:solidFill>
                  <a:srgbClr val="24B47E"/>
                </a:solidFill>
                <a:latin typeface="Arial" pitchFamily="34" charset="0"/>
                <a:ea typeface="Arial" pitchFamily="34" charset="-122"/>
                <a:cs typeface="Arial" pitchFamily="34" charset="-120"/>
              </a:rPr>
              <a:t>→</a:t>
            </a:r>
            <a:endParaRPr lang="en-US" sz="2600" dirty="0"/>
          </a:p>
        </p:txBody>
      </p:sp>
      <p:sp>
        <p:nvSpPr>
          <p:cNvPr id="20" name="Text 18"/>
          <p:cNvSpPr/>
          <p:nvPr/>
        </p:nvSpPr>
        <p:spPr>
          <a:xfrm>
            <a:off x="777240" y="6437376"/>
            <a:ext cx="8092440" cy="201168"/>
          </a:xfrm>
          <a:prstGeom prst="rect">
            <a:avLst/>
          </a:prstGeom>
          <a:noFill/>
          <a:ln/>
        </p:spPr>
        <p:txBody>
          <a:bodyPr wrap="square" lIns="0" tIns="0" rIns="0" bIns="0" rtlCol="0" anchor="ctr">
            <a:normAutofit/>
          </a:bodyPr>
          <a:lstStyle/>
          <a:p>
            <a:pPr indent="0" marL="0">
              <a:buNone/>
            </a:pPr>
            <a:r>
              <a:rPr lang="en-US" sz="1020" dirty="0">
                <a:solidFill>
                  <a:srgbClr val="707070"/>
                </a:solidFill>
                <a:latin typeface="Malgun Gothic" pitchFamily="34" charset="0"/>
                <a:ea typeface="Malgun Gothic" pitchFamily="34" charset="-122"/>
                <a:cs typeface="Malgun Gothic" pitchFamily="34" charset="-120"/>
              </a:rPr>
              <a:t>수업 개념 · 프로젝트 구현 설명은 뒤에서</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384048"/>
            <a:ext cx="9875520" cy="265176"/>
          </a:xfrm>
          <a:prstGeom prst="rect">
            <a:avLst/>
          </a:prstGeom>
          <a:noFill/>
          <a:ln/>
        </p:spPr>
        <p:txBody>
          <a:bodyPr wrap="square" lIns="0" tIns="0" rIns="0" bIns="0" rtlCol="0" anchor="ctr">
            <a:normAutofit/>
          </a:bodyPr>
          <a:lstStyle/>
          <a:p>
            <a:pPr indent="0" marL="0">
              <a:buNone/>
            </a:pPr>
            <a:r>
              <a:rPr lang="en-US" sz="1030" b="1" spc="120" kern="0" dirty="0">
                <a:solidFill>
                  <a:srgbClr val="707070"/>
                </a:solidFill>
                <a:latin typeface="Arial" pitchFamily="34" charset="0"/>
                <a:ea typeface="Arial" pitchFamily="34" charset="-122"/>
                <a:cs typeface="Arial" pitchFamily="34" charset="-120"/>
              </a:rPr>
              <a:t>CURRICULUM · AI WORKFLOW</a:t>
            </a:r>
            <a:endParaRPr lang="en-US" sz="1030" dirty="0"/>
          </a:p>
        </p:txBody>
      </p:sp>
      <p:sp>
        <p:nvSpPr>
          <p:cNvPr id="3" name="Text 1"/>
          <p:cNvSpPr/>
          <p:nvPr/>
        </p:nvSpPr>
        <p:spPr>
          <a:xfrm>
            <a:off x="777240" y="786384"/>
            <a:ext cx="10652760" cy="612648"/>
          </a:xfrm>
          <a:prstGeom prst="rect">
            <a:avLst/>
          </a:prstGeom>
          <a:noFill/>
          <a:ln/>
        </p:spPr>
        <p:txBody>
          <a:bodyPr wrap="square" lIns="0" tIns="0" rIns="0" bIns="0" rtlCol="0" anchor="ctr">
            <a:normAutofit/>
          </a:bodyPr>
          <a:lstStyle/>
          <a:p>
            <a:pPr indent="0" marL="0">
              <a:buNone/>
            </a:pPr>
            <a:r>
              <a:rPr lang="en-US" sz="3100" b="1" dirty="0">
                <a:solidFill>
                  <a:srgbClr val="171717"/>
                </a:solidFill>
                <a:latin typeface="Malgun Gothic" pitchFamily="34" charset="0"/>
                <a:ea typeface="Malgun Gothic" pitchFamily="34" charset="-122"/>
                <a:cs typeface="Malgun Gothic" pitchFamily="34" charset="-120"/>
              </a:rPr>
              <a:t>AI 개발 — 입력 구조화 · 분기 · 출력 검증</a:t>
            </a:r>
            <a:endParaRPr lang="en-US" sz="3100" dirty="0"/>
          </a:p>
        </p:txBody>
      </p:sp>
      <p:sp>
        <p:nvSpPr>
          <p:cNvPr id="4" name="Shape 2"/>
          <p:cNvSpPr/>
          <p:nvPr/>
        </p:nvSpPr>
        <p:spPr>
          <a:xfrm>
            <a:off x="777240" y="1508760"/>
            <a:ext cx="10634472" cy="0"/>
          </a:xfrm>
          <a:prstGeom prst="line">
            <a:avLst/>
          </a:prstGeom>
          <a:noFill/>
          <a:ln w="10160">
            <a:solidFill>
              <a:srgbClr val="EDEDED"/>
            </a:solidFill>
            <a:prstDash val="solid"/>
          </a:ln>
        </p:spPr>
      </p:sp>
      <p:sp>
        <p:nvSpPr>
          <p:cNvPr id="5" name="Text 3"/>
          <p:cNvSpPr/>
          <p:nvPr/>
        </p:nvSpPr>
        <p:spPr>
          <a:xfrm>
            <a:off x="10652760" y="6446520"/>
            <a:ext cx="758952" cy="201168"/>
          </a:xfrm>
          <a:prstGeom prst="rect">
            <a:avLst/>
          </a:prstGeom>
          <a:noFill/>
          <a:ln/>
        </p:spPr>
        <p:txBody>
          <a:bodyPr wrap="square" lIns="0" tIns="0" rIns="0" bIns="0" rtlCol="0" anchor="ctr">
            <a:normAutofit/>
          </a:bodyPr>
          <a:lstStyle/>
          <a:p>
            <a:pPr algn="r" indent="0" marL="0">
              <a:buNone/>
            </a:pPr>
            <a:r>
              <a:rPr lang="en-US" sz="1040" dirty="0">
                <a:solidFill>
                  <a:srgbClr val="707070"/>
                </a:solidFill>
                <a:latin typeface="Arial" pitchFamily="34" charset="0"/>
                <a:ea typeface="Arial" pitchFamily="34" charset="-122"/>
                <a:cs typeface="Arial" pitchFamily="34" charset="-120"/>
              </a:rPr>
              <a:t>04 / 18</a:t>
            </a:r>
            <a:endParaRPr lang="en-US" sz="1040" dirty="0"/>
          </a:p>
        </p:txBody>
      </p:sp>
      <p:sp>
        <p:nvSpPr>
          <p:cNvPr id="6" name="Shape 4"/>
          <p:cNvSpPr/>
          <p:nvPr/>
        </p:nvSpPr>
        <p:spPr>
          <a:xfrm>
            <a:off x="777240" y="2258568"/>
            <a:ext cx="2414016" cy="2944368"/>
          </a:xfrm>
          <a:prstGeom prst="roundRect">
            <a:avLst>
              <a:gd name="adj" fmla="val 4545"/>
            </a:avLst>
          </a:prstGeom>
          <a:solidFill>
            <a:srgbClr val="FFFFFF"/>
          </a:solidFill>
          <a:ln w="10160">
            <a:solidFill>
              <a:srgbClr val="DFDFDF"/>
            </a:solidFill>
            <a:prstDash val="solid"/>
          </a:ln>
        </p:spPr>
      </p:sp>
      <p:sp>
        <p:nvSpPr>
          <p:cNvPr id="7" name="Shape 5"/>
          <p:cNvSpPr/>
          <p:nvPr/>
        </p:nvSpPr>
        <p:spPr>
          <a:xfrm>
            <a:off x="1024128" y="2514600"/>
            <a:ext cx="109728" cy="109728"/>
          </a:xfrm>
          <a:prstGeom prst="ellipse">
            <a:avLst/>
          </a:prstGeom>
          <a:solidFill>
            <a:srgbClr val="3ECF8E"/>
          </a:solidFill>
          <a:ln w="12700">
            <a:solidFill>
              <a:srgbClr val="3ECF8E">
                <a:alpha val="0"/>
              </a:srgbClr>
            </a:solidFill>
            <a:prstDash val="solid"/>
          </a:ln>
        </p:spPr>
      </p:sp>
      <p:sp>
        <p:nvSpPr>
          <p:cNvPr id="8" name="Text 6"/>
          <p:cNvSpPr/>
          <p:nvPr/>
        </p:nvSpPr>
        <p:spPr>
          <a:xfrm>
            <a:off x="1024128" y="2852928"/>
            <a:ext cx="1920240" cy="411480"/>
          </a:xfrm>
          <a:prstGeom prst="rect">
            <a:avLst/>
          </a:prstGeom>
          <a:noFill/>
          <a:ln/>
        </p:spPr>
        <p:txBody>
          <a:bodyPr wrap="square" lIns="0" tIns="0" rIns="0" bIns="0" rtlCol="0" anchor="ctr">
            <a:normAutofit/>
          </a:bodyPr>
          <a:lstStyle/>
          <a:p>
            <a:pPr indent="0" marL="0">
              <a:buNone/>
            </a:pPr>
            <a:r>
              <a:rPr lang="en-US" sz="1700" b="1" dirty="0">
                <a:solidFill>
                  <a:srgbClr val="171717"/>
                </a:solidFill>
                <a:latin typeface="Malgun Gothic" pitchFamily="34" charset="0"/>
                <a:ea typeface="Malgun Gothic" pitchFamily="34" charset="-122"/>
                <a:cs typeface="Malgun Gothic" pitchFamily="34" charset="-120"/>
              </a:rPr>
              <a:t>입력 스키마 검증</a:t>
            </a:r>
            <a:endParaRPr lang="en-US" sz="1700" dirty="0"/>
          </a:p>
        </p:txBody>
      </p:sp>
      <p:sp>
        <p:nvSpPr>
          <p:cNvPr id="9" name="Text 7"/>
          <p:cNvSpPr/>
          <p:nvPr/>
        </p:nvSpPr>
        <p:spPr>
          <a:xfrm>
            <a:off x="1024128" y="4562856"/>
            <a:ext cx="1920240" cy="338328"/>
          </a:xfrm>
          <a:prstGeom prst="rect">
            <a:avLst/>
          </a:prstGeom>
          <a:noFill/>
          <a:ln/>
        </p:spPr>
        <p:txBody>
          <a:bodyPr wrap="square" lIns="0" tIns="0" rIns="0" bIns="0" rtlCol="0" anchor="ctr">
            <a:normAutofit/>
          </a:bodyPr>
          <a:lstStyle/>
          <a:p>
            <a:pPr indent="0" marL="0">
              <a:buNone/>
            </a:pPr>
            <a:r>
              <a:rPr lang="en-US" sz="1220" dirty="0">
                <a:solidFill>
                  <a:srgbClr val="707070"/>
                </a:solidFill>
                <a:latin typeface="Malgun Gothic" pitchFamily="34" charset="0"/>
                <a:ea typeface="Malgun Gothic" pitchFamily="34" charset="-122"/>
                <a:cs typeface="Malgun Gothic" pitchFamily="34" charset="-120"/>
              </a:rPr>
              <a:t>Pydantic</a:t>
            </a:r>
            <a:endParaRPr lang="en-US" sz="1220" dirty="0"/>
          </a:p>
        </p:txBody>
      </p:sp>
      <p:sp>
        <p:nvSpPr>
          <p:cNvPr id="10" name="Text 8"/>
          <p:cNvSpPr/>
          <p:nvPr/>
        </p:nvSpPr>
        <p:spPr>
          <a:xfrm>
            <a:off x="3236976" y="3493008"/>
            <a:ext cx="256032" cy="384048"/>
          </a:xfrm>
          <a:prstGeom prst="rect">
            <a:avLst/>
          </a:prstGeom>
          <a:noFill/>
          <a:ln/>
        </p:spPr>
        <p:txBody>
          <a:bodyPr wrap="square" lIns="0" tIns="0" rIns="0" bIns="0" rtlCol="0" anchor="ctr">
            <a:normAutofit/>
          </a:bodyPr>
          <a:lstStyle/>
          <a:p>
            <a:pPr algn="ctr" indent="0" marL="0">
              <a:buNone/>
            </a:pPr>
            <a:r>
              <a:rPr lang="en-US" sz="2600" dirty="0">
                <a:solidFill>
                  <a:srgbClr val="24B47E"/>
                </a:solidFill>
                <a:latin typeface="Arial" pitchFamily="34" charset="0"/>
                <a:ea typeface="Arial" pitchFamily="34" charset="-122"/>
                <a:cs typeface="Arial" pitchFamily="34" charset="-120"/>
              </a:rPr>
              <a:t>→</a:t>
            </a:r>
            <a:endParaRPr lang="en-US" sz="2600" dirty="0"/>
          </a:p>
        </p:txBody>
      </p:sp>
      <p:sp>
        <p:nvSpPr>
          <p:cNvPr id="11" name="Shape 9"/>
          <p:cNvSpPr/>
          <p:nvPr/>
        </p:nvSpPr>
        <p:spPr>
          <a:xfrm>
            <a:off x="3538728" y="2258568"/>
            <a:ext cx="2414016" cy="2944368"/>
          </a:xfrm>
          <a:prstGeom prst="roundRect">
            <a:avLst>
              <a:gd name="adj" fmla="val 4545"/>
            </a:avLst>
          </a:prstGeom>
          <a:solidFill>
            <a:srgbClr val="FFFFFF"/>
          </a:solidFill>
          <a:ln w="10160">
            <a:solidFill>
              <a:srgbClr val="DFDFDF"/>
            </a:solidFill>
            <a:prstDash val="solid"/>
          </a:ln>
        </p:spPr>
      </p:sp>
      <p:sp>
        <p:nvSpPr>
          <p:cNvPr id="12" name="Shape 10"/>
          <p:cNvSpPr/>
          <p:nvPr/>
        </p:nvSpPr>
        <p:spPr>
          <a:xfrm>
            <a:off x="3785616" y="2514600"/>
            <a:ext cx="109728" cy="109728"/>
          </a:xfrm>
          <a:prstGeom prst="ellipse">
            <a:avLst/>
          </a:prstGeom>
          <a:solidFill>
            <a:srgbClr val="3ECF8E"/>
          </a:solidFill>
          <a:ln w="12700">
            <a:solidFill>
              <a:srgbClr val="3ECF8E">
                <a:alpha val="0"/>
              </a:srgbClr>
            </a:solidFill>
            <a:prstDash val="solid"/>
          </a:ln>
        </p:spPr>
      </p:sp>
      <p:sp>
        <p:nvSpPr>
          <p:cNvPr id="13" name="Text 11"/>
          <p:cNvSpPr/>
          <p:nvPr/>
        </p:nvSpPr>
        <p:spPr>
          <a:xfrm>
            <a:off x="3785616" y="2852928"/>
            <a:ext cx="1920240" cy="411480"/>
          </a:xfrm>
          <a:prstGeom prst="rect">
            <a:avLst/>
          </a:prstGeom>
          <a:noFill/>
          <a:ln/>
        </p:spPr>
        <p:txBody>
          <a:bodyPr wrap="square" lIns="0" tIns="0" rIns="0" bIns="0" rtlCol="0" anchor="ctr">
            <a:normAutofit/>
          </a:bodyPr>
          <a:lstStyle/>
          <a:p>
            <a:pPr indent="0" marL="0">
              <a:buNone/>
            </a:pPr>
            <a:r>
              <a:rPr lang="en-US" sz="1700" b="1" dirty="0">
                <a:solidFill>
                  <a:srgbClr val="171717"/>
                </a:solidFill>
                <a:latin typeface="Malgun Gothic" pitchFamily="34" charset="0"/>
                <a:ea typeface="Malgun Gothic" pitchFamily="34" charset="-122"/>
                <a:cs typeface="Malgun Gothic" pitchFamily="34" charset="-120"/>
              </a:rPr>
              <a:t>AI 모델 호출</a:t>
            </a:r>
            <a:endParaRPr lang="en-US" sz="1700" dirty="0"/>
          </a:p>
        </p:txBody>
      </p:sp>
      <p:sp>
        <p:nvSpPr>
          <p:cNvPr id="14" name="Text 12"/>
          <p:cNvSpPr/>
          <p:nvPr/>
        </p:nvSpPr>
        <p:spPr>
          <a:xfrm>
            <a:off x="3785616" y="4562856"/>
            <a:ext cx="1920240" cy="338328"/>
          </a:xfrm>
          <a:prstGeom prst="rect">
            <a:avLst/>
          </a:prstGeom>
          <a:noFill/>
          <a:ln/>
        </p:spPr>
        <p:txBody>
          <a:bodyPr wrap="square" lIns="0" tIns="0" rIns="0" bIns="0" rtlCol="0" anchor="ctr">
            <a:normAutofit/>
          </a:bodyPr>
          <a:lstStyle/>
          <a:p>
            <a:pPr indent="0" marL="0">
              <a:buNone/>
            </a:pPr>
            <a:r>
              <a:rPr lang="en-US" sz="1220" dirty="0">
                <a:solidFill>
                  <a:srgbClr val="707070"/>
                </a:solidFill>
                <a:latin typeface="Malgun Gothic" pitchFamily="34" charset="0"/>
                <a:ea typeface="Malgun Gothic" pitchFamily="34" charset="-122"/>
                <a:cs typeface="Malgun Gothic" pitchFamily="34" charset="-120"/>
              </a:rPr>
              <a:t>모델 API</a:t>
            </a:r>
            <a:endParaRPr lang="en-US" sz="1220" dirty="0"/>
          </a:p>
        </p:txBody>
      </p:sp>
      <p:sp>
        <p:nvSpPr>
          <p:cNvPr id="15" name="Text 13"/>
          <p:cNvSpPr/>
          <p:nvPr/>
        </p:nvSpPr>
        <p:spPr>
          <a:xfrm>
            <a:off x="5998464" y="3493008"/>
            <a:ext cx="256032" cy="384048"/>
          </a:xfrm>
          <a:prstGeom prst="rect">
            <a:avLst/>
          </a:prstGeom>
          <a:noFill/>
          <a:ln/>
        </p:spPr>
        <p:txBody>
          <a:bodyPr wrap="square" lIns="0" tIns="0" rIns="0" bIns="0" rtlCol="0" anchor="ctr">
            <a:normAutofit/>
          </a:bodyPr>
          <a:lstStyle/>
          <a:p>
            <a:pPr algn="ctr" indent="0" marL="0">
              <a:buNone/>
            </a:pPr>
            <a:r>
              <a:rPr lang="en-US" sz="2600" dirty="0">
                <a:solidFill>
                  <a:srgbClr val="24B47E"/>
                </a:solidFill>
                <a:latin typeface="Arial" pitchFamily="34" charset="0"/>
                <a:ea typeface="Arial" pitchFamily="34" charset="-122"/>
                <a:cs typeface="Arial" pitchFamily="34" charset="-120"/>
              </a:rPr>
              <a:t>→</a:t>
            </a:r>
            <a:endParaRPr lang="en-US" sz="2600" dirty="0"/>
          </a:p>
        </p:txBody>
      </p:sp>
      <p:sp>
        <p:nvSpPr>
          <p:cNvPr id="16" name="Shape 14"/>
          <p:cNvSpPr/>
          <p:nvPr/>
        </p:nvSpPr>
        <p:spPr>
          <a:xfrm>
            <a:off x="6300216" y="2258568"/>
            <a:ext cx="2414016" cy="2944368"/>
          </a:xfrm>
          <a:prstGeom prst="roundRect">
            <a:avLst>
              <a:gd name="adj" fmla="val 4545"/>
            </a:avLst>
          </a:prstGeom>
          <a:solidFill>
            <a:srgbClr val="1C1C1C"/>
          </a:solidFill>
          <a:ln w="10160">
            <a:solidFill>
              <a:srgbClr val="1C1C1C"/>
            </a:solidFill>
            <a:prstDash val="solid"/>
          </a:ln>
        </p:spPr>
      </p:sp>
      <p:sp>
        <p:nvSpPr>
          <p:cNvPr id="17" name="Shape 15"/>
          <p:cNvSpPr/>
          <p:nvPr/>
        </p:nvSpPr>
        <p:spPr>
          <a:xfrm>
            <a:off x="6547104" y="2514600"/>
            <a:ext cx="109728" cy="109728"/>
          </a:xfrm>
          <a:prstGeom prst="ellipse">
            <a:avLst/>
          </a:prstGeom>
          <a:solidFill>
            <a:srgbClr val="3ECF8E"/>
          </a:solidFill>
          <a:ln w="12700">
            <a:solidFill>
              <a:srgbClr val="3ECF8E">
                <a:alpha val="0"/>
              </a:srgbClr>
            </a:solidFill>
            <a:prstDash val="solid"/>
          </a:ln>
        </p:spPr>
      </p:sp>
      <p:sp>
        <p:nvSpPr>
          <p:cNvPr id="18" name="Text 16"/>
          <p:cNvSpPr/>
          <p:nvPr/>
        </p:nvSpPr>
        <p:spPr>
          <a:xfrm>
            <a:off x="6547104" y="2852928"/>
            <a:ext cx="1920240" cy="411480"/>
          </a:xfrm>
          <a:prstGeom prst="rect">
            <a:avLst/>
          </a:prstGeom>
          <a:noFill/>
          <a:ln/>
        </p:spPr>
        <p:txBody>
          <a:bodyPr wrap="square" lIns="0" tIns="0" rIns="0" bIns="0" rtlCol="0" anchor="ctr">
            <a:normAutofit/>
          </a:bodyPr>
          <a:lstStyle/>
          <a:p>
            <a:pPr indent="0" marL="0">
              <a:buNone/>
            </a:pPr>
            <a:r>
              <a:rPr lang="en-US" sz="1700" b="1" dirty="0">
                <a:solidFill>
                  <a:srgbClr val="FFFFFF"/>
                </a:solidFill>
                <a:latin typeface="Malgun Gothic" pitchFamily="34" charset="0"/>
                <a:ea typeface="Malgun Gothic" pitchFamily="34" charset="-122"/>
                <a:cs typeface="Malgun Gothic" pitchFamily="34" charset="-120"/>
              </a:rPr>
              <a:t>상태 기반 분기</a:t>
            </a:r>
            <a:endParaRPr lang="en-US" sz="1700" dirty="0"/>
          </a:p>
        </p:txBody>
      </p:sp>
      <p:sp>
        <p:nvSpPr>
          <p:cNvPr id="19" name="Text 17"/>
          <p:cNvSpPr/>
          <p:nvPr/>
        </p:nvSpPr>
        <p:spPr>
          <a:xfrm>
            <a:off x="6547104" y="4562856"/>
            <a:ext cx="1920240" cy="338328"/>
          </a:xfrm>
          <a:prstGeom prst="rect">
            <a:avLst/>
          </a:prstGeom>
          <a:noFill/>
          <a:ln/>
        </p:spPr>
        <p:txBody>
          <a:bodyPr wrap="square" lIns="0" tIns="0" rIns="0" bIns="0" rtlCol="0" anchor="ctr">
            <a:normAutofit/>
          </a:bodyPr>
          <a:lstStyle/>
          <a:p>
            <a:pPr indent="0" marL="0">
              <a:buNone/>
            </a:pPr>
            <a:r>
              <a:rPr lang="en-US" sz="1220" dirty="0">
                <a:solidFill>
                  <a:srgbClr val="DFDFDF"/>
                </a:solidFill>
                <a:latin typeface="Malgun Gothic" pitchFamily="34" charset="0"/>
                <a:ea typeface="Malgun Gothic" pitchFamily="34" charset="-122"/>
                <a:cs typeface="Malgun Gothic" pitchFamily="34" charset="-120"/>
              </a:rPr>
              <a:t>LangGraph</a:t>
            </a:r>
            <a:endParaRPr lang="en-US" sz="1220" dirty="0"/>
          </a:p>
        </p:txBody>
      </p:sp>
      <p:sp>
        <p:nvSpPr>
          <p:cNvPr id="20" name="Text 18"/>
          <p:cNvSpPr/>
          <p:nvPr/>
        </p:nvSpPr>
        <p:spPr>
          <a:xfrm>
            <a:off x="8759952" y="3493008"/>
            <a:ext cx="256032" cy="384048"/>
          </a:xfrm>
          <a:prstGeom prst="rect">
            <a:avLst/>
          </a:prstGeom>
          <a:noFill/>
          <a:ln/>
        </p:spPr>
        <p:txBody>
          <a:bodyPr wrap="square" lIns="0" tIns="0" rIns="0" bIns="0" rtlCol="0" anchor="ctr">
            <a:normAutofit/>
          </a:bodyPr>
          <a:lstStyle/>
          <a:p>
            <a:pPr algn="ctr" indent="0" marL="0">
              <a:buNone/>
            </a:pPr>
            <a:r>
              <a:rPr lang="en-US" sz="2600" dirty="0">
                <a:solidFill>
                  <a:srgbClr val="24B47E"/>
                </a:solidFill>
                <a:latin typeface="Arial" pitchFamily="34" charset="0"/>
                <a:ea typeface="Arial" pitchFamily="34" charset="-122"/>
                <a:cs typeface="Arial" pitchFamily="34" charset="-120"/>
              </a:rPr>
              <a:t>→</a:t>
            </a:r>
            <a:endParaRPr lang="en-US" sz="2600" dirty="0"/>
          </a:p>
        </p:txBody>
      </p:sp>
      <p:sp>
        <p:nvSpPr>
          <p:cNvPr id="21" name="Shape 19"/>
          <p:cNvSpPr/>
          <p:nvPr/>
        </p:nvSpPr>
        <p:spPr>
          <a:xfrm>
            <a:off x="9061704" y="2258568"/>
            <a:ext cx="2414016" cy="2944368"/>
          </a:xfrm>
          <a:prstGeom prst="roundRect">
            <a:avLst>
              <a:gd name="adj" fmla="val 4545"/>
            </a:avLst>
          </a:prstGeom>
          <a:solidFill>
            <a:srgbClr val="FFFFFF"/>
          </a:solidFill>
          <a:ln w="10160">
            <a:solidFill>
              <a:srgbClr val="DFDFDF"/>
            </a:solidFill>
            <a:prstDash val="solid"/>
          </a:ln>
        </p:spPr>
      </p:sp>
      <p:sp>
        <p:nvSpPr>
          <p:cNvPr id="22" name="Shape 20"/>
          <p:cNvSpPr/>
          <p:nvPr/>
        </p:nvSpPr>
        <p:spPr>
          <a:xfrm>
            <a:off x="9308592" y="2514600"/>
            <a:ext cx="109728" cy="109728"/>
          </a:xfrm>
          <a:prstGeom prst="ellipse">
            <a:avLst/>
          </a:prstGeom>
          <a:solidFill>
            <a:srgbClr val="3ECF8E"/>
          </a:solidFill>
          <a:ln w="12700">
            <a:solidFill>
              <a:srgbClr val="3ECF8E">
                <a:alpha val="0"/>
              </a:srgbClr>
            </a:solidFill>
            <a:prstDash val="solid"/>
          </a:ln>
        </p:spPr>
      </p:sp>
      <p:sp>
        <p:nvSpPr>
          <p:cNvPr id="23" name="Text 21"/>
          <p:cNvSpPr/>
          <p:nvPr/>
        </p:nvSpPr>
        <p:spPr>
          <a:xfrm>
            <a:off x="9308592" y="2852928"/>
            <a:ext cx="1920240" cy="411480"/>
          </a:xfrm>
          <a:prstGeom prst="rect">
            <a:avLst/>
          </a:prstGeom>
          <a:noFill/>
          <a:ln/>
        </p:spPr>
        <p:txBody>
          <a:bodyPr wrap="square" lIns="0" tIns="0" rIns="0" bIns="0" rtlCol="0" anchor="ctr">
            <a:normAutofit/>
          </a:bodyPr>
          <a:lstStyle/>
          <a:p>
            <a:pPr indent="0" marL="0">
              <a:buNone/>
            </a:pPr>
            <a:r>
              <a:rPr lang="en-US" sz="1700" b="1" dirty="0">
                <a:solidFill>
                  <a:srgbClr val="171717"/>
                </a:solidFill>
                <a:latin typeface="Malgun Gothic" pitchFamily="34" charset="0"/>
                <a:ea typeface="Malgun Gothic" pitchFamily="34" charset="-122"/>
                <a:cs typeface="Malgun Gothic" pitchFamily="34" charset="-120"/>
              </a:rPr>
              <a:t>응답 스키마 검증</a:t>
            </a:r>
            <a:endParaRPr lang="en-US" sz="1700" dirty="0"/>
          </a:p>
        </p:txBody>
      </p:sp>
      <p:sp>
        <p:nvSpPr>
          <p:cNvPr id="24" name="Text 22"/>
          <p:cNvSpPr/>
          <p:nvPr/>
        </p:nvSpPr>
        <p:spPr>
          <a:xfrm>
            <a:off x="9308592" y="4562856"/>
            <a:ext cx="1920240" cy="338328"/>
          </a:xfrm>
          <a:prstGeom prst="rect">
            <a:avLst/>
          </a:prstGeom>
          <a:noFill/>
          <a:ln/>
        </p:spPr>
        <p:txBody>
          <a:bodyPr wrap="square" lIns="0" tIns="0" rIns="0" bIns="0" rtlCol="0" anchor="ctr">
            <a:normAutofit/>
          </a:bodyPr>
          <a:lstStyle/>
          <a:p>
            <a:pPr indent="0" marL="0">
              <a:buNone/>
            </a:pPr>
            <a:r>
              <a:rPr lang="en-US" sz="1220" dirty="0">
                <a:solidFill>
                  <a:srgbClr val="707070"/>
                </a:solidFill>
                <a:latin typeface="Malgun Gothic" pitchFamily="34" charset="0"/>
                <a:ea typeface="Malgun Gothic" pitchFamily="34" charset="-122"/>
                <a:cs typeface="Malgun Gothic" pitchFamily="34" charset="-120"/>
              </a:rPr>
              <a:t>Pydantic</a:t>
            </a:r>
            <a:endParaRPr lang="en-US" sz="1220" dirty="0"/>
          </a:p>
        </p:txBody>
      </p:sp>
      <p:sp>
        <p:nvSpPr>
          <p:cNvPr id="25" name="Text 23"/>
          <p:cNvSpPr/>
          <p:nvPr/>
        </p:nvSpPr>
        <p:spPr>
          <a:xfrm>
            <a:off x="777240" y="6437376"/>
            <a:ext cx="8092440" cy="201168"/>
          </a:xfrm>
          <a:prstGeom prst="rect">
            <a:avLst/>
          </a:prstGeom>
          <a:noFill/>
          <a:ln/>
        </p:spPr>
        <p:txBody>
          <a:bodyPr wrap="square" lIns="0" tIns="0" rIns="0" bIns="0" rtlCol="0" anchor="ctr">
            <a:normAutofit/>
          </a:bodyPr>
          <a:lstStyle/>
          <a:p>
            <a:pPr indent="0" marL="0">
              <a:buNone/>
            </a:pPr>
            <a:r>
              <a:rPr lang="en-US" sz="1020" dirty="0">
                <a:solidFill>
                  <a:srgbClr val="707070"/>
                </a:solidFill>
                <a:latin typeface="Malgun Gothic" pitchFamily="34" charset="0"/>
                <a:ea typeface="Malgun Gothic" pitchFamily="34" charset="-122"/>
                <a:cs typeface="Malgun Gothic" pitchFamily="34" charset="-120"/>
              </a:rPr>
              <a:t>FastAPI · Pydantic · LangGraph 수업 자료</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384048"/>
            <a:ext cx="9875520" cy="265176"/>
          </a:xfrm>
          <a:prstGeom prst="rect">
            <a:avLst/>
          </a:prstGeom>
          <a:noFill/>
          <a:ln/>
        </p:spPr>
        <p:txBody>
          <a:bodyPr wrap="square" lIns="0" tIns="0" rIns="0" bIns="0" rtlCol="0" anchor="ctr">
            <a:normAutofit/>
          </a:bodyPr>
          <a:lstStyle/>
          <a:p>
            <a:pPr indent="0" marL="0">
              <a:buNone/>
            </a:pPr>
            <a:r>
              <a:rPr lang="en-US" sz="1030" b="1" spc="120" kern="0" dirty="0">
                <a:solidFill>
                  <a:srgbClr val="707070"/>
                </a:solidFill>
                <a:latin typeface="Arial" pitchFamily="34" charset="0"/>
                <a:ea typeface="Arial" pitchFamily="34" charset="-122"/>
                <a:cs typeface="Arial" pitchFamily="34" charset="-120"/>
              </a:rPr>
              <a:t>LEARNING RESULT · PROBLEM SOLVING</a:t>
            </a:r>
            <a:endParaRPr lang="en-US" sz="1030" dirty="0"/>
          </a:p>
        </p:txBody>
      </p:sp>
      <p:sp>
        <p:nvSpPr>
          <p:cNvPr id="3" name="Text 1"/>
          <p:cNvSpPr/>
          <p:nvPr/>
        </p:nvSpPr>
        <p:spPr>
          <a:xfrm>
            <a:off x="777240" y="786384"/>
            <a:ext cx="10652760" cy="612648"/>
          </a:xfrm>
          <a:prstGeom prst="rect">
            <a:avLst/>
          </a:prstGeom>
          <a:noFill/>
          <a:ln/>
        </p:spPr>
        <p:txBody>
          <a:bodyPr wrap="square" lIns="0" tIns="0" rIns="0" bIns="0" rtlCol="0" anchor="ctr">
            <a:normAutofit/>
          </a:bodyPr>
          <a:lstStyle/>
          <a:p>
            <a:pPr indent="0" marL="0">
              <a:buNone/>
            </a:pPr>
            <a:r>
              <a:rPr lang="en-US" sz="3100" b="1" dirty="0">
                <a:solidFill>
                  <a:srgbClr val="171717"/>
                </a:solidFill>
                <a:latin typeface="Malgun Gothic" pitchFamily="34" charset="0"/>
                <a:ea typeface="Malgun Gothic" pitchFamily="34" charset="-122"/>
                <a:cs typeface="Malgun Gothic" pitchFamily="34" charset="-120"/>
              </a:rPr>
              <a:t>개발 학습 — 문제 정의 · 가설 적용 · 검증</a:t>
            </a:r>
            <a:endParaRPr lang="en-US" sz="3100" dirty="0"/>
          </a:p>
        </p:txBody>
      </p:sp>
      <p:sp>
        <p:nvSpPr>
          <p:cNvPr id="4" name="Shape 2"/>
          <p:cNvSpPr/>
          <p:nvPr/>
        </p:nvSpPr>
        <p:spPr>
          <a:xfrm>
            <a:off x="777240" y="1508760"/>
            <a:ext cx="10634472" cy="0"/>
          </a:xfrm>
          <a:prstGeom prst="line">
            <a:avLst/>
          </a:prstGeom>
          <a:noFill/>
          <a:ln w="10160">
            <a:solidFill>
              <a:srgbClr val="EDEDED"/>
            </a:solidFill>
            <a:prstDash val="solid"/>
          </a:ln>
        </p:spPr>
      </p:sp>
      <p:sp>
        <p:nvSpPr>
          <p:cNvPr id="5" name="Text 3"/>
          <p:cNvSpPr/>
          <p:nvPr/>
        </p:nvSpPr>
        <p:spPr>
          <a:xfrm>
            <a:off x="10652760" y="6446520"/>
            <a:ext cx="758952" cy="201168"/>
          </a:xfrm>
          <a:prstGeom prst="rect">
            <a:avLst/>
          </a:prstGeom>
          <a:noFill/>
          <a:ln/>
        </p:spPr>
        <p:txBody>
          <a:bodyPr wrap="square" lIns="0" tIns="0" rIns="0" bIns="0" rtlCol="0" anchor="ctr">
            <a:normAutofit/>
          </a:bodyPr>
          <a:lstStyle/>
          <a:p>
            <a:pPr algn="r" indent="0" marL="0">
              <a:buNone/>
            </a:pPr>
            <a:r>
              <a:rPr lang="en-US" sz="1040" dirty="0">
                <a:solidFill>
                  <a:srgbClr val="707070"/>
                </a:solidFill>
                <a:latin typeface="Arial" pitchFamily="34" charset="0"/>
                <a:ea typeface="Arial" pitchFamily="34" charset="-122"/>
                <a:cs typeface="Arial" pitchFamily="34" charset="-120"/>
              </a:rPr>
              <a:t>05 / 18</a:t>
            </a:r>
            <a:endParaRPr lang="en-US" sz="1040" dirty="0"/>
          </a:p>
        </p:txBody>
      </p:sp>
      <p:sp>
        <p:nvSpPr>
          <p:cNvPr id="6" name="Shape 4"/>
          <p:cNvSpPr/>
          <p:nvPr/>
        </p:nvSpPr>
        <p:spPr>
          <a:xfrm>
            <a:off x="777240" y="2066544"/>
            <a:ext cx="3218688" cy="3547872"/>
          </a:xfrm>
          <a:prstGeom prst="roundRect">
            <a:avLst>
              <a:gd name="adj" fmla="val 3409"/>
            </a:avLst>
          </a:prstGeom>
          <a:solidFill>
            <a:srgbClr val="FFFFFF"/>
          </a:solidFill>
          <a:ln w="10160">
            <a:solidFill>
              <a:srgbClr val="DFDFDF"/>
            </a:solidFill>
            <a:prstDash val="solid"/>
          </a:ln>
        </p:spPr>
      </p:sp>
      <p:sp>
        <p:nvSpPr>
          <p:cNvPr id="7" name="Shape 5"/>
          <p:cNvSpPr/>
          <p:nvPr/>
        </p:nvSpPr>
        <p:spPr>
          <a:xfrm>
            <a:off x="1024128" y="2322576"/>
            <a:ext cx="109728" cy="109728"/>
          </a:xfrm>
          <a:prstGeom prst="ellipse">
            <a:avLst/>
          </a:prstGeom>
          <a:solidFill>
            <a:srgbClr val="3ECF8E"/>
          </a:solidFill>
          <a:ln w="12700">
            <a:solidFill>
              <a:srgbClr val="3ECF8E">
                <a:alpha val="0"/>
              </a:srgbClr>
            </a:solidFill>
            <a:prstDash val="solid"/>
          </a:ln>
        </p:spPr>
      </p:sp>
      <p:sp>
        <p:nvSpPr>
          <p:cNvPr id="8" name="Text 6"/>
          <p:cNvSpPr/>
          <p:nvPr/>
        </p:nvSpPr>
        <p:spPr>
          <a:xfrm>
            <a:off x="1024128" y="3355848"/>
            <a:ext cx="2724912" cy="566928"/>
          </a:xfrm>
          <a:prstGeom prst="rect">
            <a:avLst/>
          </a:prstGeom>
          <a:noFill/>
          <a:ln/>
        </p:spPr>
        <p:txBody>
          <a:bodyPr wrap="square" lIns="0" tIns="0" rIns="0" bIns="0" rtlCol="0" anchor="ctr">
            <a:normAutofit/>
          </a:bodyPr>
          <a:lstStyle/>
          <a:p>
            <a:pPr algn="ctr" indent="0" marL="0">
              <a:buNone/>
            </a:pPr>
            <a:r>
              <a:rPr lang="en-US" sz="1900" b="1" dirty="0">
                <a:solidFill>
                  <a:srgbClr val="171717"/>
                </a:solidFill>
                <a:latin typeface="Malgun Gothic" pitchFamily="34" charset="0"/>
                <a:ea typeface="Malgun Gothic" pitchFamily="34" charset="-122"/>
                <a:cs typeface="Malgun Gothic" pitchFamily="34" charset="-120"/>
              </a:rPr>
              <a:t>문제 정의</a:t>
            </a:r>
            <a:endParaRPr lang="en-US" sz="1900" dirty="0"/>
          </a:p>
        </p:txBody>
      </p:sp>
      <p:sp>
        <p:nvSpPr>
          <p:cNvPr id="9" name="Shape 7"/>
          <p:cNvSpPr/>
          <p:nvPr/>
        </p:nvSpPr>
        <p:spPr>
          <a:xfrm>
            <a:off x="4498848" y="2066544"/>
            <a:ext cx="3218688" cy="3547872"/>
          </a:xfrm>
          <a:prstGeom prst="roundRect">
            <a:avLst>
              <a:gd name="adj" fmla="val 3409"/>
            </a:avLst>
          </a:prstGeom>
          <a:solidFill>
            <a:srgbClr val="1C1C1C"/>
          </a:solidFill>
          <a:ln w="10160">
            <a:solidFill>
              <a:srgbClr val="1C1C1C"/>
            </a:solidFill>
            <a:prstDash val="solid"/>
          </a:ln>
        </p:spPr>
      </p:sp>
      <p:sp>
        <p:nvSpPr>
          <p:cNvPr id="10" name="Shape 8"/>
          <p:cNvSpPr/>
          <p:nvPr/>
        </p:nvSpPr>
        <p:spPr>
          <a:xfrm>
            <a:off x="4745736" y="2322576"/>
            <a:ext cx="109728" cy="109728"/>
          </a:xfrm>
          <a:prstGeom prst="ellipse">
            <a:avLst/>
          </a:prstGeom>
          <a:solidFill>
            <a:srgbClr val="3ECF8E"/>
          </a:solidFill>
          <a:ln w="12700">
            <a:solidFill>
              <a:srgbClr val="3ECF8E">
                <a:alpha val="0"/>
              </a:srgbClr>
            </a:solidFill>
            <a:prstDash val="solid"/>
          </a:ln>
        </p:spPr>
      </p:sp>
      <p:sp>
        <p:nvSpPr>
          <p:cNvPr id="11" name="Text 9"/>
          <p:cNvSpPr/>
          <p:nvPr/>
        </p:nvSpPr>
        <p:spPr>
          <a:xfrm>
            <a:off x="4745736" y="3355848"/>
            <a:ext cx="2724912" cy="566928"/>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Malgun Gothic" pitchFamily="34" charset="0"/>
                <a:ea typeface="Malgun Gothic" pitchFamily="34" charset="-122"/>
                <a:cs typeface="Malgun Gothic" pitchFamily="34" charset="-120"/>
              </a:rPr>
              <a:t>가설 적용</a:t>
            </a:r>
            <a:endParaRPr lang="en-US" sz="1900" dirty="0"/>
          </a:p>
        </p:txBody>
      </p:sp>
      <p:sp>
        <p:nvSpPr>
          <p:cNvPr id="12" name="Shape 10"/>
          <p:cNvSpPr/>
          <p:nvPr/>
        </p:nvSpPr>
        <p:spPr>
          <a:xfrm>
            <a:off x="8220456" y="2066544"/>
            <a:ext cx="3218688" cy="3547872"/>
          </a:xfrm>
          <a:prstGeom prst="roundRect">
            <a:avLst>
              <a:gd name="adj" fmla="val 3409"/>
            </a:avLst>
          </a:prstGeom>
          <a:solidFill>
            <a:srgbClr val="FFFFFF"/>
          </a:solidFill>
          <a:ln w="10160">
            <a:solidFill>
              <a:srgbClr val="DFDFDF"/>
            </a:solidFill>
            <a:prstDash val="solid"/>
          </a:ln>
        </p:spPr>
      </p:sp>
      <p:sp>
        <p:nvSpPr>
          <p:cNvPr id="13" name="Shape 11"/>
          <p:cNvSpPr/>
          <p:nvPr/>
        </p:nvSpPr>
        <p:spPr>
          <a:xfrm>
            <a:off x="8467344" y="2322576"/>
            <a:ext cx="109728" cy="109728"/>
          </a:xfrm>
          <a:prstGeom prst="ellipse">
            <a:avLst/>
          </a:prstGeom>
          <a:solidFill>
            <a:srgbClr val="3ECF8E"/>
          </a:solidFill>
          <a:ln w="12700">
            <a:solidFill>
              <a:srgbClr val="3ECF8E">
                <a:alpha val="0"/>
              </a:srgbClr>
            </a:solidFill>
            <a:prstDash val="solid"/>
          </a:ln>
        </p:spPr>
      </p:sp>
      <p:sp>
        <p:nvSpPr>
          <p:cNvPr id="14" name="Text 12"/>
          <p:cNvSpPr/>
          <p:nvPr/>
        </p:nvSpPr>
        <p:spPr>
          <a:xfrm>
            <a:off x="8467344" y="3355848"/>
            <a:ext cx="2724912" cy="566928"/>
          </a:xfrm>
          <a:prstGeom prst="rect">
            <a:avLst/>
          </a:prstGeom>
          <a:noFill/>
          <a:ln/>
        </p:spPr>
        <p:txBody>
          <a:bodyPr wrap="square" lIns="0" tIns="0" rIns="0" bIns="0" rtlCol="0" anchor="ctr">
            <a:normAutofit/>
          </a:bodyPr>
          <a:lstStyle/>
          <a:p>
            <a:pPr algn="ctr" indent="0" marL="0">
              <a:buNone/>
            </a:pPr>
            <a:r>
              <a:rPr lang="en-US" sz="1900" b="1" dirty="0">
                <a:solidFill>
                  <a:srgbClr val="171717"/>
                </a:solidFill>
                <a:latin typeface="Malgun Gothic" pitchFamily="34" charset="0"/>
                <a:ea typeface="Malgun Gothic" pitchFamily="34" charset="-122"/>
                <a:cs typeface="Malgun Gothic" pitchFamily="34" charset="-120"/>
              </a:rPr>
              <a:t>검증 · 수정</a:t>
            </a:r>
            <a:endParaRPr lang="en-US" sz="1900" dirty="0"/>
          </a:p>
        </p:txBody>
      </p:sp>
      <p:sp>
        <p:nvSpPr>
          <p:cNvPr id="15" name="Text 13"/>
          <p:cNvSpPr/>
          <p:nvPr/>
        </p:nvSpPr>
        <p:spPr>
          <a:xfrm>
            <a:off x="4050792" y="3502152"/>
            <a:ext cx="347472" cy="384048"/>
          </a:xfrm>
          <a:prstGeom prst="rect">
            <a:avLst/>
          </a:prstGeom>
          <a:noFill/>
          <a:ln/>
        </p:spPr>
        <p:txBody>
          <a:bodyPr wrap="square" lIns="0" tIns="0" rIns="0" bIns="0" rtlCol="0" anchor="ctr">
            <a:normAutofit/>
          </a:bodyPr>
          <a:lstStyle/>
          <a:p>
            <a:pPr algn="ctr" indent="0" marL="0">
              <a:buNone/>
            </a:pPr>
            <a:r>
              <a:rPr lang="en-US" sz="2600" dirty="0">
                <a:solidFill>
                  <a:srgbClr val="24B47E"/>
                </a:solidFill>
                <a:latin typeface="Arial" pitchFamily="34" charset="0"/>
                <a:ea typeface="Arial" pitchFamily="34" charset="-122"/>
                <a:cs typeface="Arial" pitchFamily="34" charset="-120"/>
              </a:rPr>
              <a:t>→</a:t>
            </a:r>
            <a:endParaRPr lang="en-US" sz="2600" dirty="0"/>
          </a:p>
        </p:txBody>
      </p:sp>
      <p:sp>
        <p:nvSpPr>
          <p:cNvPr id="16" name="Text 14"/>
          <p:cNvSpPr/>
          <p:nvPr/>
        </p:nvSpPr>
        <p:spPr>
          <a:xfrm>
            <a:off x="7772400" y="3502152"/>
            <a:ext cx="347472" cy="384048"/>
          </a:xfrm>
          <a:prstGeom prst="rect">
            <a:avLst/>
          </a:prstGeom>
          <a:noFill/>
          <a:ln/>
        </p:spPr>
        <p:txBody>
          <a:bodyPr wrap="square" lIns="0" tIns="0" rIns="0" bIns="0" rtlCol="0" anchor="ctr">
            <a:normAutofit/>
          </a:bodyPr>
          <a:lstStyle/>
          <a:p>
            <a:pPr algn="ctr" indent="0" marL="0">
              <a:buNone/>
            </a:pPr>
            <a:r>
              <a:rPr lang="en-US" sz="2600" dirty="0">
                <a:solidFill>
                  <a:srgbClr val="24B47E"/>
                </a:solidFill>
                <a:latin typeface="Arial" pitchFamily="34" charset="0"/>
                <a:ea typeface="Arial" pitchFamily="34" charset="-122"/>
                <a:cs typeface="Arial" pitchFamily="34" charset="-120"/>
              </a:rPr>
              <a:t>→</a:t>
            </a:r>
            <a:endParaRPr lang="en-US" sz="2600" dirty="0"/>
          </a:p>
        </p:txBody>
      </p:sp>
      <p:sp>
        <p:nvSpPr>
          <p:cNvPr id="17" name="Shape 15"/>
          <p:cNvSpPr/>
          <p:nvPr/>
        </p:nvSpPr>
        <p:spPr>
          <a:xfrm>
            <a:off x="2267712" y="5925312"/>
            <a:ext cx="7653528" cy="329184"/>
          </a:xfrm>
          <a:prstGeom prst="roundRect">
            <a:avLst>
              <a:gd name="adj" fmla="val 33333"/>
            </a:avLst>
          </a:prstGeom>
          <a:solidFill>
            <a:srgbClr val="FAFAFA"/>
          </a:solidFill>
          <a:ln w="10160">
            <a:solidFill>
              <a:srgbClr val="EDEDED"/>
            </a:solidFill>
            <a:prstDash val="solid"/>
          </a:ln>
        </p:spPr>
      </p:sp>
      <p:sp>
        <p:nvSpPr>
          <p:cNvPr id="18" name="Text 16"/>
          <p:cNvSpPr/>
          <p:nvPr/>
        </p:nvSpPr>
        <p:spPr>
          <a:xfrm>
            <a:off x="2770632" y="5943600"/>
            <a:ext cx="6638544" cy="283464"/>
          </a:xfrm>
          <a:prstGeom prst="rect">
            <a:avLst/>
          </a:prstGeom>
          <a:noFill/>
          <a:ln/>
        </p:spPr>
        <p:txBody>
          <a:bodyPr wrap="square" lIns="0" tIns="0" rIns="0" bIns="0" rtlCol="0" anchor="ctr">
            <a:normAutofit/>
          </a:bodyPr>
          <a:lstStyle/>
          <a:p>
            <a:pPr algn="ctr" indent="0" marL="0">
              <a:buNone/>
            </a:pPr>
            <a:r>
              <a:rPr lang="en-US" sz="1260" dirty="0">
                <a:solidFill>
                  <a:srgbClr val="707070"/>
                </a:solidFill>
                <a:latin typeface="Malgun Gothic" pitchFamily="34" charset="0"/>
                <a:ea typeface="Malgun Gothic" pitchFamily="34" charset="-122"/>
                <a:cs typeface="Malgun Gothic" pitchFamily="34" charset="-120"/>
              </a:rPr>
              <a:t>문제 분해 → 원인 가설 → 적용 결과 확인</a:t>
            </a:r>
            <a:endParaRPr lang="en-US" sz="12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384048"/>
            <a:ext cx="9875520" cy="265176"/>
          </a:xfrm>
          <a:prstGeom prst="rect">
            <a:avLst/>
          </a:prstGeom>
          <a:noFill/>
          <a:ln/>
        </p:spPr>
        <p:txBody>
          <a:bodyPr wrap="square" lIns="0" tIns="0" rIns="0" bIns="0" rtlCol="0" anchor="ctr">
            <a:normAutofit/>
          </a:bodyPr>
          <a:lstStyle/>
          <a:p>
            <a:pPr indent="0" marL="0">
              <a:buNone/>
            </a:pPr>
            <a:r>
              <a:rPr lang="en-US" sz="1030" b="1" spc="120" kern="0" dirty="0">
                <a:solidFill>
                  <a:srgbClr val="707070"/>
                </a:solidFill>
                <a:latin typeface="Arial" pitchFamily="34" charset="0"/>
                <a:ea typeface="Arial" pitchFamily="34" charset="-122"/>
                <a:cs typeface="Arial" pitchFamily="34" charset="-120"/>
              </a:rPr>
              <a:t>LEARNING TOPICS · AI</a:t>
            </a:r>
            <a:endParaRPr lang="en-US" sz="1030" dirty="0"/>
          </a:p>
        </p:txBody>
      </p:sp>
      <p:sp>
        <p:nvSpPr>
          <p:cNvPr id="3" name="Text 1"/>
          <p:cNvSpPr/>
          <p:nvPr/>
        </p:nvSpPr>
        <p:spPr>
          <a:xfrm>
            <a:off x="777240" y="786384"/>
            <a:ext cx="10652760" cy="612648"/>
          </a:xfrm>
          <a:prstGeom prst="rect">
            <a:avLst/>
          </a:prstGeom>
          <a:noFill/>
          <a:ln/>
        </p:spPr>
        <p:txBody>
          <a:bodyPr wrap="square" lIns="0" tIns="0" rIns="0" bIns="0" rtlCol="0" anchor="ctr">
            <a:normAutofit/>
          </a:bodyPr>
          <a:lstStyle/>
          <a:p>
            <a:pPr indent="0" marL="0">
              <a:buNone/>
            </a:pPr>
            <a:r>
              <a:rPr lang="en-US" sz="3100" b="1" dirty="0">
                <a:solidFill>
                  <a:srgbClr val="171717"/>
                </a:solidFill>
                <a:latin typeface="Malgun Gothic" pitchFamily="34" charset="0"/>
                <a:ea typeface="Malgun Gothic" pitchFamily="34" charset="-122"/>
                <a:cs typeface="Malgun Gothic" pitchFamily="34" charset="-120"/>
              </a:rPr>
              <a:t>AI 설계 학습 — 공통 용어 · 맥락 · 대화 전략</a:t>
            </a:r>
            <a:endParaRPr lang="en-US" sz="3100" dirty="0"/>
          </a:p>
        </p:txBody>
      </p:sp>
      <p:sp>
        <p:nvSpPr>
          <p:cNvPr id="4" name="Shape 2"/>
          <p:cNvSpPr/>
          <p:nvPr/>
        </p:nvSpPr>
        <p:spPr>
          <a:xfrm>
            <a:off x="777240" y="1508760"/>
            <a:ext cx="10634472" cy="0"/>
          </a:xfrm>
          <a:prstGeom prst="line">
            <a:avLst/>
          </a:prstGeom>
          <a:noFill/>
          <a:ln w="10160">
            <a:solidFill>
              <a:srgbClr val="EDEDED"/>
            </a:solidFill>
            <a:prstDash val="solid"/>
          </a:ln>
        </p:spPr>
      </p:sp>
      <p:sp>
        <p:nvSpPr>
          <p:cNvPr id="5" name="Text 3"/>
          <p:cNvSpPr/>
          <p:nvPr/>
        </p:nvSpPr>
        <p:spPr>
          <a:xfrm>
            <a:off x="10652760" y="6446520"/>
            <a:ext cx="758952" cy="201168"/>
          </a:xfrm>
          <a:prstGeom prst="rect">
            <a:avLst/>
          </a:prstGeom>
          <a:noFill/>
          <a:ln/>
        </p:spPr>
        <p:txBody>
          <a:bodyPr wrap="square" lIns="0" tIns="0" rIns="0" bIns="0" rtlCol="0" anchor="ctr">
            <a:normAutofit/>
          </a:bodyPr>
          <a:lstStyle/>
          <a:p>
            <a:pPr algn="r" indent="0" marL="0">
              <a:buNone/>
            </a:pPr>
            <a:r>
              <a:rPr lang="en-US" sz="1040" dirty="0">
                <a:solidFill>
                  <a:srgbClr val="707070"/>
                </a:solidFill>
                <a:latin typeface="Arial" pitchFamily="34" charset="0"/>
                <a:ea typeface="Arial" pitchFamily="34" charset="-122"/>
                <a:cs typeface="Arial" pitchFamily="34" charset="-120"/>
              </a:rPr>
              <a:t>06 / 18</a:t>
            </a:r>
            <a:endParaRPr lang="en-US" sz="1040" dirty="0"/>
          </a:p>
        </p:txBody>
      </p:sp>
      <p:sp>
        <p:nvSpPr>
          <p:cNvPr id="6" name="Shape 4"/>
          <p:cNvSpPr/>
          <p:nvPr/>
        </p:nvSpPr>
        <p:spPr>
          <a:xfrm>
            <a:off x="777240" y="1993392"/>
            <a:ext cx="10634472" cy="1042416"/>
          </a:xfrm>
          <a:prstGeom prst="roundRect">
            <a:avLst>
              <a:gd name="adj" fmla="val 10526"/>
            </a:avLst>
          </a:prstGeom>
          <a:solidFill>
            <a:srgbClr val="FFFFFF"/>
          </a:solidFill>
          <a:ln w="10160">
            <a:solidFill>
              <a:srgbClr val="DFDFDF"/>
            </a:solidFill>
            <a:prstDash val="solid"/>
          </a:ln>
        </p:spPr>
      </p:sp>
      <p:sp>
        <p:nvSpPr>
          <p:cNvPr id="7" name="Shape 5"/>
          <p:cNvSpPr/>
          <p:nvPr/>
        </p:nvSpPr>
        <p:spPr>
          <a:xfrm>
            <a:off x="1124712" y="2450592"/>
            <a:ext cx="118872" cy="118872"/>
          </a:xfrm>
          <a:prstGeom prst="ellipse">
            <a:avLst/>
          </a:prstGeom>
          <a:solidFill>
            <a:srgbClr val="3ECF8E"/>
          </a:solidFill>
          <a:ln w="12700">
            <a:solidFill>
              <a:srgbClr val="3ECF8E">
                <a:alpha val="0"/>
              </a:srgbClr>
            </a:solidFill>
            <a:prstDash val="solid"/>
          </a:ln>
        </p:spPr>
      </p:sp>
      <p:sp>
        <p:nvSpPr>
          <p:cNvPr id="8" name="Text 6"/>
          <p:cNvSpPr/>
          <p:nvPr/>
        </p:nvSpPr>
        <p:spPr>
          <a:xfrm>
            <a:off x="1481328" y="2267712"/>
            <a:ext cx="694944" cy="411480"/>
          </a:xfrm>
          <a:prstGeom prst="rect">
            <a:avLst/>
          </a:prstGeom>
          <a:noFill/>
          <a:ln/>
        </p:spPr>
        <p:txBody>
          <a:bodyPr wrap="square" lIns="0" tIns="0" rIns="0" bIns="0" rtlCol="0" anchor="ctr">
            <a:normAutofit/>
          </a:bodyPr>
          <a:lstStyle/>
          <a:p>
            <a:pPr indent="0" marL="0">
              <a:buNone/>
            </a:pPr>
            <a:r>
              <a:rPr lang="en-US" sz="1600" b="1" dirty="0">
                <a:solidFill>
                  <a:srgbClr val="707070"/>
                </a:solidFill>
                <a:latin typeface="Arial" pitchFamily="34" charset="0"/>
                <a:ea typeface="Arial" pitchFamily="34" charset="-122"/>
                <a:cs typeface="Arial" pitchFamily="34" charset="-120"/>
              </a:rPr>
              <a:t>01</a:t>
            </a:r>
            <a:endParaRPr lang="en-US" sz="1600" dirty="0"/>
          </a:p>
        </p:txBody>
      </p:sp>
      <p:sp>
        <p:nvSpPr>
          <p:cNvPr id="9" name="Text 7"/>
          <p:cNvSpPr/>
          <p:nvPr/>
        </p:nvSpPr>
        <p:spPr>
          <a:xfrm>
            <a:off x="2496312" y="2267712"/>
            <a:ext cx="5175504" cy="420624"/>
          </a:xfrm>
          <a:prstGeom prst="rect">
            <a:avLst/>
          </a:prstGeom>
          <a:noFill/>
          <a:ln/>
        </p:spPr>
        <p:txBody>
          <a:bodyPr wrap="square" lIns="0" tIns="0" rIns="0" bIns="0" rtlCol="0" anchor="ctr">
            <a:normAutofit/>
          </a:bodyPr>
          <a:lstStyle/>
          <a:p>
            <a:pPr indent="0" marL="0">
              <a:buNone/>
            </a:pPr>
            <a:r>
              <a:rPr lang="en-US" sz="2120" b="1" dirty="0">
                <a:solidFill>
                  <a:srgbClr val="171717"/>
                </a:solidFill>
                <a:latin typeface="Malgun Gothic" pitchFamily="34" charset="0"/>
                <a:ea typeface="Malgun Gothic" pitchFamily="34" charset="-122"/>
                <a:cs typeface="Malgun Gothic" pitchFamily="34" charset="-120"/>
              </a:rPr>
              <a:t>공통 용어 정립</a:t>
            </a:r>
            <a:endParaRPr lang="en-US" sz="2120" dirty="0"/>
          </a:p>
        </p:txBody>
      </p:sp>
      <p:sp>
        <p:nvSpPr>
          <p:cNvPr id="10" name="Text 8"/>
          <p:cNvSpPr/>
          <p:nvPr/>
        </p:nvSpPr>
        <p:spPr>
          <a:xfrm>
            <a:off x="8613648" y="2295144"/>
            <a:ext cx="2359152" cy="374904"/>
          </a:xfrm>
          <a:prstGeom prst="rect">
            <a:avLst/>
          </a:prstGeom>
          <a:noFill/>
          <a:ln/>
        </p:spPr>
        <p:txBody>
          <a:bodyPr wrap="square" lIns="0" tIns="0" rIns="0" bIns="0" rtlCol="0" anchor="ctr">
            <a:normAutofit/>
          </a:bodyPr>
          <a:lstStyle/>
          <a:p>
            <a:pPr algn="r" indent="0" marL="0">
              <a:buNone/>
            </a:pPr>
            <a:r>
              <a:rPr lang="en-US" sz="1300" dirty="0">
                <a:solidFill>
                  <a:srgbClr val="707070"/>
                </a:solidFill>
                <a:latin typeface="Malgun Gothic" pitchFamily="34" charset="0"/>
                <a:ea typeface="Malgun Gothic" pitchFamily="34" charset="-122"/>
                <a:cs typeface="Malgun Gothic" pitchFamily="34" charset="-120"/>
              </a:rPr>
              <a:t>Ubiquitous Language</a:t>
            </a:r>
            <a:endParaRPr lang="en-US" sz="1520" dirty="0"/>
          </a:p>
        </p:txBody>
      </p:sp>
      <p:sp>
        <p:nvSpPr>
          <p:cNvPr id="11" name="Shape 9"/>
          <p:cNvSpPr/>
          <p:nvPr/>
        </p:nvSpPr>
        <p:spPr>
          <a:xfrm>
            <a:off x="777240" y="3291840"/>
            <a:ext cx="10634472" cy="1042416"/>
          </a:xfrm>
          <a:prstGeom prst="roundRect">
            <a:avLst>
              <a:gd name="adj" fmla="val 10526"/>
            </a:avLst>
          </a:prstGeom>
          <a:solidFill>
            <a:srgbClr val="1C1C1C"/>
          </a:solidFill>
          <a:ln w="10160">
            <a:solidFill>
              <a:srgbClr val="1C1C1C"/>
            </a:solidFill>
            <a:prstDash val="solid"/>
          </a:ln>
        </p:spPr>
      </p:sp>
      <p:sp>
        <p:nvSpPr>
          <p:cNvPr id="12" name="Shape 10"/>
          <p:cNvSpPr/>
          <p:nvPr/>
        </p:nvSpPr>
        <p:spPr>
          <a:xfrm>
            <a:off x="1124712" y="3749040"/>
            <a:ext cx="118872" cy="118872"/>
          </a:xfrm>
          <a:prstGeom prst="ellipse">
            <a:avLst/>
          </a:prstGeom>
          <a:solidFill>
            <a:srgbClr val="3ECF8E"/>
          </a:solidFill>
          <a:ln w="12700">
            <a:solidFill>
              <a:srgbClr val="3ECF8E">
                <a:alpha val="0"/>
              </a:srgbClr>
            </a:solidFill>
            <a:prstDash val="solid"/>
          </a:ln>
        </p:spPr>
      </p:sp>
      <p:sp>
        <p:nvSpPr>
          <p:cNvPr id="13" name="Text 11"/>
          <p:cNvSpPr/>
          <p:nvPr/>
        </p:nvSpPr>
        <p:spPr>
          <a:xfrm>
            <a:off x="1481328" y="3566160"/>
            <a:ext cx="694944" cy="411480"/>
          </a:xfrm>
          <a:prstGeom prst="rect">
            <a:avLst/>
          </a:prstGeom>
          <a:noFill/>
          <a:ln/>
        </p:spPr>
        <p:txBody>
          <a:bodyPr wrap="square" lIns="0" tIns="0" rIns="0" bIns="0" rtlCol="0" anchor="ctr">
            <a:normAutofit/>
          </a:bodyPr>
          <a:lstStyle/>
          <a:p>
            <a:pPr indent="0" marL="0">
              <a:buNone/>
            </a:pPr>
            <a:r>
              <a:rPr lang="en-US" sz="1600" b="1" dirty="0">
                <a:solidFill>
                  <a:srgbClr val="DFDFDF"/>
                </a:solidFill>
                <a:latin typeface="Arial" pitchFamily="34" charset="0"/>
                <a:ea typeface="Arial" pitchFamily="34" charset="-122"/>
                <a:cs typeface="Arial" pitchFamily="34" charset="-120"/>
              </a:rPr>
              <a:t>02</a:t>
            </a:r>
            <a:endParaRPr lang="en-US" sz="1600" dirty="0"/>
          </a:p>
        </p:txBody>
      </p:sp>
      <p:sp>
        <p:nvSpPr>
          <p:cNvPr id="14" name="Text 12"/>
          <p:cNvSpPr/>
          <p:nvPr/>
        </p:nvSpPr>
        <p:spPr>
          <a:xfrm>
            <a:off x="2496312" y="3566160"/>
            <a:ext cx="5175504" cy="420624"/>
          </a:xfrm>
          <a:prstGeom prst="rect">
            <a:avLst/>
          </a:prstGeom>
          <a:noFill/>
          <a:ln/>
        </p:spPr>
        <p:txBody>
          <a:bodyPr wrap="square" lIns="0" tIns="0" rIns="0" bIns="0" rtlCol="0" anchor="ctr">
            <a:normAutofit/>
          </a:bodyPr>
          <a:lstStyle/>
          <a:p>
            <a:pPr indent="0" marL="0">
              <a:buNone/>
            </a:pPr>
            <a:r>
              <a:rPr lang="en-US" sz="2120" b="1" dirty="0">
                <a:solidFill>
                  <a:srgbClr val="FFFFFF"/>
                </a:solidFill>
                <a:latin typeface="Malgun Gothic" pitchFamily="34" charset="0"/>
                <a:ea typeface="Malgun Gothic" pitchFamily="34" charset="-122"/>
                <a:cs typeface="Malgun Gothic" pitchFamily="34" charset="-120"/>
              </a:rPr>
              <a:t>맥락 · 상태 구조화</a:t>
            </a:r>
            <a:endParaRPr lang="en-US" sz="2120" dirty="0"/>
          </a:p>
        </p:txBody>
      </p:sp>
      <p:sp>
        <p:nvSpPr>
          <p:cNvPr id="15" name="Text 13"/>
          <p:cNvSpPr/>
          <p:nvPr/>
        </p:nvSpPr>
        <p:spPr>
          <a:xfrm>
            <a:off x="8613648" y="3593592"/>
            <a:ext cx="2359152" cy="374904"/>
          </a:xfrm>
          <a:prstGeom prst="rect">
            <a:avLst/>
          </a:prstGeom>
          <a:noFill/>
          <a:ln/>
        </p:spPr>
        <p:txBody>
          <a:bodyPr wrap="square" lIns="0" tIns="0" rIns="0" bIns="0" rtlCol="0" anchor="ctr">
            <a:normAutofit/>
          </a:bodyPr>
          <a:lstStyle/>
          <a:p>
            <a:pPr algn="r" indent="0" marL="0">
              <a:buNone/>
            </a:pPr>
            <a:r>
              <a:rPr lang="en-US" sz="1520" dirty="0">
                <a:solidFill>
                  <a:srgbClr val="DFDFDF"/>
                </a:solidFill>
                <a:latin typeface="Malgun Gothic" pitchFamily="34" charset="0"/>
                <a:ea typeface="Malgun Gothic" pitchFamily="34" charset="-122"/>
                <a:cs typeface="Malgun Gothic" pitchFamily="34" charset="-120"/>
              </a:rPr>
              <a:t>Context Packet</a:t>
            </a:r>
            <a:endParaRPr lang="en-US" sz="1520" dirty="0"/>
          </a:p>
        </p:txBody>
      </p:sp>
      <p:sp>
        <p:nvSpPr>
          <p:cNvPr id="16" name="Shape 14"/>
          <p:cNvSpPr/>
          <p:nvPr/>
        </p:nvSpPr>
        <p:spPr>
          <a:xfrm>
            <a:off x="777240" y="4590288"/>
            <a:ext cx="10634472" cy="1042416"/>
          </a:xfrm>
          <a:prstGeom prst="roundRect">
            <a:avLst>
              <a:gd name="adj" fmla="val 10526"/>
            </a:avLst>
          </a:prstGeom>
          <a:solidFill>
            <a:srgbClr val="FFFFFF"/>
          </a:solidFill>
          <a:ln w="10160">
            <a:solidFill>
              <a:srgbClr val="DFDFDF"/>
            </a:solidFill>
            <a:prstDash val="solid"/>
          </a:ln>
        </p:spPr>
      </p:sp>
      <p:sp>
        <p:nvSpPr>
          <p:cNvPr id="17" name="Shape 15"/>
          <p:cNvSpPr/>
          <p:nvPr/>
        </p:nvSpPr>
        <p:spPr>
          <a:xfrm>
            <a:off x="1124712" y="5047488"/>
            <a:ext cx="118872" cy="118872"/>
          </a:xfrm>
          <a:prstGeom prst="ellipse">
            <a:avLst/>
          </a:prstGeom>
          <a:solidFill>
            <a:srgbClr val="3ECF8E"/>
          </a:solidFill>
          <a:ln w="12700">
            <a:solidFill>
              <a:srgbClr val="3ECF8E">
                <a:alpha val="0"/>
              </a:srgbClr>
            </a:solidFill>
            <a:prstDash val="solid"/>
          </a:ln>
        </p:spPr>
      </p:sp>
      <p:sp>
        <p:nvSpPr>
          <p:cNvPr id="18" name="Text 16"/>
          <p:cNvSpPr/>
          <p:nvPr/>
        </p:nvSpPr>
        <p:spPr>
          <a:xfrm>
            <a:off x="1481328" y="4864608"/>
            <a:ext cx="694944" cy="411480"/>
          </a:xfrm>
          <a:prstGeom prst="rect">
            <a:avLst/>
          </a:prstGeom>
          <a:noFill/>
          <a:ln/>
        </p:spPr>
        <p:txBody>
          <a:bodyPr wrap="square" lIns="0" tIns="0" rIns="0" bIns="0" rtlCol="0" anchor="ctr">
            <a:normAutofit/>
          </a:bodyPr>
          <a:lstStyle/>
          <a:p>
            <a:pPr indent="0" marL="0">
              <a:buNone/>
            </a:pPr>
            <a:r>
              <a:rPr lang="en-US" sz="1600" b="1" dirty="0">
                <a:solidFill>
                  <a:srgbClr val="707070"/>
                </a:solidFill>
                <a:latin typeface="Arial" pitchFamily="34" charset="0"/>
                <a:ea typeface="Arial" pitchFamily="34" charset="-122"/>
                <a:cs typeface="Arial" pitchFamily="34" charset="-120"/>
              </a:rPr>
              <a:t>03</a:t>
            </a:r>
            <a:endParaRPr lang="en-US" sz="1600" dirty="0"/>
          </a:p>
        </p:txBody>
      </p:sp>
      <p:sp>
        <p:nvSpPr>
          <p:cNvPr id="19" name="Text 17"/>
          <p:cNvSpPr/>
          <p:nvPr/>
        </p:nvSpPr>
        <p:spPr>
          <a:xfrm>
            <a:off x="2496312" y="4864608"/>
            <a:ext cx="5175504" cy="420624"/>
          </a:xfrm>
          <a:prstGeom prst="rect">
            <a:avLst/>
          </a:prstGeom>
          <a:noFill/>
          <a:ln/>
        </p:spPr>
        <p:txBody>
          <a:bodyPr wrap="square" lIns="0" tIns="0" rIns="0" bIns="0" rtlCol="0" anchor="ctr">
            <a:normAutofit/>
          </a:bodyPr>
          <a:lstStyle/>
          <a:p>
            <a:pPr indent="0" marL="0">
              <a:buNone/>
            </a:pPr>
            <a:r>
              <a:rPr lang="en-US" sz="2120" b="1" dirty="0">
                <a:solidFill>
                  <a:srgbClr val="171717"/>
                </a:solidFill>
                <a:latin typeface="Malgun Gothic" pitchFamily="34" charset="0"/>
                <a:ea typeface="Malgun Gothic" pitchFamily="34" charset="-122"/>
                <a:cs typeface="Malgun Gothic" pitchFamily="34" charset="-120"/>
              </a:rPr>
              <a:t>응답 전략 분기</a:t>
            </a:r>
            <a:endParaRPr lang="en-US" sz="2120" dirty="0"/>
          </a:p>
        </p:txBody>
      </p:sp>
      <p:sp>
        <p:nvSpPr>
          <p:cNvPr id="20" name="Text 18"/>
          <p:cNvSpPr/>
          <p:nvPr/>
        </p:nvSpPr>
        <p:spPr>
          <a:xfrm>
            <a:off x="8613648" y="4892040"/>
            <a:ext cx="2359152" cy="374904"/>
          </a:xfrm>
          <a:prstGeom prst="rect">
            <a:avLst/>
          </a:prstGeom>
          <a:noFill/>
          <a:ln/>
        </p:spPr>
        <p:txBody>
          <a:bodyPr wrap="square" lIns="0" tIns="0" rIns="0" bIns="0" rtlCol="0" anchor="ctr">
            <a:normAutofit/>
          </a:bodyPr>
          <a:lstStyle/>
          <a:p>
            <a:pPr algn="r" indent="0" marL="0">
              <a:buNone/>
            </a:pPr>
            <a:r>
              <a:rPr lang="en-US" sz="1520" dirty="0">
                <a:solidFill>
                  <a:srgbClr val="707070"/>
                </a:solidFill>
                <a:latin typeface="Malgun Gothic" pitchFamily="34" charset="0"/>
                <a:ea typeface="Malgun Gothic" pitchFamily="34" charset="-122"/>
                <a:cs typeface="Malgun Gothic" pitchFamily="34" charset="-120"/>
              </a:rPr>
              <a:t>Response Policy</a:t>
            </a:r>
            <a:endParaRPr lang="en-US" sz="1520" dirty="0"/>
          </a:p>
        </p:txBody>
      </p:sp>
      <p:sp>
        <p:nvSpPr>
          <p:cNvPr id="21" name="Topic explanation 21"/>
          <p:cNvSpPr/>
          <p:nvPr/>
        </p:nvSpPr>
        <p:spPr>
          <a:xfrm>
            <a:off x="2496312" y="2734056"/>
            <a:ext cx="5257800" cy="210312"/>
          </a:xfrm>
          <a:prstGeom prst="rect">
            <a:avLst/>
          </a:prstGeom>
          <a:noFill/>
          <a:ln/>
        </p:spPr>
        <p:txBody>
          <a:bodyPr wrap="square" lIns="0" tIns="0" rIns="0" bIns="0" rtlCol="0" anchor="ctr">
            <a:normAutofit/>
          </a:bodyPr>
          <a:lstStyle/>
          <a:p>
            <a:pPr indent="0" marL="0">
              <a:buNone/>
            </a:pPr>
            <a:r>
              <a:rPr lang="en-US" sz="1120" b="0" dirty="0">
                <a:solidFill>
                  <a:srgbClr val="666666"/>
                </a:solidFill>
                <a:latin typeface="Malgun Gothic" pitchFamily="34" charset="0"/>
                <a:ea typeface="Malgun Gothic" pitchFamily="34" charset="-122"/>
                <a:cs typeface="Malgun Gothic" pitchFamily="34" charset="-120"/>
              </a:rPr>
              <a:t>골프 용어 정의 · 체감(FEEL)과 관찰(OBSERVATION) 구분</a:t>
            </a:r>
            <a:endParaRPr lang="en-US" sz="1120" dirty="0" b="0"/>
          </a:p>
        </p:txBody>
      </p:sp>
      <p:sp>
        <p:nvSpPr>
          <p:cNvPr id="22" name="Topic explanation 22"/>
          <p:cNvSpPr/>
          <p:nvPr/>
        </p:nvSpPr>
        <p:spPr>
          <a:xfrm>
            <a:off x="2496312" y="4032504"/>
            <a:ext cx="5257800" cy="210312"/>
          </a:xfrm>
          <a:prstGeom prst="rect">
            <a:avLst/>
          </a:prstGeom>
          <a:noFill/>
          <a:ln/>
        </p:spPr>
        <p:txBody>
          <a:bodyPr wrap="square" lIns="0" tIns="0" rIns="0" bIns="0" rtlCol="0" anchor="ctr">
            <a:normAutofit/>
          </a:bodyPr>
          <a:lstStyle/>
          <a:p>
            <a:pPr indent="0" marL="0">
              <a:buNone/>
            </a:pPr>
            <a:r>
              <a:rPr lang="en-US" sz="1120" b="0" dirty="0">
                <a:solidFill>
                  <a:srgbClr val="D7D7D7"/>
                </a:solidFill>
                <a:latin typeface="Malgun Gothic" pitchFamily="34" charset="0"/>
                <a:ea typeface="Malgun Gothic" pitchFamily="34" charset="-122"/>
                <a:cs typeface="Malgun Gothic" pitchFamily="34" charset="-120"/>
              </a:rPr>
              <a:t>최근 대화 · 관련 사실 · 활성 주제의 선택 전달</a:t>
            </a:r>
            <a:endParaRPr lang="en-US" sz="1120" dirty="0" b="0"/>
          </a:p>
        </p:txBody>
      </p:sp>
      <p:sp>
        <p:nvSpPr>
          <p:cNvPr id="23" name="Topic explanation 23"/>
          <p:cNvSpPr/>
          <p:nvPr/>
        </p:nvSpPr>
        <p:spPr>
          <a:xfrm>
            <a:off x="2496312" y="5330952"/>
            <a:ext cx="5257800" cy="210312"/>
          </a:xfrm>
          <a:prstGeom prst="rect">
            <a:avLst/>
          </a:prstGeom>
          <a:noFill/>
          <a:ln/>
        </p:spPr>
        <p:txBody>
          <a:bodyPr wrap="square" lIns="0" tIns="0" rIns="0" bIns="0" rtlCol="0" anchor="ctr">
            <a:normAutofit/>
          </a:bodyPr>
          <a:lstStyle/>
          <a:p>
            <a:pPr indent="0" marL="0">
              <a:buNone/>
            </a:pPr>
            <a:r>
              <a:rPr lang="en-US" sz="1120" b="0" dirty="0">
                <a:solidFill>
                  <a:srgbClr val="666666"/>
                </a:solidFill>
                <a:latin typeface="Malgun Gothic" pitchFamily="34" charset="0"/>
                <a:ea typeface="Malgun Gothic" pitchFamily="34" charset="-122"/>
                <a:cs typeface="Malgun Gothic" pitchFamily="34" charset="-120"/>
              </a:rPr>
              <a:t>직접 답변 · 질문 하나 · 길이 조절 · 이전 주제 연결</a:t>
            </a:r>
            <a:endParaRPr lang="en-US" sz="1120" dirty="0" b="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384048"/>
            <a:ext cx="9875520" cy="265176"/>
          </a:xfrm>
          <a:prstGeom prst="rect">
            <a:avLst/>
          </a:prstGeom>
          <a:noFill/>
          <a:ln/>
        </p:spPr>
        <p:txBody>
          <a:bodyPr wrap="square" lIns="0" tIns="0" rIns="0" bIns="0" rtlCol="0" anchor="ctr">
            <a:normAutofit/>
          </a:bodyPr>
          <a:lstStyle/>
          <a:p>
            <a:pPr indent="0" marL="0">
              <a:buNone/>
            </a:pPr>
            <a:r>
              <a:rPr lang="en-US" sz="1030" b="1" spc="120" kern="0" dirty="0">
                <a:solidFill>
                  <a:srgbClr val="707070"/>
                </a:solidFill>
                <a:latin typeface="Arial" pitchFamily="34" charset="0"/>
                <a:ea typeface="Arial" pitchFamily="34" charset="-122"/>
                <a:cs typeface="Arial" pitchFamily="34" charset="-120"/>
              </a:rPr>
              <a:t>PROJECT REASON · DOMAIN</a:t>
            </a:r>
            <a:endParaRPr lang="en-US" sz="1030" dirty="0"/>
          </a:p>
        </p:txBody>
      </p:sp>
      <p:sp>
        <p:nvSpPr>
          <p:cNvPr id="3" name="Text 1"/>
          <p:cNvSpPr/>
          <p:nvPr/>
        </p:nvSpPr>
        <p:spPr>
          <a:xfrm>
            <a:off x="777240" y="786384"/>
            <a:ext cx="10652760" cy="612648"/>
          </a:xfrm>
          <a:prstGeom prst="rect">
            <a:avLst/>
          </a:prstGeom>
          <a:noFill/>
          <a:ln/>
        </p:spPr>
        <p:txBody>
          <a:bodyPr wrap="square" lIns="0" tIns="0" rIns="0" bIns="0" rtlCol="0" anchor="ctr">
            <a:normAutofit/>
          </a:bodyPr>
          <a:lstStyle/>
          <a:p>
            <a:pPr indent="0" marL="0">
              <a:buNone/>
            </a:pPr>
            <a:r>
              <a:rPr lang="en-US" sz="3100" b="1" dirty="0">
                <a:solidFill>
                  <a:srgbClr val="171717"/>
                </a:solidFill>
                <a:latin typeface="Malgun Gothic" pitchFamily="34" charset="0"/>
                <a:ea typeface="Malgun Gothic" pitchFamily="34" charset="-122"/>
                <a:cs typeface="Malgun Gothic" pitchFamily="34" charset="-120"/>
              </a:rPr>
              <a:t>골프 도메인 선정 — 개인 선호 · 확장 가설</a:t>
            </a:r>
            <a:endParaRPr lang="en-US" sz="3100" dirty="0"/>
          </a:p>
        </p:txBody>
      </p:sp>
      <p:sp>
        <p:nvSpPr>
          <p:cNvPr id="4" name="Shape 2"/>
          <p:cNvSpPr/>
          <p:nvPr/>
        </p:nvSpPr>
        <p:spPr>
          <a:xfrm>
            <a:off x="777240" y="1508760"/>
            <a:ext cx="10634472" cy="0"/>
          </a:xfrm>
          <a:prstGeom prst="line">
            <a:avLst/>
          </a:prstGeom>
          <a:noFill/>
          <a:ln w="10160">
            <a:solidFill>
              <a:srgbClr val="EDEDED"/>
            </a:solidFill>
            <a:prstDash val="solid"/>
          </a:ln>
        </p:spPr>
      </p:sp>
      <p:sp>
        <p:nvSpPr>
          <p:cNvPr id="5" name="Text 3"/>
          <p:cNvSpPr/>
          <p:nvPr/>
        </p:nvSpPr>
        <p:spPr>
          <a:xfrm>
            <a:off x="10652760" y="6446520"/>
            <a:ext cx="758952" cy="201168"/>
          </a:xfrm>
          <a:prstGeom prst="rect">
            <a:avLst/>
          </a:prstGeom>
          <a:noFill/>
          <a:ln/>
        </p:spPr>
        <p:txBody>
          <a:bodyPr wrap="square" lIns="0" tIns="0" rIns="0" bIns="0" rtlCol="0" anchor="ctr">
            <a:normAutofit/>
          </a:bodyPr>
          <a:lstStyle/>
          <a:p>
            <a:pPr algn="r" indent="0" marL="0">
              <a:buNone/>
            </a:pPr>
            <a:r>
              <a:rPr lang="en-US" sz="1040" dirty="0">
                <a:solidFill>
                  <a:srgbClr val="707070"/>
                </a:solidFill>
                <a:latin typeface="Arial" pitchFamily="34" charset="0"/>
                <a:ea typeface="Arial" pitchFamily="34" charset="-122"/>
                <a:cs typeface="Arial" pitchFamily="34" charset="-120"/>
              </a:rPr>
              <a:t>07 / 18</a:t>
            </a:r>
            <a:endParaRPr lang="en-US" sz="1040" dirty="0"/>
          </a:p>
        </p:txBody>
      </p:sp>
      <p:sp>
        <p:nvSpPr>
          <p:cNvPr id="6" name="Shape 4"/>
          <p:cNvSpPr/>
          <p:nvPr/>
        </p:nvSpPr>
        <p:spPr>
          <a:xfrm>
            <a:off x="777240" y="2075688"/>
            <a:ext cx="6071616" cy="3410712"/>
          </a:xfrm>
          <a:prstGeom prst="roundRect">
            <a:avLst>
              <a:gd name="adj" fmla="val 3217"/>
            </a:avLst>
          </a:prstGeom>
          <a:solidFill>
            <a:srgbClr val="FFFFFF"/>
          </a:solidFill>
          <a:ln w="10160">
            <a:solidFill>
              <a:srgbClr val="DFDFDF"/>
            </a:solidFill>
            <a:prstDash val="solid"/>
          </a:ln>
        </p:spPr>
      </p:sp>
      <p:pic>
        <p:nvPicPr>
          <p:cNvPr id="7" name="Image 0" descr="C:\Users\user\.codex\visualizations\2026\09\11\01a08f86-6b4e-7d20-944b-d65325364c8f\swing-presentation\fifteen-slide\original-slide-4-image-1.png">    </p:cNvPr>
          <p:cNvPicPr>
            <a:picLocks noChangeAspect="1"/>
          </p:cNvPicPr>
          <p:nvPr/>
        </p:nvPicPr>
        <p:blipFill>
          <a:blip r:embed="rId1"/>
          <a:stretch>
            <a:fillRect/>
          </a:stretch>
        </p:blipFill>
        <p:spPr>
          <a:xfrm>
            <a:off x="804672" y="2103120"/>
            <a:ext cx="6016752" cy="3383280"/>
          </a:xfrm>
          <a:prstGeom prst="rect">
            <a:avLst/>
          </a:prstGeom>
        </p:spPr>
      </p:pic>
      <p:sp>
        <p:nvSpPr>
          <p:cNvPr id="8" name="Shape 5"/>
          <p:cNvSpPr/>
          <p:nvPr/>
        </p:nvSpPr>
        <p:spPr>
          <a:xfrm>
            <a:off x="7150608" y="2121408"/>
            <a:ext cx="4261104" cy="859536"/>
          </a:xfrm>
          <a:prstGeom prst="roundRect">
            <a:avLst>
              <a:gd name="adj" fmla="val 12766"/>
            </a:avLst>
          </a:prstGeom>
          <a:solidFill>
            <a:srgbClr val="FFFFFF"/>
          </a:solidFill>
          <a:ln w="10160">
            <a:solidFill>
              <a:srgbClr val="DFDFDF"/>
            </a:solidFill>
            <a:prstDash val="solid"/>
          </a:ln>
        </p:spPr>
      </p:sp>
      <p:sp>
        <p:nvSpPr>
          <p:cNvPr id="9" name="Shape 6"/>
          <p:cNvSpPr/>
          <p:nvPr/>
        </p:nvSpPr>
        <p:spPr>
          <a:xfrm>
            <a:off x="7434072" y="2450592"/>
            <a:ext cx="109728" cy="109728"/>
          </a:xfrm>
          <a:prstGeom prst="ellipse">
            <a:avLst/>
          </a:prstGeom>
          <a:solidFill>
            <a:srgbClr val="3ECF8E"/>
          </a:solidFill>
          <a:ln w="12700">
            <a:solidFill>
              <a:srgbClr val="3ECF8E">
                <a:alpha val="0"/>
              </a:srgbClr>
            </a:solidFill>
            <a:prstDash val="solid"/>
          </a:ln>
        </p:spPr>
      </p:sp>
      <p:sp>
        <p:nvSpPr>
          <p:cNvPr id="10" name="Text 7"/>
          <p:cNvSpPr/>
          <p:nvPr/>
        </p:nvSpPr>
        <p:spPr>
          <a:xfrm>
            <a:off x="7754112" y="2221992"/>
            <a:ext cx="3328416" cy="320040"/>
          </a:xfrm>
          <a:prstGeom prst="rect">
            <a:avLst/>
          </a:prstGeom>
          <a:noFill/>
          <a:ln/>
        </p:spPr>
        <p:txBody>
          <a:bodyPr wrap="square" lIns="0" tIns="0" rIns="0" bIns="0" rtlCol="0" anchor="ctr">
            <a:normAutofit/>
          </a:bodyPr>
          <a:lstStyle/>
          <a:p>
            <a:pPr indent="0" marL="0">
              <a:buNone/>
            </a:pPr>
            <a:r>
              <a:rPr lang="en-US" sz="1600" b="1" dirty="0">
                <a:solidFill>
                  <a:srgbClr val="171717"/>
                </a:solidFill>
                <a:latin typeface="Malgun Gothic" pitchFamily="34" charset="0"/>
                <a:ea typeface="Malgun Gothic" pitchFamily="34" charset="-122"/>
                <a:cs typeface="Malgun Gothic" pitchFamily="34" charset="-120"/>
              </a:rPr>
              <a:t>좋아하는 분야</a:t>
            </a:r>
            <a:endParaRPr lang="en-US" sz="1600" dirty="0"/>
          </a:p>
        </p:txBody>
      </p:sp>
      <p:sp>
        <p:nvSpPr>
          <p:cNvPr id="11" name="Text 8"/>
          <p:cNvSpPr/>
          <p:nvPr/>
        </p:nvSpPr>
        <p:spPr>
          <a:xfrm>
            <a:off x="7754112" y="2596896"/>
            <a:ext cx="3328416" cy="228600"/>
          </a:xfrm>
          <a:prstGeom prst="rect">
            <a:avLst/>
          </a:prstGeom>
          <a:noFill/>
          <a:ln/>
        </p:spPr>
        <p:txBody>
          <a:bodyPr wrap="square" lIns="0" tIns="0" rIns="0" bIns="0" rtlCol="0" anchor="ctr">
            <a:normAutofit/>
          </a:bodyPr>
          <a:lstStyle/>
          <a:p>
            <a:pPr indent="0" marL="0">
              <a:buNone/>
            </a:pPr>
            <a:r>
              <a:rPr lang="en-US" sz="1280" dirty="0">
                <a:solidFill>
                  <a:srgbClr val="707070"/>
                </a:solidFill>
                <a:latin typeface="Malgun Gothic" pitchFamily="34" charset="0"/>
                <a:ea typeface="Malgun Gothic" pitchFamily="34" charset="-122"/>
                <a:cs typeface="Malgun Gothic" pitchFamily="34" charset="-120"/>
              </a:rPr>
              <a:t>골프</a:t>
            </a:r>
            <a:endParaRPr lang="en-US" sz="1280" dirty="0"/>
          </a:p>
        </p:txBody>
      </p:sp>
      <p:sp>
        <p:nvSpPr>
          <p:cNvPr id="12" name="Shape 9"/>
          <p:cNvSpPr/>
          <p:nvPr/>
        </p:nvSpPr>
        <p:spPr>
          <a:xfrm>
            <a:off x="7150608" y="3218688"/>
            <a:ext cx="4261104" cy="859536"/>
          </a:xfrm>
          <a:prstGeom prst="roundRect">
            <a:avLst>
              <a:gd name="adj" fmla="val 12766"/>
            </a:avLst>
          </a:prstGeom>
          <a:solidFill>
            <a:srgbClr val="FFFFFF"/>
          </a:solidFill>
          <a:ln w="10160">
            <a:solidFill>
              <a:srgbClr val="DFDFDF"/>
            </a:solidFill>
            <a:prstDash val="solid"/>
          </a:ln>
        </p:spPr>
      </p:sp>
      <p:sp>
        <p:nvSpPr>
          <p:cNvPr id="13" name="Shape 10"/>
          <p:cNvSpPr/>
          <p:nvPr/>
        </p:nvSpPr>
        <p:spPr>
          <a:xfrm>
            <a:off x="7434072" y="3547872"/>
            <a:ext cx="109728" cy="109728"/>
          </a:xfrm>
          <a:prstGeom prst="ellipse">
            <a:avLst/>
          </a:prstGeom>
          <a:solidFill>
            <a:srgbClr val="3ECF8E"/>
          </a:solidFill>
          <a:ln w="12700">
            <a:solidFill>
              <a:srgbClr val="3ECF8E">
                <a:alpha val="0"/>
              </a:srgbClr>
            </a:solidFill>
            <a:prstDash val="solid"/>
          </a:ln>
        </p:spPr>
      </p:sp>
      <p:sp>
        <p:nvSpPr>
          <p:cNvPr id="14" name="Text 11"/>
          <p:cNvSpPr/>
          <p:nvPr/>
        </p:nvSpPr>
        <p:spPr>
          <a:xfrm>
            <a:off x="7754112" y="3319272"/>
            <a:ext cx="3328416" cy="320040"/>
          </a:xfrm>
          <a:prstGeom prst="rect">
            <a:avLst/>
          </a:prstGeom>
          <a:noFill/>
          <a:ln/>
        </p:spPr>
        <p:txBody>
          <a:bodyPr wrap="square" lIns="0" tIns="0" rIns="0" bIns="0" rtlCol="0" anchor="ctr">
            <a:normAutofit/>
          </a:bodyPr>
          <a:lstStyle/>
          <a:p>
            <a:pPr indent="0" marL="0">
              <a:buNone/>
            </a:pPr>
            <a:r>
              <a:rPr lang="en-US" sz="1600" b="1" dirty="0">
                <a:solidFill>
                  <a:srgbClr val="171717"/>
                </a:solidFill>
                <a:latin typeface="Malgun Gothic" pitchFamily="34" charset="0"/>
                <a:ea typeface="Malgun Gothic" pitchFamily="34" charset="-122"/>
                <a:cs typeface="Malgun Gothic" pitchFamily="34" charset="-120"/>
              </a:rPr>
              <a:t>고객 접점</a:t>
            </a:r>
            <a:endParaRPr lang="en-US" sz="1600" dirty="0"/>
          </a:p>
        </p:txBody>
      </p:sp>
      <p:sp>
        <p:nvSpPr>
          <p:cNvPr id="15" name="Text 12"/>
          <p:cNvSpPr/>
          <p:nvPr/>
        </p:nvSpPr>
        <p:spPr>
          <a:xfrm>
            <a:off x="7754112" y="3694176"/>
            <a:ext cx="3328416" cy="228600"/>
          </a:xfrm>
          <a:prstGeom prst="rect">
            <a:avLst/>
          </a:prstGeom>
          <a:noFill/>
          <a:ln/>
        </p:spPr>
        <p:txBody>
          <a:bodyPr wrap="square" lIns="0" tIns="0" rIns="0" bIns="0" rtlCol="0" anchor="ctr">
            <a:normAutofit/>
          </a:bodyPr>
          <a:lstStyle/>
          <a:p>
            <a:pPr indent="0" marL="0">
              <a:buNone/>
            </a:pPr>
            <a:r>
              <a:rPr lang="en-US" sz="1280" dirty="0">
                <a:solidFill>
                  <a:srgbClr val="707070"/>
                </a:solidFill>
                <a:latin typeface="Malgun Gothic" pitchFamily="34" charset="0"/>
                <a:ea typeface="Malgun Gothic" pitchFamily="34" charset="-122"/>
                <a:cs typeface="Malgun Gothic" pitchFamily="34" charset="-120"/>
              </a:rPr>
              <a:t>구매력 있는 고객층</a:t>
            </a:r>
            <a:endParaRPr lang="en-US" sz="1280" dirty="0"/>
          </a:p>
        </p:txBody>
      </p:sp>
      <p:sp>
        <p:nvSpPr>
          <p:cNvPr id="16" name="Shape 13"/>
          <p:cNvSpPr/>
          <p:nvPr/>
        </p:nvSpPr>
        <p:spPr>
          <a:xfrm>
            <a:off x="7150608" y="4315968"/>
            <a:ext cx="4261104" cy="859536"/>
          </a:xfrm>
          <a:prstGeom prst="roundRect">
            <a:avLst>
              <a:gd name="adj" fmla="val 12766"/>
            </a:avLst>
          </a:prstGeom>
          <a:solidFill>
            <a:srgbClr val="FFFFFF"/>
          </a:solidFill>
          <a:ln w="10160">
            <a:solidFill>
              <a:srgbClr val="DFDFDF"/>
            </a:solidFill>
            <a:prstDash val="solid"/>
          </a:ln>
        </p:spPr>
      </p:sp>
      <p:sp>
        <p:nvSpPr>
          <p:cNvPr id="17" name="Shape 14"/>
          <p:cNvSpPr/>
          <p:nvPr/>
        </p:nvSpPr>
        <p:spPr>
          <a:xfrm>
            <a:off x="7434072" y="4645152"/>
            <a:ext cx="109728" cy="109728"/>
          </a:xfrm>
          <a:prstGeom prst="ellipse">
            <a:avLst/>
          </a:prstGeom>
          <a:solidFill>
            <a:srgbClr val="3ECF8E"/>
          </a:solidFill>
          <a:ln w="12700">
            <a:solidFill>
              <a:srgbClr val="3ECF8E">
                <a:alpha val="0"/>
              </a:srgbClr>
            </a:solidFill>
            <a:prstDash val="solid"/>
          </a:ln>
        </p:spPr>
      </p:sp>
      <p:sp>
        <p:nvSpPr>
          <p:cNvPr id="18" name="Text 15"/>
          <p:cNvSpPr/>
          <p:nvPr/>
        </p:nvSpPr>
        <p:spPr>
          <a:xfrm>
            <a:off x="7754112" y="4416552"/>
            <a:ext cx="3328416" cy="320040"/>
          </a:xfrm>
          <a:prstGeom prst="rect">
            <a:avLst/>
          </a:prstGeom>
          <a:noFill/>
          <a:ln/>
        </p:spPr>
        <p:txBody>
          <a:bodyPr wrap="square" lIns="0" tIns="0" rIns="0" bIns="0" rtlCol="0" anchor="ctr">
            <a:normAutofit/>
          </a:bodyPr>
          <a:lstStyle/>
          <a:p>
            <a:pPr indent="0" marL="0">
              <a:buNone/>
            </a:pPr>
            <a:r>
              <a:rPr lang="en-US" sz="1600" b="1" dirty="0">
                <a:solidFill>
                  <a:srgbClr val="171717"/>
                </a:solidFill>
                <a:latin typeface="Malgun Gothic" pitchFamily="34" charset="0"/>
                <a:ea typeface="Malgun Gothic" pitchFamily="34" charset="-122"/>
                <a:cs typeface="Malgun Gothic" pitchFamily="34" charset="-120"/>
              </a:rPr>
              <a:t>확장 가설</a:t>
            </a:r>
            <a:endParaRPr lang="en-US" sz="1600" dirty="0"/>
          </a:p>
        </p:txBody>
      </p:sp>
      <p:sp>
        <p:nvSpPr>
          <p:cNvPr id="19" name="Text 16"/>
          <p:cNvSpPr/>
          <p:nvPr/>
        </p:nvSpPr>
        <p:spPr>
          <a:xfrm>
            <a:off x="7754112" y="4791456"/>
            <a:ext cx="3328416" cy="228600"/>
          </a:xfrm>
          <a:prstGeom prst="rect">
            <a:avLst/>
          </a:prstGeom>
          <a:noFill/>
          <a:ln/>
        </p:spPr>
        <p:txBody>
          <a:bodyPr wrap="square" lIns="0" tIns="0" rIns="0" bIns="0" rtlCol="0" anchor="ctr">
            <a:normAutofit/>
          </a:bodyPr>
          <a:lstStyle/>
          <a:p>
            <a:pPr indent="0" marL="0">
              <a:buNone/>
            </a:pPr>
            <a:r>
              <a:rPr lang="en-US" sz="1280" dirty="0">
                <a:solidFill>
                  <a:srgbClr val="707070"/>
                </a:solidFill>
                <a:latin typeface="Malgun Gothic" pitchFamily="34" charset="0"/>
                <a:ea typeface="Malgun Gothic" pitchFamily="34" charset="-122"/>
                <a:cs typeface="Malgun Gothic" pitchFamily="34" charset="-120"/>
              </a:rPr>
              <a:t>차량 · 부동산</a:t>
            </a:r>
            <a:endParaRPr lang="en-US" sz="1280" dirty="0"/>
          </a:p>
        </p:txBody>
      </p:sp>
      <p:sp>
        <p:nvSpPr>
          <p:cNvPr id="20" name="Text 17"/>
          <p:cNvSpPr/>
          <p:nvPr/>
        </p:nvSpPr>
        <p:spPr>
          <a:xfrm>
            <a:off x="7150608" y="5687568"/>
            <a:ext cx="4261104" cy="329184"/>
          </a:xfrm>
          <a:prstGeom prst="rect">
            <a:avLst/>
          </a:prstGeom>
          <a:noFill/>
          <a:ln/>
        </p:spPr>
        <p:txBody>
          <a:bodyPr wrap="square" lIns="0" tIns="0" rIns="0" bIns="0" rtlCol="0" anchor="ctr">
            <a:normAutofit/>
          </a:bodyPr>
          <a:lstStyle/>
          <a:p>
            <a:pPr indent="0" marL="0">
              <a:buNone/>
            </a:pPr>
            <a:r>
              <a:rPr lang="en-US" sz="1350" dirty="0">
                <a:solidFill>
                  <a:srgbClr val="707070"/>
                </a:solidFill>
                <a:latin typeface="Malgun Gothic" pitchFamily="34" charset="0"/>
                <a:ea typeface="Malgun Gothic" pitchFamily="34" charset="-122"/>
                <a:cs typeface="Malgun Gothic" pitchFamily="34" charset="-120"/>
              </a:rPr>
              <a:t>개인 취향 · 사업 확장 가설</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384048"/>
            <a:ext cx="9875520" cy="265176"/>
          </a:xfrm>
          <a:prstGeom prst="rect">
            <a:avLst/>
          </a:prstGeom>
          <a:noFill/>
          <a:ln/>
        </p:spPr>
        <p:txBody>
          <a:bodyPr wrap="square" lIns="0" tIns="0" rIns="0" bIns="0" rtlCol="0" anchor="ctr">
            <a:normAutofit/>
          </a:bodyPr>
          <a:lstStyle/>
          <a:p>
            <a:pPr indent="0" marL="0">
              <a:buNone/>
            </a:pPr>
            <a:r>
              <a:rPr lang="en-US" sz="1030" b="1" spc="120" kern="0" dirty="0">
                <a:solidFill>
                  <a:srgbClr val="707070"/>
                </a:solidFill>
                <a:latin typeface="Arial" pitchFamily="34" charset="0"/>
                <a:ea typeface="Arial" pitchFamily="34" charset="-122"/>
                <a:cs typeface="Arial" pitchFamily="34" charset="-120"/>
              </a:rPr>
              <a:t>PROJECT REASON · CHATBOT</a:t>
            </a:r>
            <a:endParaRPr lang="en-US" sz="1030" dirty="0"/>
          </a:p>
        </p:txBody>
      </p:sp>
      <p:sp>
        <p:nvSpPr>
          <p:cNvPr id="3" name="Text 1"/>
          <p:cNvSpPr/>
          <p:nvPr/>
        </p:nvSpPr>
        <p:spPr>
          <a:xfrm>
            <a:off x="777240" y="786384"/>
            <a:ext cx="10652760" cy="612648"/>
          </a:xfrm>
          <a:prstGeom prst="rect">
            <a:avLst/>
          </a:prstGeom>
          <a:noFill/>
          <a:ln/>
        </p:spPr>
        <p:txBody>
          <a:bodyPr wrap="square" lIns="0" tIns="0" rIns="0" bIns="0" rtlCol="0" anchor="ctr">
            <a:normAutofit/>
          </a:bodyPr>
          <a:lstStyle/>
          <a:p>
            <a:pPr indent="0" marL="0">
              <a:buNone/>
            </a:pPr>
            <a:r>
              <a:rPr lang="en-US" sz="3100" b="1" dirty="0">
                <a:solidFill>
                  <a:srgbClr val="171717"/>
                </a:solidFill>
                <a:latin typeface="Malgun Gothic" pitchFamily="34" charset="0"/>
                <a:ea typeface="Malgun Gothic" pitchFamily="34" charset="-122"/>
                <a:cs typeface="Malgun Gothic" pitchFamily="34" charset="-120"/>
              </a:rPr>
              <a:t>메인 도메인 — 챗봇</a:t>
            </a:r>
            <a:endParaRPr lang="en-US" sz="3100" dirty="0"/>
          </a:p>
        </p:txBody>
      </p:sp>
      <p:sp>
        <p:nvSpPr>
          <p:cNvPr id="4" name="Shape 2"/>
          <p:cNvSpPr/>
          <p:nvPr/>
        </p:nvSpPr>
        <p:spPr>
          <a:xfrm>
            <a:off x="777240" y="1508760"/>
            <a:ext cx="10634472" cy="0"/>
          </a:xfrm>
          <a:prstGeom prst="line">
            <a:avLst/>
          </a:prstGeom>
          <a:noFill/>
          <a:ln w="10160">
            <a:solidFill>
              <a:srgbClr val="EDEDED"/>
            </a:solidFill>
            <a:prstDash val="solid"/>
          </a:ln>
        </p:spPr>
      </p:sp>
      <p:sp>
        <p:nvSpPr>
          <p:cNvPr id="5" name="Text 3"/>
          <p:cNvSpPr/>
          <p:nvPr/>
        </p:nvSpPr>
        <p:spPr>
          <a:xfrm>
            <a:off x="10652760" y="6446520"/>
            <a:ext cx="758952" cy="201168"/>
          </a:xfrm>
          <a:prstGeom prst="rect">
            <a:avLst/>
          </a:prstGeom>
          <a:noFill/>
          <a:ln/>
        </p:spPr>
        <p:txBody>
          <a:bodyPr wrap="square" lIns="0" tIns="0" rIns="0" bIns="0" rtlCol="0" anchor="ctr">
            <a:normAutofit/>
          </a:bodyPr>
          <a:lstStyle/>
          <a:p>
            <a:pPr algn="r" indent="0" marL="0">
              <a:buNone/>
            </a:pPr>
            <a:r>
              <a:rPr lang="en-US" sz="1040" dirty="0">
                <a:solidFill>
                  <a:srgbClr val="707070"/>
                </a:solidFill>
                <a:latin typeface="Arial" pitchFamily="34" charset="0"/>
                <a:ea typeface="Arial" pitchFamily="34" charset="-122"/>
                <a:cs typeface="Arial" pitchFamily="34" charset="-120"/>
              </a:rPr>
              <a:t>08 / 18</a:t>
            </a:r>
            <a:endParaRPr lang="en-US" sz="1040" dirty="0"/>
          </a:p>
        </p:txBody>
      </p:sp>
      <p:sp>
        <p:nvSpPr>
          <p:cNvPr id="6" name="Shape 4"/>
          <p:cNvSpPr/>
          <p:nvPr/>
        </p:nvSpPr>
        <p:spPr>
          <a:xfrm>
            <a:off x="1216152" y="2039112"/>
            <a:ext cx="9747504" cy="3822192"/>
          </a:xfrm>
          <a:prstGeom prst="roundRect">
            <a:avLst>
              <a:gd name="adj" fmla="val 2871"/>
            </a:avLst>
          </a:prstGeom>
          <a:solidFill>
            <a:srgbClr val="FFFFFF"/>
          </a:solidFill>
          <a:ln w="10160">
            <a:solidFill>
              <a:srgbClr val="DFDFDF"/>
            </a:solidFill>
            <a:prstDash val="solid"/>
          </a:ln>
        </p:spPr>
      </p:sp>
      <p:sp>
        <p:nvSpPr>
          <p:cNvPr id="7" name="Shape 5"/>
          <p:cNvSpPr/>
          <p:nvPr/>
        </p:nvSpPr>
        <p:spPr>
          <a:xfrm>
            <a:off x="1581912" y="2350008"/>
            <a:ext cx="109728" cy="109728"/>
          </a:xfrm>
          <a:prstGeom prst="ellipse">
            <a:avLst/>
          </a:prstGeom>
          <a:solidFill>
            <a:srgbClr val="3ECF8E"/>
          </a:solidFill>
          <a:ln w="12700">
            <a:solidFill>
              <a:srgbClr val="3ECF8E">
                <a:alpha val="0"/>
              </a:srgbClr>
            </a:solidFill>
            <a:prstDash val="solid"/>
          </a:ln>
        </p:spPr>
      </p:sp>
      <p:sp>
        <p:nvSpPr>
          <p:cNvPr id="8" name="Text 6"/>
          <p:cNvSpPr/>
          <p:nvPr/>
        </p:nvSpPr>
        <p:spPr>
          <a:xfrm>
            <a:off x="1847088" y="2221992"/>
            <a:ext cx="6227064" cy="338328"/>
          </a:xfrm>
          <a:prstGeom prst="rect">
            <a:avLst/>
          </a:prstGeom>
          <a:noFill/>
          <a:ln/>
        </p:spPr>
        <p:txBody>
          <a:bodyPr wrap="square" lIns="0" tIns="0" rIns="0" bIns="0" rtlCol="0" anchor="ctr">
            <a:normAutofit/>
          </a:bodyPr>
          <a:lstStyle/>
          <a:p>
            <a:pPr indent="0" marL="0">
              <a:buNone/>
            </a:pPr>
            <a:r>
              <a:rPr lang="en-US" sz="1530" b="1" dirty="0">
                <a:solidFill>
                  <a:srgbClr val="707070"/>
                </a:solidFill>
                <a:latin typeface="Malgun Gothic" pitchFamily="34" charset="0"/>
                <a:ea typeface="Malgun Gothic" pitchFamily="34" charset="-122"/>
                <a:cs typeface="Malgun Gothic" pitchFamily="34" charset="-120"/>
              </a:rPr>
              <a:t>영업 역량 · 대화형 고객 접점</a:t>
            </a:r>
            <a:endParaRPr lang="en-US" sz="1530" dirty="0"/>
          </a:p>
        </p:txBody>
      </p:sp>
      <p:sp>
        <p:nvSpPr>
          <p:cNvPr id="9" name="Shape 7"/>
          <p:cNvSpPr/>
          <p:nvPr/>
        </p:nvSpPr>
        <p:spPr>
          <a:xfrm>
            <a:off x="1572768" y="2706624"/>
            <a:ext cx="9025128" cy="0"/>
          </a:xfrm>
          <a:prstGeom prst="line">
            <a:avLst/>
          </a:prstGeom>
          <a:noFill/>
          <a:ln w="10160">
            <a:solidFill>
              <a:srgbClr val="EDEDED"/>
            </a:solidFill>
            <a:prstDash val="solid"/>
          </a:ln>
        </p:spPr>
      </p:sp>
      <p:sp>
        <p:nvSpPr>
          <p:cNvPr id="10" name="Shape 8"/>
          <p:cNvSpPr/>
          <p:nvPr/>
        </p:nvSpPr>
        <p:spPr>
          <a:xfrm>
            <a:off x="1810512" y="3154680"/>
            <a:ext cx="2523744" cy="1892808"/>
          </a:xfrm>
          <a:prstGeom prst="roundRect">
            <a:avLst>
              <a:gd name="adj" fmla="val 5797"/>
            </a:avLst>
          </a:prstGeom>
          <a:solidFill>
            <a:srgbClr val="FAFAFA"/>
          </a:solidFill>
          <a:ln w="10160">
            <a:solidFill>
              <a:srgbClr val="EDEDED"/>
            </a:solidFill>
            <a:prstDash val="solid"/>
          </a:ln>
        </p:spPr>
      </p:sp>
      <p:sp>
        <p:nvSpPr>
          <p:cNvPr id="11" name="Shape 9"/>
          <p:cNvSpPr/>
          <p:nvPr/>
        </p:nvSpPr>
        <p:spPr>
          <a:xfrm>
            <a:off x="2084832" y="3465576"/>
            <a:ext cx="118872" cy="118872"/>
          </a:xfrm>
          <a:prstGeom prst="ellipse">
            <a:avLst/>
          </a:prstGeom>
          <a:solidFill>
            <a:srgbClr val="3ECF8E"/>
          </a:solidFill>
          <a:ln w="12700">
            <a:solidFill>
              <a:srgbClr val="3ECF8E">
                <a:alpha val="0"/>
              </a:srgbClr>
            </a:solidFill>
            <a:prstDash val="solid"/>
          </a:ln>
        </p:spPr>
      </p:sp>
      <p:sp>
        <p:nvSpPr>
          <p:cNvPr id="12" name="Text 10"/>
          <p:cNvSpPr/>
          <p:nvPr/>
        </p:nvSpPr>
        <p:spPr>
          <a:xfrm>
            <a:off x="2084832" y="3986784"/>
            <a:ext cx="1956816" cy="429768"/>
          </a:xfrm>
          <a:prstGeom prst="rect">
            <a:avLst/>
          </a:prstGeom>
          <a:noFill/>
          <a:ln/>
        </p:spPr>
        <p:txBody>
          <a:bodyPr wrap="square" lIns="0" tIns="0" rIns="0" bIns="0" rtlCol="0" anchor="ctr">
            <a:normAutofit/>
          </a:bodyPr>
          <a:lstStyle/>
          <a:p>
            <a:pPr indent="0" marL="0">
              <a:buNone/>
            </a:pPr>
            <a:r>
              <a:rPr lang="en-US" sz="2000" b="1" dirty="0">
                <a:solidFill>
                  <a:srgbClr val="171717"/>
                </a:solidFill>
                <a:latin typeface="Malgun Gothic" pitchFamily="34" charset="0"/>
                <a:ea typeface="Malgun Gothic" pitchFamily="34" charset="-122"/>
                <a:cs typeface="Malgun Gothic" pitchFamily="34" charset="-120"/>
              </a:rPr>
              <a:t>영업 경험</a:t>
            </a:r>
            <a:endParaRPr lang="en-US" sz="2000" dirty="0"/>
          </a:p>
        </p:txBody>
      </p:sp>
      <p:sp>
        <p:nvSpPr>
          <p:cNvPr id="13" name="Shape 11"/>
          <p:cNvSpPr/>
          <p:nvPr/>
        </p:nvSpPr>
        <p:spPr>
          <a:xfrm>
            <a:off x="4608576" y="3154680"/>
            <a:ext cx="2523744" cy="1892808"/>
          </a:xfrm>
          <a:prstGeom prst="roundRect">
            <a:avLst>
              <a:gd name="adj" fmla="val 5797"/>
            </a:avLst>
          </a:prstGeom>
          <a:solidFill>
            <a:srgbClr val="1C1C1C"/>
          </a:solidFill>
          <a:ln w="10160">
            <a:solidFill>
              <a:srgbClr val="1C1C1C"/>
            </a:solidFill>
            <a:prstDash val="solid"/>
          </a:ln>
        </p:spPr>
      </p:sp>
      <p:sp>
        <p:nvSpPr>
          <p:cNvPr id="14" name="Shape 12"/>
          <p:cNvSpPr/>
          <p:nvPr/>
        </p:nvSpPr>
        <p:spPr>
          <a:xfrm>
            <a:off x="4882896" y="3465576"/>
            <a:ext cx="118872" cy="118872"/>
          </a:xfrm>
          <a:prstGeom prst="ellipse">
            <a:avLst/>
          </a:prstGeom>
          <a:solidFill>
            <a:srgbClr val="3ECF8E"/>
          </a:solidFill>
          <a:ln w="12700">
            <a:solidFill>
              <a:srgbClr val="3ECF8E">
                <a:alpha val="0"/>
              </a:srgbClr>
            </a:solidFill>
            <a:prstDash val="solid"/>
          </a:ln>
        </p:spPr>
      </p:sp>
      <p:sp>
        <p:nvSpPr>
          <p:cNvPr id="15" name="Text 13"/>
          <p:cNvSpPr/>
          <p:nvPr/>
        </p:nvSpPr>
        <p:spPr>
          <a:xfrm>
            <a:off x="4882896" y="3986784"/>
            <a:ext cx="1956816" cy="429768"/>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대화형 유입</a:t>
            </a:r>
            <a:endParaRPr lang="en-US" sz="2000" dirty="0"/>
          </a:p>
        </p:txBody>
      </p:sp>
      <p:sp>
        <p:nvSpPr>
          <p:cNvPr id="16" name="Shape 14"/>
          <p:cNvSpPr/>
          <p:nvPr/>
        </p:nvSpPr>
        <p:spPr>
          <a:xfrm>
            <a:off x="7406640" y="3154680"/>
            <a:ext cx="2523744" cy="1892808"/>
          </a:xfrm>
          <a:prstGeom prst="roundRect">
            <a:avLst>
              <a:gd name="adj" fmla="val 5797"/>
            </a:avLst>
          </a:prstGeom>
          <a:solidFill>
            <a:srgbClr val="FAFAFA"/>
          </a:solidFill>
          <a:ln w="10160">
            <a:solidFill>
              <a:srgbClr val="EDEDED"/>
            </a:solidFill>
            <a:prstDash val="solid"/>
          </a:ln>
        </p:spPr>
      </p:sp>
      <p:sp>
        <p:nvSpPr>
          <p:cNvPr id="17" name="Shape 15"/>
          <p:cNvSpPr/>
          <p:nvPr/>
        </p:nvSpPr>
        <p:spPr>
          <a:xfrm>
            <a:off x="7680960" y="3465576"/>
            <a:ext cx="118872" cy="118872"/>
          </a:xfrm>
          <a:prstGeom prst="ellipse">
            <a:avLst/>
          </a:prstGeom>
          <a:solidFill>
            <a:srgbClr val="3ECF8E"/>
          </a:solidFill>
          <a:ln w="12700">
            <a:solidFill>
              <a:srgbClr val="3ECF8E">
                <a:alpha val="0"/>
              </a:srgbClr>
            </a:solidFill>
            <a:prstDash val="solid"/>
          </a:ln>
        </p:spPr>
      </p:sp>
      <p:sp>
        <p:nvSpPr>
          <p:cNvPr id="18" name="Text 16"/>
          <p:cNvSpPr/>
          <p:nvPr/>
        </p:nvSpPr>
        <p:spPr>
          <a:xfrm>
            <a:off x="7680960" y="3986784"/>
            <a:ext cx="1956816" cy="429768"/>
          </a:xfrm>
          <a:prstGeom prst="rect">
            <a:avLst/>
          </a:prstGeom>
          <a:noFill/>
          <a:ln/>
        </p:spPr>
        <p:txBody>
          <a:bodyPr wrap="square" lIns="0" tIns="0" rIns="0" bIns="0" rtlCol="0" anchor="ctr">
            <a:normAutofit/>
          </a:bodyPr>
          <a:lstStyle/>
          <a:p>
            <a:pPr indent="0" marL="0">
              <a:buNone/>
            </a:pPr>
            <a:r>
              <a:rPr lang="en-US" sz="1750" b="1" dirty="0">
                <a:solidFill>
                  <a:srgbClr val="171717"/>
                </a:solidFill>
                <a:latin typeface="Malgun Gothic" pitchFamily="34" charset="0"/>
                <a:ea typeface="Malgun Gothic" pitchFamily="34" charset="-122"/>
                <a:cs typeface="Malgun Gothic" pitchFamily="34" charset="-120"/>
              </a:rPr>
              <a:t>고령층 대상 확대</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384048"/>
            <a:ext cx="9875520" cy="265176"/>
          </a:xfrm>
          <a:prstGeom prst="rect">
            <a:avLst/>
          </a:prstGeom>
          <a:noFill/>
          <a:ln/>
        </p:spPr>
        <p:txBody>
          <a:bodyPr wrap="square" lIns="0" tIns="0" rIns="0" bIns="0" rtlCol="0" anchor="ctr">
            <a:normAutofit/>
          </a:bodyPr>
          <a:lstStyle/>
          <a:p>
            <a:pPr indent="0" marL="0">
              <a:buNone/>
            </a:pPr>
            <a:r>
              <a:rPr lang="en-US" sz="1030" b="1" spc="120" kern="0" dirty="0">
                <a:solidFill>
                  <a:srgbClr val="707070"/>
                </a:solidFill>
                <a:latin typeface="Arial" pitchFamily="34" charset="0"/>
                <a:ea typeface="Arial" pitchFamily="34" charset="-122"/>
                <a:cs typeface="Arial" pitchFamily="34" charset="-120"/>
              </a:rPr>
              <a:t>APPLICATION · COURSE TO PROJECT</a:t>
            </a:r>
            <a:endParaRPr lang="en-US" sz="1030" dirty="0"/>
          </a:p>
        </p:txBody>
      </p:sp>
      <p:sp>
        <p:nvSpPr>
          <p:cNvPr id="3" name="Text 1"/>
          <p:cNvSpPr/>
          <p:nvPr/>
        </p:nvSpPr>
        <p:spPr>
          <a:xfrm>
            <a:off x="777240" y="786384"/>
            <a:ext cx="10652760" cy="612648"/>
          </a:xfrm>
          <a:prstGeom prst="rect">
            <a:avLst/>
          </a:prstGeom>
          <a:noFill/>
          <a:ln/>
        </p:spPr>
        <p:txBody>
          <a:bodyPr wrap="square" lIns="0" tIns="0" rIns="0" bIns="0" rtlCol="0" anchor="ctr">
            <a:normAutofit/>
          </a:bodyPr>
          <a:lstStyle/>
          <a:p>
            <a:pPr indent="0" marL="0">
              <a:buNone/>
            </a:pPr>
            <a:r>
              <a:rPr lang="en-US" sz="3100" b="1" dirty="0">
                <a:solidFill>
                  <a:srgbClr val="171717"/>
                </a:solidFill>
                <a:latin typeface="Malgun Gothic" pitchFamily="34" charset="0"/>
                <a:ea typeface="Malgun Gothic" pitchFamily="34" charset="-122"/>
                <a:cs typeface="Malgun Gothic" pitchFamily="34" charset="-120"/>
              </a:rPr>
              <a:t>교육 내용의 적용 — 기술별 역할</a:t>
            </a:r>
            <a:endParaRPr lang="en-US" sz="3100" dirty="0"/>
          </a:p>
        </p:txBody>
      </p:sp>
      <p:sp>
        <p:nvSpPr>
          <p:cNvPr id="4" name="Shape 2"/>
          <p:cNvSpPr/>
          <p:nvPr/>
        </p:nvSpPr>
        <p:spPr>
          <a:xfrm>
            <a:off x="777240" y="1508760"/>
            <a:ext cx="10634472" cy="0"/>
          </a:xfrm>
          <a:prstGeom prst="line">
            <a:avLst/>
          </a:prstGeom>
          <a:noFill/>
          <a:ln w="10160">
            <a:solidFill>
              <a:srgbClr val="EDEDED"/>
            </a:solidFill>
            <a:prstDash val="solid"/>
          </a:ln>
        </p:spPr>
      </p:sp>
      <p:sp>
        <p:nvSpPr>
          <p:cNvPr id="5" name="Text 3"/>
          <p:cNvSpPr/>
          <p:nvPr/>
        </p:nvSpPr>
        <p:spPr>
          <a:xfrm>
            <a:off x="10652760" y="6446520"/>
            <a:ext cx="758952" cy="201168"/>
          </a:xfrm>
          <a:prstGeom prst="rect">
            <a:avLst/>
          </a:prstGeom>
          <a:noFill/>
          <a:ln/>
        </p:spPr>
        <p:txBody>
          <a:bodyPr wrap="square" lIns="0" tIns="0" rIns="0" bIns="0" rtlCol="0" anchor="ctr">
            <a:normAutofit/>
          </a:bodyPr>
          <a:lstStyle/>
          <a:p>
            <a:pPr algn="r" indent="0" marL="0">
              <a:buNone/>
            </a:pPr>
            <a:r>
              <a:rPr lang="en-US" sz="1040" dirty="0">
                <a:solidFill>
                  <a:srgbClr val="707070"/>
                </a:solidFill>
                <a:latin typeface="Arial" pitchFamily="34" charset="0"/>
                <a:ea typeface="Arial" pitchFamily="34" charset="-122"/>
                <a:cs typeface="Arial" pitchFamily="34" charset="-120"/>
              </a:rPr>
              <a:t>09 / 18</a:t>
            </a:r>
            <a:endParaRPr lang="en-US" sz="1040" dirty="0"/>
          </a:p>
        </p:txBody>
      </p:sp>
      <p:sp>
        <p:nvSpPr>
          <p:cNvPr id="6" name="Shape 4"/>
          <p:cNvSpPr/>
          <p:nvPr/>
        </p:nvSpPr>
        <p:spPr>
          <a:xfrm>
            <a:off x="777240" y="1920240"/>
            <a:ext cx="4151376" cy="832104"/>
          </a:xfrm>
          <a:prstGeom prst="roundRect">
            <a:avLst>
              <a:gd name="adj" fmla="val 13187"/>
            </a:avLst>
          </a:prstGeom>
          <a:solidFill>
            <a:srgbClr val="FFFFFF"/>
          </a:solidFill>
          <a:ln w="10160">
            <a:solidFill>
              <a:srgbClr val="DFDFDF"/>
            </a:solidFill>
            <a:prstDash val="solid"/>
          </a:ln>
        </p:spPr>
      </p:sp>
      <p:sp>
        <p:nvSpPr>
          <p:cNvPr id="7" name="Shape 5"/>
          <p:cNvSpPr/>
          <p:nvPr/>
        </p:nvSpPr>
        <p:spPr>
          <a:xfrm>
            <a:off x="5742432" y="1920240"/>
            <a:ext cx="5669280" cy="832104"/>
          </a:xfrm>
          <a:prstGeom prst="roundRect">
            <a:avLst>
              <a:gd name="adj" fmla="val 13187"/>
            </a:avLst>
          </a:prstGeom>
          <a:solidFill>
            <a:srgbClr val="FAFAFA"/>
          </a:solidFill>
          <a:ln w="10160">
            <a:solidFill>
              <a:srgbClr val="EDEDED"/>
            </a:solidFill>
            <a:prstDash val="solid"/>
          </a:ln>
        </p:spPr>
      </p:sp>
      <p:sp>
        <p:nvSpPr>
          <p:cNvPr id="8" name="Shape 6"/>
          <p:cNvSpPr/>
          <p:nvPr/>
        </p:nvSpPr>
        <p:spPr>
          <a:xfrm>
            <a:off x="1051560" y="2276856"/>
            <a:ext cx="109728" cy="109728"/>
          </a:xfrm>
          <a:prstGeom prst="ellipse">
            <a:avLst/>
          </a:prstGeom>
          <a:solidFill>
            <a:srgbClr val="3ECF8E"/>
          </a:solidFill>
          <a:ln w="12700">
            <a:solidFill>
              <a:srgbClr val="3ECF8E">
                <a:alpha val="0"/>
              </a:srgbClr>
            </a:solidFill>
            <a:prstDash val="solid"/>
          </a:ln>
        </p:spPr>
      </p:sp>
      <p:sp>
        <p:nvSpPr>
          <p:cNvPr id="9" name="Text 7"/>
          <p:cNvSpPr/>
          <p:nvPr/>
        </p:nvSpPr>
        <p:spPr>
          <a:xfrm>
            <a:off x="1353312" y="2121408"/>
            <a:ext cx="3218688" cy="411480"/>
          </a:xfrm>
          <a:prstGeom prst="rect">
            <a:avLst/>
          </a:prstGeom>
          <a:noFill/>
          <a:ln/>
        </p:spPr>
        <p:txBody>
          <a:bodyPr wrap="square" lIns="0" tIns="0" rIns="0" bIns="0" rtlCol="0" anchor="ctr">
            <a:normAutofit/>
          </a:bodyPr>
          <a:lstStyle/>
          <a:p>
            <a:pPr indent="0" marL="0">
              <a:buNone/>
            </a:pPr>
            <a:r>
              <a:rPr lang="en-US" sz="1630" b="1" dirty="0">
                <a:solidFill>
                  <a:srgbClr val="171717"/>
                </a:solidFill>
                <a:latin typeface="Malgun Gothic" pitchFamily="34" charset="0"/>
                <a:ea typeface="Malgun Gothic" pitchFamily="34" charset="-122"/>
                <a:cs typeface="Malgun Gothic" pitchFamily="34" charset="-120"/>
              </a:rPr>
              <a:t>JS · TS</a:t>
            </a:r>
            <a:endParaRPr lang="en-US" sz="1630" dirty="0"/>
          </a:p>
        </p:txBody>
      </p:sp>
      <p:sp>
        <p:nvSpPr>
          <p:cNvPr id="10" name="Text 8"/>
          <p:cNvSpPr/>
          <p:nvPr/>
        </p:nvSpPr>
        <p:spPr>
          <a:xfrm>
            <a:off x="5093208" y="2130552"/>
            <a:ext cx="429768" cy="384048"/>
          </a:xfrm>
          <a:prstGeom prst="rect">
            <a:avLst/>
          </a:prstGeom>
          <a:noFill/>
          <a:ln/>
        </p:spPr>
        <p:txBody>
          <a:bodyPr wrap="square" lIns="0" tIns="0" rIns="0" bIns="0" rtlCol="0" anchor="ctr">
            <a:normAutofit/>
          </a:bodyPr>
          <a:lstStyle/>
          <a:p>
            <a:pPr algn="ctr" indent="0" marL="0">
              <a:buNone/>
            </a:pPr>
            <a:r>
              <a:rPr lang="en-US" sz="2600" dirty="0">
                <a:solidFill>
                  <a:srgbClr val="24B47E"/>
                </a:solidFill>
                <a:latin typeface="Arial" pitchFamily="34" charset="0"/>
                <a:ea typeface="Arial" pitchFamily="34" charset="-122"/>
                <a:cs typeface="Arial" pitchFamily="34" charset="-120"/>
              </a:rPr>
              <a:t>→</a:t>
            </a:r>
            <a:endParaRPr lang="en-US" sz="2600" dirty="0"/>
          </a:p>
        </p:txBody>
      </p:sp>
      <p:sp>
        <p:nvSpPr>
          <p:cNvPr id="11" name="Text 9"/>
          <p:cNvSpPr/>
          <p:nvPr/>
        </p:nvSpPr>
        <p:spPr>
          <a:xfrm>
            <a:off x="6025896" y="2130552"/>
            <a:ext cx="5120640" cy="411480"/>
          </a:xfrm>
          <a:prstGeom prst="rect">
            <a:avLst/>
          </a:prstGeom>
          <a:noFill/>
          <a:ln/>
        </p:spPr>
        <p:txBody>
          <a:bodyPr wrap="square" lIns="0" tIns="0" rIns="0" bIns="0" rtlCol="0" anchor="ctr">
            <a:normAutofit/>
          </a:bodyPr>
          <a:lstStyle/>
          <a:p>
            <a:pPr indent="0" marL="0">
              <a:buNone/>
            </a:pPr>
            <a:r>
              <a:rPr lang="en-US" sz="1520" b="1" dirty="0">
                <a:solidFill>
                  <a:srgbClr val="171717"/>
                </a:solidFill>
                <a:latin typeface="Malgun Gothic" pitchFamily="34" charset="0"/>
                <a:ea typeface="Malgun Gothic" pitchFamily="34" charset="-122"/>
                <a:cs typeface="Malgun Gothic" pitchFamily="34" charset="-120"/>
              </a:rPr>
              <a:t>React / TypeScript 채팅 UI</a:t>
            </a:r>
            <a:endParaRPr lang="en-US" sz="1520" dirty="0"/>
          </a:p>
        </p:txBody>
      </p:sp>
      <p:sp>
        <p:nvSpPr>
          <p:cNvPr id="12" name="Shape 10"/>
          <p:cNvSpPr/>
          <p:nvPr/>
        </p:nvSpPr>
        <p:spPr>
          <a:xfrm>
            <a:off x="777240" y="2953512"/>
            <a:ext cx="4151376" cy="832104"/>
          </a:xfrm>
          <a:prstGeom prst="roundRect">
            <a:avLst>
              <a:gd name="adj" fmla="val 13187"/>
            </a:avLst>
          </a:prstGeom>
          <a:solidFill>
            <a:srgbClr val="FFFFFF"/>
          </a:solidFill>
          <a:ln w="10160">
            <a:solidFill>
              <a:srgbClr val="DFDFDF"/>
            </a:solidFill>
            <a:prstDash val="solid"/>
          </a:ln>
        </p:spPr>
      </p:sp>
      <p:sp>
        <p:nvSpPr>
          <p:cNvPr id="13" name="Shape 11"/>
          <p:cNvSpPr/>
          <p:nvPr/>
        </p:nvSpPr>
        <p:spPr>
          <a:xfrm>
            <a:off x="5742432" y="2953512"/>
            <a:ext cx="5669280" cy="832104"/>
          </a:xfrm>
          <a:prstGeom prst="roundRect">
            <a:avLst>
              <a:gd name="adj" fmla="val 13187"/>
            </a:avLst>
          </a:prstGeom>
          <a:solidFill>
            <a:srgbClr val="FAFAFA"/>
          </a:solidFill>
          <a:ln w="10160">
            <a:solidFill>
              <a:srgbClr val="EDEDED"/>
            </a:solidFill>
            <a:prstDash val="solid"/>
          </a:ln>
        </p:spPr>
      </p:sp>
      <p:sp>
        <p:nvSpPr>
          <p:cNvPr id="14" name="Shape 12"/>
          <p:cNvSpPr/>
          <p:nvPr/>
        </p:nvSpPr>
        <p:spPr>
          <a:xfrm>
            <a:off x="1051560" y="3310128"/>
            <a:ext cx="109728" cy="109728"/>
          </a:xfrm>
          <a:prstGeom prst="ellipse">
            <a:avLst/>
          </a:prstGeom>
          <a:solidFill>
            <a:srgbClr val="3ECF8E"/>
          </a:solidFill>
          <a:ln w="12700">
            <a:solidFill>
              <a:srgbClr val="3ECF8E">
                <a:alpha val="0"/>
              </a:srgbClr>
            </a:solidFill>
            <a:prstDash val="solid"/>
          </a:ln>
        </p:spPr>
      </p:sp>
      <p:sp>
        <p:nvSpPr>
          <p:cNvPr id="15" name="Text 13"/>
          <p:cNvSpPr/>
          <p:nvPr/>
        </p:nvSpPr>
        <p:spPr>
          <a:xfrm>
            <a:off x="1353312" y="3154680"/>
            <a:ext cx="3218688" cy="411480"/>
          </a:xfrm>
          <a:prstGeom prst="rect">
            <a:avLst/>
          </a:prstGeom>
          <a:noFill/>
          <a:ln/>
        </p:spPr>
        <p:txBody>
          <a:bodyPr wrap="square" lIns="0" tIns="0" rIns="0" bIns="0" rtlCol="0" anchor="ctr">
            <a:normAutofit/>
          </a:bodyPr>
          <a:lstStyle/>
          <a:p>
            <a:pPr indent="0" marL="0">
              <a:buNone/>
            </a:pPr>
            <a:r>
              <a:rPr lang="en-US" sz="1630" b="1" dirty="0">
                <a:solidFill>
                  <a:srgbClr val="171717"/>
                </a:solidFill>
                <a:latin typeface="Malgun Gothic" pitchFamily="34" charset="0"/>
                <a:ea typeface="Malgun Gothic" pitchFamily="34" charset="-122"/>
                <a:cs typeface="Malgun Gothic" pitchFamily="34" charset="-120"/>
              </a:rPr>
              <a:t>Spring · JPA</a:t>
            </a:r>
            <a:endParaRPr lang="en-US" sz="1630" dirty="0"/>
          </a:p>
        </p:txBody>
      </p:sp>
      <p:sp>
        <p:nvSpPr>
          <p:cNvPr id="16" name="Text 14"/>
          <p:cNvSpPr/>
          <p:nvPr/>
        </p:nvSpPr>
        <p:spPr>
          <a:xfrm>
            <a:off x="5093208" y="3163824"/>
            <a:ext cx="429768" cy="384048"/>
          </a:xfrm>
          <a:prstGeom prst="rect">
            <a:avLst/>
          </a:prstGeom>
          <a:noFill/>
          <a:ln/>
        </p:spPr>
        <p:txBody>
          <a:bodyPr wrap="square" lIns="0" tIns="0" rIns="0" bIns="0" rtlCol="0" anchor="ctr">
            <a:normAutofit/>
          </a:bodyPr>
          <a:lstStyle/>
          <a:p>
            <a:pPr algn="ctr" indent="0" marL="0">
              <a:buNone/>
            </a:pPr>
            <a:r>
              <a:rPr lang="en-US" sz="2600" dirty="0">
                <a:solidFill>
                  <a:srgbClr val="24B47E"/>
                </a:solidFill>
                <a:latin typeface="Arial" pitchFamily="34" charset="0"/>
                <a:ea typeface="Arial" pitchFamily="34" charset="-122"/>
                <a:cs typeface="Arial" pitchFamily="34" charset="-120"/>
              </a:rPr>
              <a:t>→</a:t>
            </a:r>
            <a:endParaRPr lang="en-US" sz="2600" dirty="0"/>
          </a:p>
        </p:txBody>
      </p:sp>
      <p:sp>
        <p:nvSpPr>
          <p:cNvPr id="17" name="Text 15"/>
          <p:cNvSpPr/>
          <p:nvPr/>
        </p:nvSpPr>
        <p:spPr>
          <a:xfrm>
            <a:off x="6025896" y="3163824"/>
            <a:ext cx="5120640" cy="411480"/>
          </a:xfrm>
          <a:prstGeom prst="rect">
            <a:avLst/>
          </a:prstGeom>
          <a:noFill/>
          <a:ln/>
        </p:spPr>
        <p:txBody>
          <a:bodyPr wrap="square" lIns="0" tIns="0" rIns="0" bIns="0" rtlCol="0" anchor="ctr">
            <a:normAutofit/>
          </a:bodyPr>
          <a:lstStyle/>
          <a:p>
            <a:pPr indent="0" marL="0">
              <a:buNone/>
            </a:pPr>
            <a:r>
              <a:rPr lang="en-US" sz="1520" b="1" dirty="0">
                <a:solidFill>
                  <a:srgbClr val="171717"/>
                </a:solidFill>
                <a:latin typeface="Malgun Gothic" pitchFamily="34" charset="0"/>
                <a:ea typeface="Malgun Gothic" pitchFamily="34" charset="-122"/>
                <a:cs typeface="Malgun Gothic" pitchFamily="34" charset="-120"/>
              </a:rPr>
              <a:t>회원 · 대화 · 로드맵 상태</a:t>
            </a:r>
            <a:endParaRPr lang="en-US" sz="1520" dirty="0"/>
          </a:p>
        </p:txBody>
      </p:sp>
      <p:sp>
        <p:nvSpPr>
          <p:cNvPr id="18" name="Shape 16"/>
          <p:cNvSpPr/>
          <p:nvPr/>
        </p:nvSpPr>
        <p:spPr>
          <a:xfrm>
            <a:off x="777240" y="3986784"/>
            <a:ext cx="4151376" cy="832104"/>
          </a:xfrm>
          <a:prstGeom prst="roundRect">
            <a:avLst>
              <a:gd name="adj" fmla="val 13187"/>
            </a:avLst>
          </a:prstGeom>
          <a:solidFill>
            <a:srgbClr val="FFFFFF"/>
          </a:solidFill>
          <a:ln w="10160">
            <a:solidFill>
              <a:srgbClr val="DFDFDF"/>
            </a:solidFill>
            <a:prstDash val="solid"/>
          </a:ln>
        </p:spPr>
      </p:sp>
      <p:sp>
        <p:nvSpPr>
          <p:cNvPr id="19" name="Shape 17"/>
          <p:cNvSpPr/>
          <p:nvPr/>
        </p:nvSpPr>
        <p:spPr>
          <a:xfrm>
            <a:off x="5742432" y="3986784"/>
            <a:ext cx="5669280" cy="832104"/>
          </a:xfrm>
          <a:prstGeom prst="roundRect">
            <a:avLst>
              <a:gd name="adj" fmla="val 13187"/>
            </a:avLst>
          </a:prstGeom>
          <a:solidFill>
            <a:srgbClr val="FAFAFA"/>
          </a:solidFill>
          <a:ln w="10160">
            <a:solidFill>
              <a:srgbClr val="EDEDED"/>
            </a:solidFill>
            <a:prstDash val="solid"/>
          </a:ln>
        </p:spPr>
      </p:sp>
      <p:sp>
        <p:nvSpPr>
          <p:cNvPr id="20" name="Shape 18"/>
          <p:cNvSpPr/>
          <p:nvPr/>
        </p:nvSpPr>
        <p:spPr>
          <a:xfrm>
            <a:off x="1051560" y="4343400"/>
            <a:ext cx="109728" cy="109728"/>
          </a:xfrm>
          <a:prstGeom prst="ellipse">
            <a:avLst/>
          </a:prstGeom>
          <a:solidFill>
            <a:srgbClr val="3ECF8E"/>
          </a:solidFill>
          <a:ln w="12700">
            <a:solidFill>
              <a:srgbClr val="3ECF8E">
                <a:alpha val="0"/>
              </a:srgbClr>
            </a:solidFill>
            <a:prstDash val="solid"/>
          </a:ln>
        </p:spPr>
      </p:sp>
      <p:sp>
        <p:nvSpPr>
          <p:cNvPr id="21" name="Text 19"/>
          <p:cNvSpPr/>
          <p:nvPr/>
        </p:nvSpPr>
        <p:spPr>
          <a:xfrm>
            <a:off x="1353312" y="4187952"/>
            <a:ext cx="3218688" cy="411480"/>
          </a:xfrm>
          <a:prstGeom prst="rect">
            <a:avLst/>
          </a:prstGeom>
          <a:noFill/>
          <a:ln/>
        </p:spPr>
        <p:txBody>
          <a:bodyPr wrap="square" lIns="0" tIns="0" rIns="0" bIns="0" rtlCol="0" anchor="ctr">
            <a:normAutofit/>
          </a:bodyPr>
          <a:lstStyle/>
          <a:p>
            <a:pPr indent="0" marL="0">
              <a:buNone/>
            </a:pPr>
            <a:r>
              <a:rPr lang="en-US" sz="1630" b="1" dirty="0">
                <a:solidFill>
                  <a:srgbClr val="171717"/>
                </a:solidFill>
                <a:latin typeface="Malgun Gothic" pitchFamily="34" charset="0"/>
                <a:ea typeface="Malgun Gothic" pitchFamily="34" charset="-122"/>
                <a:cs typeface="Malgun Gothic" pitchFamily="34" charset="-120"/>
              </a:rPr>
              <a:t>FastAPI · Pydantic</a:t>
            </a:r>
            <a:endParaRPr lang="en-US" sz="1630" dirty="0"/>
          </a:p>
        </p:txBody>
      </p:sp>
      <p:sp>
        <p:nvSpPr>
          <p:cNvPr id="22" name="Text 20"/>
          <p:cNvSpPr/>
          <p:nvPr/>
        </p:nvSpPr>
        <p:spPr>
          <a:xfrm>
            <a:off x="5093208" y="4197096"/>
            <a:ext cx="429768" cy="384048"/>
          </a:xfrm>
          <a:prstGeom prst="rect">
            <a:avLst/>
          </a:prstGeom>
          <a:noFill/>
          <a:ln/>
        </p:spPr>
        <p:txBody>
          <a:bodyPr wrap="square" lIns="0" tIns="0" rIns="0" bIns="0" rtlCol="0" anchor="ctr">
            <a:normAutofit/>
          </a:bodyPr>
          <a:lstStyle/>
          <a:p>
            <a:pPr algn="ctr" indent="0" marL="0">
              <a:buNone/>
            </a:pPr>
            <a:r>
              <a:rPr lang="en-US" sz="2600" dirty="0">
                <a:solidFill>
                  <a:srgbClr val="24B47E"/>
                </a:solidFill>
                <a:latin typeface="Arial" pitchFamily="34" charset="0"/>
                <a:ea typeface="Arial" pitchFamily="34" charset="-122"/>
                <a:cs typeface="Arial" pitchFamily="34" charset="-120"/>
              </a:rPr>
              <a:t>→</a:t>
            </a:r>
            <a:endParaRPr lang="en-US" sz="2600" dirty="0"/>
          </a:p>
        </p:txBody>
      </p:sp>
      <p:sp>
        <p:nvSpPr>
          <p:cNvPr id="23" name="Text 21"/>
          <p:cNvSpPr/>
          <p:nvPr/>
        </p:nvSpPr>
        <p:spPr>
          <a:xfrm>
            <a:off x="6025896" y="4197096"/>
            <a:ext cx="5120640" cy="411480"/>
          </a:xfrm>
          <a:prstGeom prst="rect">
            <a:avLst/>
          </a:prstGeom>
          <a:noFill/>
          <a:ln/>
        </p:spPr>
        <p:txBody>
          <a:bodyPr wrap="square" lIns="0" tIns="0" rIns="0" bIns="0" rtlCol="0" anchor="ctr">
            <a:normAutofit/>
          </a:bodyPr>
          <a:lstStyle/>
          <a:p>
            <a:pPr indent="0" marL="0">
              <a:buNone/>
            </a:pPr>
            <a:r>
              <a:rPr lang="en-US" sz="1520" b="1" dirty="0">
                <a:solidFill>
                  <a:srgbClr val="171717"/>
                </a:solidFill>
                <a:latin typeface="Malgun Gothic" pitchFamily="34" charset="0"/>
                <a:ea typeface="Malgun Gothic" pitchFamily="34" charset="-122"/>
                <a:cs typeface="Malgun Gothic" pitchFamily="34" charset="-120"/>
              </a:rPr>
              <a:t>AI 분석 API · 구조화 입력</a:t>
            </a:r>
            <a:endParaRPr lang="en-US" sz="1520" dirty="0"/>
          </a:p>
        </p:txBody>
      </p:sp>
      <p:sp>
        <p:nvSpPr>
          <p:cNvPr id="24" name="Shape 22"/>
          <p:cNvSpPr/>
          <p:nvPr/>
        </p:nvSpPr>
        <p:spPr>
          <a:xfrm>
            <a:off x="777240" y="5020056"/>
            <a:ext cx="4151376" cy="832104"/>
          </a:xfrm>
          <a:prstGeom prst="roundRect">
            <a:avLst>
              <a:gd name="adj" fmla="val 13187"/>
            </a:avLst>
          </a:prstGeom>
          <a:solidFill>
            <a:srgbClr val="FFFFFF"/>
          </a:solidFill>
          <a:ln w="10160">
            <a:solidFill>
              <a:srgbClr val="DFDFDF"/>
            </a:solidFill>
            <a:prstDash val="solid"/>
          </a:ln>
        </p:spPr>
      </p:sp>
      <p:sp>
        <p:nvSpPr>
          <p:cNvPr id="25" name="Shape 23"/>
          <p:cNvSpPr/>
          <p:nvPr/>
        </p:nvSpPr>
        <p:spPr>
          <a:xfrm>
            <a:off x="5742432" y="5020056"/>
            <a:ext cx="5669280" cy="832104"/>
          </a:xfrm>
          <a:prstGeom prst="roundRect">
            <a:avLst>
              <a:gd name="adj" fmla="val 13187"/>
            </a:avLst>
          </a:prstGeom>
          <a:solidFill>
            <a:srgbClr val="1C1C1C"/>
          </a:solidFill>
          <a:ln w="10160">
            <a:solidFill>
              <a:srgbClr val="1C1C1C"/>
            </a:solidFill>
            <a:prstDash val="solid"/>
          </a:ln>
        </p:spPr>
      </p:sp>
      <p:sp>
        <p:nvSpPr>
          <p:cNvPr id="26" name="Shape 24"/>
          <p:cNvSpPr/>
          <p:nvPr/>
        </p:nvSpPr>
        <p:spPr>
          <a:xfrm>
            <a:off x="1051560" y="5376672"/>
            <a:ext cx="109728" cy="109728"/>
          </a:xfrm>
          <a:prstGeom prst="ellipse">
            <a:avLst/>
          </a:prstGeom>
          <a:solidFill>
            <a:srgbClr val="3ECF8E"/>
          </a:solidFill>
          <a:ln w="12700">
            <a:solidFill>
              <a:srgbClr val="3ECF8E">
                <a:alpha val="0"/>
              </a:srgbClr>
            </a:solidFill>
            <a:prstDash val="solid"/>
          </a:ln>
        </p:spPr>
      </p:sp>
      <p:sp>
        <p:nvSpPr>
          <p:cNvPr id="27" name="Text 25"/>
          <p:cNvSpPr/>
          <p:nvPr/>
        </p:nvSpPr>
        <p:spPr>
          <a:xfrm>
            <a:off x="1353312" y="5221224"/>
            <a:ext cx="3218688" cy="411480"/>
          </a:xfrm>
          <a:prstGeom prst="rect">
            <a:avLst/>
          </a:prstGeom>
          <a:noFill/>
          <a:ln/>
        </p:spPr>
        <p:txBody>
          <a:bodyPr wrap="square" lIns="0" tIns="0" rIns="0" bIns="0" rtlCol="0" anchor="ctr">
            <a:normAutofit/>
          </a:bodyPr>
          <a:lstStyle/>
          <a:p>
            <a:pPr indent="0" marL="0">
              <a:buNone/>
            </a:pPr>
            <a:r>
              <a:rPr lang="en-US" sz="1630" b="1" dirty="0">
                <a:solidFill>
                  <a:srgbClr val="171717"/>
                </a:solidFill>
                <a:latin typeface="Malgun Gothic" pitchFamily="34" charset="0"/>
                <a:ea typeface="Malgun Gothic" pitchFamily="34" charset="-122"/>
                <a:cs typeface="Malgun Gothic" pitchFamily="34" charset="-120"/>
              </a:rPr>
              <a:t>LangGraph</a:t>
            </a:r>
            <a:endParaRPr lang="en-US" sz="1630" dirty="0"/>
          </a:p>
        </p:txBody>
      </p:sp>
      <p:sp>
        <p:nvSpPr>
          <p:cNvPr id="28" name="Text 26"/>
          <p:cNvSpPr/>
          <p:nvPr/>
        </p:nvSpPr>
        <p:spPr>
          <a:xfrm>
            <a:off x="5093208" y="5230368"/>
            <a:ext cx="429768" cy="384048"/>
          </a:xfrm>
          <a:prstGeom prst="rect">
            <a:avLst/>
          </a:prstGeom>
          <a:noFill/>
          <a:ln/>
        </p:spPr>
        <p:txBody>
          <a:bodyPr wrap="square" lIns="0" tIns="0" rIns="0" bIns="0" rtlCol="0" anchor="ctr">
            <a:normAutofit/>
          </a:bodyPr>
          <a:lstStyle/>
          <a:p>
            <a:pPr algn="ctr" indent="0" marL="0">
              <a:buNone/>
            </a:pPr>
            <a:r>
              <a:rPr lang="en-US" sz="2600" dirty="0">
                <a:solidFill>
                  <a:srgbClr val="24B47E"/>
                </a:solidFill>
                <a:latin typeface="Arial" pitchFamily="34" charset="0"/>
                <a:ea typeface="Arial" pitchFamily="34" charset="-122"/>
                <a:cs typeface="Arial" pitchFamily="34" charset="-120"/>
              </a:rPr>
              <a:t>→</a:t>
            </a:r>
            <a:endParaRPr lang="en-US" sz="2600" dirty="0"/>
          </a:p>
        </p:txBody>
      </p:sp>
      <p:sp>
        <p:nvSpPr>
          <p:cNvPr id="29" name="Text 27"/>
          <p:cNvSpPr/>
          <p:nvPr/>
        </p:nvSpPr>
        <p:spPr>
          <a:xfrm>
            <a:off x="6025896" y="5230368"/>
            <a:ext cx="5120640" cy="411480"/>
          </a:xfrm>
          <a:prstGeom prst="rect">
            <a:avLst/>
          </a:prstGeom>
          <a:noFill/>
          <a:ln/>
        </p:spPr>
        <p:txBody>
          <a:bodyPr wrap="square" lIns="0" tIns="0" rIns="0" bIns="0" rtlCol="0" anchor="ctr">
            <a:normAutofit/>
          </a:bodyPr>
          <a:lstStyle/>
          <a:p>
            <a:pPr indent="0" marL="0">
              <a:buNone/>
            </a:pPr>
            <a:r>
              <a:rPr lang="en-US" sz="1520" b="1" dirty="0">
                <a:solidFill>
                  <a:srgbClr val="FFFFFF"/>
                </a:solidFill>
                <a:latin typeface="Malgun Gothic" pitchFamily="34" charset="0"/>
                <a:ea typeface="Malgun Gothic" pitchFamily="34" charset="-122"/>
                <a:cs typeface="Malgun Gothic" pitchFamily="34" charset="-120"/>
              </a:rPr>
              <a:t>분기 · 동결 · 근거 검사</a:t>
            </a:r>
            <a:endParaRPr lang="en-US" sz="15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777240" y="384048"/>
            <a:ext cx="7955279" cy="256032"/>
          </a:xfrm>
          <a:prstGeom prst="rect">
            <a:avLst/>
          </a:prstGeom>
          <a:noFill/>
        </p:spPr>
        <p:txBody>
          <a:bodyPr wrap="square" lIns="0" rIns="0" tIns="0" bIns="0" anchor="ctr">
            <a:spAutoFit/>
          </a:bodyPr>
          <a:lstStyle/>
          <a:p>
            <a:pPr algn="l">
              <a:spcAft>
                <a:spcPts val="500"/>
              </a:spcAft>
            </a:pPr>
            <a:r>
              <a:rPr sz="1050" b="1">
                <a:solidFill>
                  <a:srgbClr val="707070"/>
                </a:solidFill>
                <a:latin typeface="Malgun Gothic"/>
              </a:rPr>
              <a:t>TECHNICAL DESIGN · SECTION 01</a:t>
            </a:r>
          </a:p>
        </p:txBody>
      </p:sp>
      <p:sp>
        <p:nvSpPr>
          <p:cNvPr id="3" name="TextBox 2"/>
          <p:cNvSpPr txBox="1"/>
          <p:nvPr/>
        </p:nvSpPr>
        <p:spPr>
          <a:xfrm>
            <a:off x="777240" y="804672"/>
            <a:ext cx="10652760" cy="566928"/>
          </a:xfrm>
          <a:prstGeom prst="rect">
            <a:avLst/>
          </a:prstGeom>
          <a:noFill/>
        </p:spPr>
        <p:txBody>
          <a:bodyPr wrap="square" lIns="0" rIns="0" tIns="0" bIns="0" anchor="ctr">
            <a:spAutoFit/>
          </a:bodyPr>
          <a:lstStyle/>
          <a:p>
            <a:pPr algn="l">
              <a:spcAft>
                <a:spcPts val="600"/>
              </a:spcAft>
            </a:pPr>
            <a:r>
              <a:rPr sz="2900" b="1">
                <a:solidFill>
                  <a:srgbClr val="171717"/>
                </a:solidFill>
                <a:latin typeface="Malgun Gothic"/>
              </a:rPr>
              <a:t>구현 기반과 확장 방향</a:t>
            </a:r>
          </a:p>
        </p:txBody>
      </p:sp>
      <p:cxnSp>
        <p:nvCxnSpPr>
          <p:cNvPr id="4" name="Connector 3"/>
          <p:cNvCxnSpPr/>
          <p:nvPr/>
        </p:nvCxnSpPr>
        <p:spPr>
          <a:xfrm>
            <a:off x="777240" y="1508760"/>
            <a:ext cx="10634472" cy="0"/>
          </a:xfrm>
          <a:prstGeom prst="line">
            <a:avLst/>
          </a:prstGeom>
          <a:ln w="8890">
            <a:solidFill>
              <a:srgbClr val="E7E7E7"/>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631936" y="338328"/>
            <a:ext cx="2779776" cy="365760"/>
          </a:xfrm>
          <a:prstGeom prst="roundRect">
            <a:avLst>
              <a:gd name="adj" fmla="val 3500"/>
            </a:avLst>
          </a:prstGeom>
          <a:solidFill>
            <a:srgbClr val="EAF5EE"/>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23376" y="365760"/>
            <a:ext cx="2596896" cy="292608"/>
          </a:xfrm>
          <a:prstGeom prst="rect">
            <a:avLst/>
          </a:prstGeom>
          <a:noFill/>
        </p:spPr>
        <p:txBody>
          <a:bodyPr wrap="square" lIns="0" rIns="0" tIns="0" bIns="0" anchor="ctr">
            <a:spAutoFit/>
          </a:bodyPr>
          <a:lstStyle/>
          <a:p>
            <a:pPr algn="ctr">
              <a:spcAft>
                <a:spcPts val="500"/>
              </a:spcAft>
            </a:pPr>
            <a:r>
              <a:rPr sz="1070" b="1">
                <a:solidFill>
                  <a:srgbClr val="24805B"/>
                </a:solidFill>
                <a:latin typeface="Malgun Gothic"/>
              </a:rPr>
              <a:t>구현 / 설계 / 도입 계획</a:t>
            </a:r>
          </a:p>
        </p:txBody>
      </p:sp>
      <p:sp>
        <p:nvSpPr>
          <p:cNvPr id="7" name="TextBox 6"/>
          <p:cNvSpPr txBox="1"/>
          <p:nvPr/>
        </p:nvSpPr>
        <p:spPr>
          <a:xfrm>
            <a:off x="10652760" y="6437376"/>
            <a:ext cx="758952" cy="219456"/>
          </a:xfrm>
          <a:prstGeom prst="rect">
            <a:avLst/>
          </a:prstGeom>
          <a:noFill/>
        </p:spPr>
        <p:txBody>
          <a:bodyPr wrap="square" lIns="0" rIns="0" tIns="0" bIns="0" anchor="ctr">
            <a:spAutoFit/>
          </a:bodyPr>
          <a:lstStyle/>
          <a:p>
            <a:pPr algn="r">
              <a:spcAft>
                <a:spcPts val="500"/>
              </a:spcAft>
            </a:pPr>
            <a:r>
              <a:rPr sz="1000" b="0">
                <a:solidFill>
                  <a:srgbClr val="707070"/>
                </a:solidFill>
                <a:latin typeface="Malgun Gothic"/>
              </a:rPr>
              <a:t>01 / 07</a:t>
            </a:r>
          </a:p>
        </p:txBody>
      </p:sp>
      <p:sp>
        <p:nvSpPr>
          <p:cNvPr id="8" name="Rounded Rectangle 7"/>
          <p:cNvSpPr/>
          <p:nvPr/>
        </p:nvSpPr>
        <p:spPr>
          <a:xfrm>
            <a:off x="777240" y="2029968"/>
            <a:ext cx="3319272" cy="3383280"/>
          </a:xfrm>
          <a:prstGeom prst="roundRect">
            <a:avLst>
              <a:gd name="adj" fmla="val 3500"/>
            </a:avLst>
          </a:prstGeom>
          <a:solidFill>
            <a:srgbClr val="FAFAFA"/>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267712"/>
            <a:ext cx="2862072" cy="411480"/>
          </a:xfrm>
          <a:prstGeom prst="rect">
            <a:avLst/>
          </a:prstGeom>
          <a:noFill/>
        </p:spPr>
        <p:txBody>
          <a:bodyPr wrap="square" lIns="0" rIns="0" tIns="0" bIns="0" anchor="ctr">
            <a:spAutoFit/>
          </a:bodyPr>
          <a:lstStyle/>
          <a:p>
            <a:pPr algn="l">
              <a:spcAft>
                <a:spcPts val="600"/>
              </a:spcAft>
            </a:pPr>
            <a:r>
              <a:rPr sz="2000" b="1">
                <a:solidFill>
                  <a:srgbClr val="171717"/>
                </a:solidFill>
                <a:latin typeface="Malgun Gothic"/>
              </a:rPr>
              <a:t>구현</a:t>
            </a:r>
          </a:p>
        </p:txBody>
      </p:sp>
      <p:sp>
        <p:nvSpPr>
          <p:cNvPr id="10" name="TextBox 9"/>
          <p:cNvSpPr txBox="1"/>
          <p:nvPr/>
        </p:nvSpPr>
        <p:spPr>
          <a:xfrm>
            <a:off x="1005840" y="2935224"/>
            <a:ext cx="2862072" cy="2295144"/>
          </a:xfrm>
          <a:prstGeom prst="rect">
            <a:avLst/>
          </a:prstGeom>
          <a:noFill/>
        </p:spPr>
        <p:txBody>
          <a:bodyPr wrap="square" lIns="0" rIns="0" tIns="0" bIns="0" anchor="ctr">
            <a:spAutoFit/>
          </a:bodyPr>
          <a:lstStyle/>
          <a:p>
            <a:pPr algn="l">
              <a:spcAft>
                <a:spcPts val="600"/>
              </a:spcAft>
            </a:pPr>
            <a:r>
              <a:rPr sz="1700" b="0">
                <a:solidFill>
                  <a:srgbClr val="707070"/>
                </a:solidFill>
                <a:latin typeface="Malgun Gothic"/>
              </a:rPr>
              <a:t>인증 · 저장</a:t>
            </a:r>
          </a:p>
          <a:p>
            <a:pPr algn="l">
              <a:spcAft>
                <a:spcPts val="600"/>
              </a:spcAft>
            </a:pPr>
            <a:r>
              <a:rPr sz="1700" b="0">
                <a:solidFill>
                  <a:srgbClr val="707070"/>
                </a:solidFill>
                <a:latin typeface="Malgun Gothic"/>
              </a:rPr>
              <a:t>프로필 · 로드맵</a:t>
            </a:r>
          </a:p>
          <a:p>
            <a:pPr algn="l">
              <a:spcAft>
                <a:spcPts val="600"/>
              </a:spcAft>
            </a:pPr>
            <a:r>
              <a:rPr sz="1700" b="0">
                <a:solidFill>
                  <a:srgbClr val="707070"/>
                </a:solidFill>
                <a:latin typeface="Malgun Gothic"/>
              </a:rPr>
              <a:t>LangGraph</a:t>
            </a:r>
          </a:p>
        </p:txBody>
      </p:sp>
      <p:sp>
        <p:nvSpPr>
          <p:cNvPr id="11" name="Rounded Rectangle 10"/>
          <p:cNvSpPr/>
          <p:nvPr/>
        </p:nvSpPr>
        <p:spPr>
          <a:xfrm>
            <a:off x="4434840" y="2029968"/>
            <a:ext cx="3319272" cy="3383280"/>
          </a:xfrm>
          <a:prstGeom prst="roundRect">
            <a:avLst>
              <a:gd name="adj" fmla="val 3500"/>
            </a:avLst>
          </a:prstGeom>
          <a:solidFill>
            <a:srgbClr val="1C1C1C"/>
          </a:solidFill>
          <a:ln w="8890">
            <a:solidFill>
              <a:srgbClr val="1C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2267712"/>
            <a:ext cx="2862072" cy="411480"/>
          </a:xfrm>
          <a:prstGeom prst="rect">
            <a:avLst/>
          </a:prstGeom>
          <a:noFill/>
        </p:spPr>
        <p:txBody>
          <a:bodyPr wrap="square" lIns="0" rIns="0" tIns="0" bIns="0" anchor="ctr">
            <a:spAutoFit/>
          </a:bodyPr>
          <a:lstStyle/>
          <a:p>
            <a:pPr algn="l">
              <a:spcAft>
                <a:spcPts val="600"/>
              </a:spcAft>
            </a:pPr>
            <a:r>
              <a:rPr sz="2000" b="1">
                <a:solidFill>
                  <a:srgbClr val="FFFFFF"/>
                </a:solidFill>
                <a:latin typeface="Malgun Gothic"/>
              </a:rPr>
              <a:t>설계</a:t>
            </a:r>
          </a:p>
        </p:txBody>
      </p:sp>
      <p:sp>
        <p:nvSpPr>
          <p:cNvPr id="13" name="TextBox 12"/>
          <p:cNvSpPr txBox="1"/>
          <p:nvPr/>
        </p:nvSpPr>
        <p:spPr>
          <a:xfrm>
            <a:off x="4663440" y="2935224"/>
            <a:ext cx="2862072" cy="2295144"/>
          </a:xfrm>
          <a:prstGeom prst="rect">
            <a:avLst/>
          </a:prstGeom>
          <a:noFill/>
        </p:spPr>
        <p:txBody>
          <a:bodyPr wrap="square" lIns="0" rIns="0" tIns="0" bIns="0" anchor="ctr">
            <a:spAutoFit/>
          </a:bodyPr>
          <a:lstStyle/>
          <a:p>
            <a:pPr algn="l">
              <a:spcAft>
                <a:spcPts val="600"/>
              </a:spcAft>
            </a:pPr>
            <a:r>
              <a:rPr sz="1700" b="0">
                <a:solidFill>
                  <a:srgbClr val="DDDDDD"/>
                </a:solidFill>
                <a:latin typeface="Malgun Gothic"/>
              </a:rPr>
              <a:t>메모리</a:t>
            </a:r>
          </a:p>
          <a:p>
            <a:pPr algn="l">
              <a:spcAft>
                <a:spcPts val="600"/>
              </a:spcAft>
            </a:pPr>
            <a:r>
              <a:rPr sz="1700" b="0">
                <a:solidFill>
                  <a:srgbClr val="DDDDDD"/>
                </a:solidFill>
                <a:latin typeface="Malgun Gothic"/>
              </a:rPr>
              <a:t>RAG</a:t>
            </a:r>
          </a:p>
          <a:p>
            <a:pPr algn="l">
              <a:spcAft>
                <a:spcPts val="600"/>
              </a:spcAft>
            </a:pPr>
            <a:r>
              <a:rPr sz="1700" b="0">
                <a:solidFill>
                  <a:srgbClr val="DDDDDD"/>
                </a:solidFill>
                <a:latin typeface="Malgun Gothic"/>
              </a:rPr>
              <a:t>대화 전략</a:t>
            </a:r>
          </a:p>
        </p:txBody>
      </p:sp>
      <p:sp>
        <p:nvSpPr>
          <p:cNvPr id="14" name="Rounded Rectangle 13"/>
          <p:cNvSpPr/>
          <p:nvPr/>
        </p:nvSpPr>
        <p:spPr>
          <a:xfrm>
            <a:off x="8092440" y="2029968"/>
            <a:ext cx="3319272" cy="3383280"/>
          </a:xfrm>
          <a:prstGeom prst="roundRect">
            <a:avLst>
              <a:gd name="adj" fmla="val 3500"/>
            </a:avLst>
          </a:prstGeom>
          <a:solidFill>
            <a:srgbClr val="FAFAFA"/>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2267712"/>
            <a:ext cx="2862072" cy="411480"/>
          </a:xfrm>
          <a:prstGeom prst="rect">
            <a:avLst/>
          </a:prstGeom>
          <a:noFill/>
        </p:spPr>
        <p:txBody>
          <a:bodyPr wrap="square" lIns="0" rIns="0" tIns="0" bIns="0" anchor="ctr">
            <a:spAutoFit/>
          </a:bodyPr>
          <a:lstStyle/>
          <a:p>
            <a:pPr algn="l">
              <a:spcAft>
                <a:spcPts val="600"/>
              </a:spcAft>
            </a:pPr>
            <a:r>
              <a:rPr sz="2000" b="1">
                <a:solidFill>
                  <a:srgbClr val="171717"/>
                </a:solidFill>
                <a:latin typeface="Malgun Gothic"/>
              </a:rPr>
              <a:t>계획</a:t>
            </a:r>
          </a:p>
        </p:txBody>
      </p:sp>
      <p:sp>
        <p:nvSpPr>
          <p:cNvPr id="16" name="TextBox 15"/>
          <p:cNvSpPr txBox="1"/>
          <p:nvPr/>
        </p:nvSpPr>
        <p:spPr>
          <a:xfrm>
            <a:off x="8321040" y="2935224"/>
            <a:ext cx="2862072" cy="2295144"/>
          </a:xfrm>
          <a:prstGeom prst="rect">
            <a:avLst/>
          </a:prstGeom>
          <a:noFill/>
        </p:spPr>
        <p:txBody>
          <a:bodyPr wrap="square" lIns="0" rIns="0" tIns="0" bIns="0" anchor="ctr">
            <a:spAutoFit/>
          </a:bodyPr>
          <a:lstStyle/>
          <a:p>
            <a:pPr algn="l">
              <a:spcAft>
                <a:spcPts val="600"/>
              </a:spcAft>
            </a:pPr>
            <a:r>
              <a:rPr sz="1700" b="0">
                <a:solidFill>
                  <a:srgbClr val="707070"/>
                </a:solidFill>
                <a:latin typeface="Malgun Gothic"/>
              </a:rPr>
              <a:t>전문가 자료</a:t>
            </a:r>
          </a:p>
          <a:p>
            <a:pPr algn="l">
              <a:spcAft>
                <a:spcPts val="600"/>
              </a:spcAft>
            </a:pPr>
            <a:r>
              <a:rPr sz="1700" b="0">
                <a:solidFill>
                  <a:srgbClr val="707070"/>
                </a:solidFill>
                <a:latin typeface="Malgun Gothic"/>
              </a:rPr>
              <a:t>검색 평가</a:t>
            </a:r>
          </a:p>
          <a:p>
            <a:pPr algn="l">
              <a:spcAft>
                <a:spcPts val="600"/>
              </a:spcAft>
            </a:pPr>
            <a:r>
              <a:rPr sz="1700" b="0">
                <a:solidFill>
                  <a:srgbClr val="707070"/>
                </a:solidFill>
                <a:latin typeface="Malgun Gothic"/>
              </a:rPr>
              <a:t>영상 단서 추출</a:t>
            </a:r>
          </a:p>
        </p:txBody>
      </p:sp>
      <p:sp>
        <p:nvSpPr>
          <p:cNvPr id="17" name="TextBox 16"/>
          <p:cNvSpPr txBox="1"/>
          <p:nvPr/>
        </p:nvSpPr>
        <p:spPr>
          <a:xfrm>
            <a:off x="777240" y="5925312"/>
            <a:ext cx="10515600" cy="338328"/>
          </a:xfrm>
          <a:prstGeom prst="rect">
            <a:avLst/>
          </a:prstGeom>
          <a:noFill/>
        </p:spPr>
        <p:txBody>
          <a:bodyPr wrap="square" lIns="0" rIns="0" tIns="0" bIns="0" anchor="ctr">
            <a:spAutoFit/>
          </a:bodyPr>
          <a:lstStyle/>
          <a:p>
            <a:pPr algn="l">
              <a:spcAft>
                <a:spcPts val="600"/>
              </a:spcAft>
            </a:pPr>
            <a:r>
              <a:rPr sz="1400" b="1">
                <a:solidFill>
                  <a:srgbClr val="24805B"/>
                </a:solidFill>
                <a:latin typeface="Malgun Gothic"/>
              </a:rPr>
              <a:t>핵심 USP · 영업기술</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777240" y="384048"/>
            <a:ext cx="7955279" cy="256032"/>
          </a:xfrm>
          <a:prstGeom prst="rect">
            <a:avLst/>
          </a:prstGeom>
          <a:noFill/>
        </p:spPr>
        <p:txBody>
          <a:bodyPr wrap="square" lIns="0" rIns="0" tIns="0" bIns="0" anchor="ctr">
            <a:spAutoFit/>
          </a:bodyPr>
          <a:lstStyle/>
          <a:p>
            <a:pPr algn="l">
              <a:spcAft>
                <a:spcPts val="500"/>
              </a:spcAft>
            </a:pPr>
            <a:r>
              <a:rPr sz="1050" b="1">
                <a:solidFill>
                  <a:srgbClr val="707070"/>
                </a:solidFill>
                <a:latin typeface="Malgun Gothic"/>
              </a:rPr>
              <a:t>TECHNICAL DESIGN · SECTION 02</a:t>
            </a:r>
          </a:p>
        </p:txBody>
      </p:sp>
      <p:sp>
        <p:nvSpPr>
          <p:cNvPr id="3" name="TextBox 2"/>
          <p:cNvSpPr txBox="1"/>
          <p:nvPr/>
        </p:nvSpPr>
        <p:spPr>
          <a:xfrm>
            <a:off x="777240" y="804672"/>
            <a:ext cx="10652760" cy="566928"/>
          </a:xfrm>
          <a:prstGeom prst="rect">
            <a:avLst/>
          </a:prstGeom>
          <a:noFill/>
        </p:spPr>
        <p:txBody>
          <a:bodyPr wrap="square" lIns="0" rIns="0" tIns="0" bIns="0" anchor="ctr">
            <a:spAutoFit/>
          </a:bodyPr>
          <a:lstStyle/>
          <a:p>
            <a:pPr algn="l">
              <a:spcAft>
                <a:spcPts val="600"/>
              </a:spcAft>
            </a:pPr>
            <a:r>
              <a:rPr sz="2900" b="1">
                <a:solidFill>
                  <a:srgbClr val="171717"/>
                </a:solidFill>
                <a:latin typeface="Malgun Gothic"/>
              </a:rPr>
              <a:t>채팅 엔진과 LangGraph</a:t>
            </a:r>
          </a:p>
        </p:txBody>
      </p:sp>
      <p:cxnSp>
        <p:nvCxnSpPr>
          <p:cNvPr id="4" name="Connector 3"/>
          <p:cNvCxnSpPr/>
          <p:nvPr/>
        </p:nvCxnSpPr>
        <p:spPr>
          <a:xfrm>
            <a:off x="777240" y="1508760"/>
            <a:ext cx="10634472" cy="0"/>
          </a:xfrm>
          <a:prstGeom prst="line">
            <a:avLst/>
          </a:prstGeom>
          <a:ln w="8890">
            <a:solidFill>
              <a:srgbClr val="E7E7E7"/>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631936" y="338328"/>
            <a:ext cx="2779776" cy="365760"/>
          </a:xfrm>
          <a:prstGeom prst="roundRect">
            <a:avLst>
              <a:gd name="adj" fmla="val 3500"/>
            </a:avLst>
          </a:prstGeom>
          <a:solidFill>
            <a:srgbClr val="EAF5EE"/>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23376" y="365760"/>
            <a:ext cx="2596896" cy="292608"/>
          </a:xfrm>
          <a:prstGeom prst="rect">
            <a:avLst/>
          </a:prstGeom>
          <a:noFill/>
        </p:spPr>
        <p:txBody>
          <a:bodyPr wrap="square" lIns="0" rIns="0" tIns="0" bIns="0" anchor="ctr">
            <a:spAutoFit/>
          </a:bodyPr>
          <a:lstStyle/>
          <a:p>
            <a:pPr algn="ctr">
              <a:spcAft>
                <a:spcPts val="500"/>
              </a:spcAft>
            </a:pPr>
            <a:r>
              <a:rPr sz="1070" b="1">
                <a:solidFill>
                  <a:srgbClr val="24805B"/>
                </a:solidFill>
                <a:latin typeface="Malgun Gothic"/>
              </a:rPr>
              <a:t>현재 기반 + 확장 설계</a:t>
            </a:r>
          </a:p>
        </p:txBody>
      </p:sp>
      <p:sp>
        <p:nvSpPr>
          <p:cNvPr id="7" name="TextBox 6"/>
          <p:cNvSpPr txBox="1"/>
          <p:nvPr/>
        </p:nvSpPr>
        <p:spPr>
          <a:xfrm>
            <a:off x="10652760" y="6437376"/>
            <a:ext cx="758952" cy="219456"/>
          </a:xfrm>
          <a:prstGeom prst="rect">
            <a:avLst/>
          </a:prstGeom>
          <a:noFill/>
        </p:spPr>
        <p:txBody>
          <a:bodyPr wrap="square" lIns="0" rIns="0" tIns="0" bIns="0" anchor="ctr">
            <a:spAutoFit/>
          </a:bodyPr>
          <a:lstStyle/>
          <a:p>
            <a:pPr algn="r">
              <a:spcAft>
                <a:spcPts val="500"/>
              </a:spcAft>
            </a:pPr>
            <a:r>
              <a:rPr sz="1000" b="0">
                <a:solidFill>
                  <a:srgbClr val="707070"/>
                </a:solidFill>
                <a:latin typeface="Malgun Gothic"/>
              </a:rPr>
              <a:t>02 / 07</a:t>
            </a:r>
          </a:p>
        </p:txBody>
      </p:sp>
      <p:sp>
        <p:nvSpPr>
          <p:cNvPr id="8" name="Rounded Rectangle 7"/>
          <p:cNvSpPr/>
          <p:nvPr/>
        </p:nvSpPr>
        <p:spPr>
          <a:xfrm>
            <a:off x="777240" y="1938528"/>
            <a:ext cx="10634472" cy="3520440"/>
          </a:xfrm>
          <a:prstGeom prst="roundRect">
            <a:avLst>
              <a:gd name="adj" fmla="val 3500"/>
            </a:avLst>
          </a:prstGeom>
          <a:solidFill>
            <a:srgbClr val="FAFAFA"/>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176272"/>
            <a:ext cx="2743200" cy="365760"/>
          </a:xfrm>
          <a:prstGeom prst="rect">
            <a:avLst/>
          </a:prstGeom>
          <a:noFill/>
        </p:spPr>
        <p:txBody>
          <a:bodyPr wrap="square" lIns="0" rIns="0" tIns="0" bIns="0" anchor="ctr">
            <a:spAutoFit/>
          </a:bodyPr>
          <a:lstStyle/>
          <a:p>
            <a:pPr algn="l">
              <a:spcAft>
                <a:spcPts val="500"/>
              </a:spcAft>
            </a:pPr>
            <a:r>
              <a:rPr sz="2200" b="1">
                <a:solidFill>
                  <a:srgbClr val="171717"/>
                </a:solidFill>
                <a:latin typeface="Malgun Gothic"/>
              </a:rPr>
              <a:t>채팅 엔진</a:t>
            </a:r>
          </a:p>
        </p:txBody>
      </p:sp>
      <p:sp>
        <p:nvSpPr>
          <p:cNvPr id="10" name="TextBox 9"/>
          <p:cNvSpPr txBox="1"/>
          <p:nvPr/>
        </p:nvSpPr>
        <p:spPr>
          <a:xfrm>
            <a:off x="3694176" y="2176272"/>
            <a:ext cx="7132320" cy="365760"/>
          </a:xfrm>
          <a:prstGeom prst="rect">
            <a:avLst/>
          </a:prstGeom>
          <a:noFill/>
        </p:spPr>
        <p:txBody>
          <a:bodyPr wrap="square" lIns="0" rIns="0" tIns="0" bIns="0" anchor="ctr">
            <a:spAutoFit/>
          </a:bodyPr>
          <a:lstStyle/>
          <a:p>
            <a:pPr algn="l">
              <a:spcAft>
                <a:spcPts val="600"/>
              </a:spcAft>
            </a:pPr>
            <a:r>
              <a:rPr sz="1700" b="0">
                <a:solidFill>
                  <a:srgbClr val="707070"/>
                </a:solidFill>
                <a:latin typeface="Malgun Gothic"/>
              </a:rPr>
              <a:t>대화 입출력 · 저장</a:t>
            </a:r>
          </a:p>
        </p:txBody>
      </p:sp>
      <p:sp>
        <p:nvSpPr>
          <p:cNvPr id="11" name="Rounded Rectangle 10"/>
          <p:cNvSpPr/>
          <p:nvPr/>
        </p:nvSpPr>
        <p:spPr>
          <a:xfrm>
            <a:off x="1051560" y="2962656"/>
            <a:ext cx="10076688" cy="2112264"/>
          </a:xfrm>
          <a:prstGeom prst="roundRect">
            <a:avLst>
              <a:gd name="adj" fmla="val 3500"/>
            </a:avLst>
          </a:prstGeom>
          <a:solidFill>
            <a:srgbClr val="1C1C1C"/>
          </a:solidFill>
          <a:ln w="8890">
            <a:solidFill>
              <a:srgbClr val="1C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53312" y="3200400"/>
            <a:ext cx="9509760" cy="365760"/>
          </a:xfrm>
          <a:prstGeom prst="rect">
            <a:avLst/>
          </a:prstGeom>
          <a:noFill/>
        </p:spPr>
        <p:txBody>
          <a:bodyPr wrap="square" lIns="0" rIns="0" tIns="0" bIns="0" anchor="ctr">
            <a:spAutoFit/>
          </a:bodyPr>
          <a:lstStyle/>
          <a:p>
            <a:pPr algn="l">
              <a:spcAft>
                <a:spcPts val="600"/>
              </a:spcAft>
            </a:pPr>
            <a:r>
              <a:rPr sz="1900" b="1">
                <a:solidFill>
                  <a:srgbClr val="FFFFFF"/>
                </a:solidFill>
                <a:latin typeface="Malgun Gothic"/>
              </a:rPr>
              <a:t>LangGraph · 처리 제어</a:t>
            </a:r>
          </a:p>
        </p:txBody>
      </p:sp>
      <p:sp>
        <p:nvSpPr>
          <p:cNvPr id="13" name="Rounded Rectangle 12"/>
          <p:cNvSpPr/>
          <p:nvPr/>
        </p:nvSpPr>
        <p:spPr>
          <a:xfrm>
            <a:off x="1362456" y="3977639"/>
            <a:ext cx="1975104" cy="640080"/>
          </a:xfrm>
          <a:prstGeom prst="roundRect">
            <a:avLst>
              <a:gd name="adj" fmla="val 3500"/>
            </a:avLst>
          </a:prstGeom>
          <a:solidFill>
            <a:srgbClr val="FFFFFF"/>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72184" y="4087368"/>
            <a:ext cx="1755648" cy="320040"/>
          </a:xfrm>
          <a:prstGeom prst="rect">
            <a:avLst/>
          </a:prstGeom>
          <a:noFill/>
        </p:spPr>
        <p:txBody>
          <a:bodyPr wrap="square" lIns="0" rIns="0" tIns="0" bIns="0" anchor="ctr">
            <a:spAutoFit/>
          </a:bodyPr>
          <a:lstStyle/>
          <a:p>
            <a:pPr algn="ctr">
              <a:spcAft>
                <a:spcPts val="600"/>
              </a:spcAft>
            </a:pPr>
            <a:r>
              <a:rPr sz="1700" b="1">
                <a:solidFill>
                  <a:srgbClr val="171717"/>
                </a:solidFill>
                <a:latin typeface="Malgun Gothic"/>
              </a:rPr>
              <a:t>맥락</a:t>
            </a:r>
          </a:p>
        </p:txBody>
      </p:sp>
      <p:sp>
        <p:nvSpPr>
          <p:cNvPr id="15" name="TextBox 14"/>
          <p:cNvSpPr txBox="1"/>
          <p:nvPr/>
        </p:nvSpPr>
        <p:spPr>
          <a:xfrm>
            <a:off x="3364991" y="4114800"/>
            <a:ext cx="393192" cy="365760"/>
          </a:xfrm>
          <a:prstGeom prst="rect">
            <a:avLst/>
          </a:prstGeom>
          <a:noFill/>
        </p:spPr>
        <p:txBody>
          <a:bodyPr wrap="square" lIns="0" rIns="0" tIns="0" bIns="0" anchor="ctr">
            <a:spAutoFit/>
          </a:bodyPr>
          <a:lstStyle/>
          <a:p>
            <a:pPr algn="ctr">
              <a:spcAft>
                <a:spcPts val="500"/>
              </a:spcAft>
            </a:pPr>
            <a:r>
              <a:rPr sz="2500" b="0">
                <a:solidFill>
                  <a:srgbClr val="24805B"/>
                </a:solidFill>
                <a:latin typeface="Malgun Gothic"/>
              </a:rPr>
              <a:t>→</a:t>
            </a:r>
          </a:p>
        </p:txBody>
      </p:sp>
      <p:sp>
        <p:nvSpPr>
          <p:cNvPr id="16" name="Rounded Rectangle 15"/>
          <p:cNvSpPr/>
          <p:nvPr/>
        </p:nvSpPr>
        <p:spPr>
          <a:xfrm>
            <a:off x="3803904" y="3977639"/>
            <a:ext cx="1975104" cy="640080"/>
          </a:xfrm>
          <a:prstGeom prst="roundRect">
            <a:avLst>
              <a:gd name="adj" fmla="val 3500"/>
            </a:avLst>
          </a:prstGeom>
          <a:solidFill>
            <a:srgbClr val="FFFFFF"/>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13632" y="4087368"/>
            <a:ext cx="1755648" cy="320040"/>
          </a:xfrm>
          <a:prstGeom prst="rect">
            <a:avLst/>
          </a:prstGeom>
          <a:noFill/>
        </p:spPr>
        <p:txBody>
          <a:bodyPr wrap="square" lIns="0" rIns="0" tIns="0" bIns="0" anchor="ctr">
            <a:spAutoFit/>
          </a:bodyPr>
          <a:lstStyle/>
          <a:p>
            <a:pPr algn="ctr">
              <a:spcAft>
                <a:spcPts val="600"/>
              </a:spcAft>
            </a:pPr>
            <a:r>
              <a:rPr sz="1700" b="1">
                <a:solidFill>
                  <a:srgbClr val="171717"/>
                </a:solidFill>
                <a:latin typeface="Malgun Gothic"/>
              </a:rPr>
              <a:t>문제</a:t>
            </a:r>
          </a:p>
        </p:txBody>
      </p:sp>
      <p:sp>
        <p:nvSpPr>
          <p:cNvPr id="18" name="TextBox 17"/>
          <p:cNvSpPr txBox="1"/>
          <p:nvPr/>
        </p:nvSpPr>
        <p:spPr>
          <a:xfrm>
            <a:off x="5806440" y="4114800"/>
            <a:ext cx="393192" cy="365760"/>
          </a:xfrm>
          <a:prstGeom prst="rect">
            <a:avLst/>
          </a:prstGeom>
          <a:noFill/>
        </p:spPr>
        <p:txBody>
          <a:bodyPr wrap="square" lIns="0" rIns="0" tIns="0" bIns="0" anchor="ctr">
            <a:spAutoFit/>
          </a:bodyPr>
          <a:lstStyle/>
          <a:p>
            <a:pPr algn="ctr">
              <a:spcAft>
                <a:spcPts val="500"/>
              </a:spcAft>
            </a:pPr>
            <a:r>
              <a:rPr sz="2500" b="0">
                <a:solidFill>
                  <a:srgbClr val="24805B"/>
                </a:solidFill>
                <a:latin typeface="Malgun Gothic"/>
              </a:rPr>
              <a:t>→</a:t>
            </a:r>
          </a:p>
        </p:txBody>
      </p:sp>
      <p:sp>
        <p:nvSpPr>
          <p:cNvPr id="19" name="Rounded Rectangle 18"/>
          <p:cNvSpPr/>
          <p:nvPr/>
        </p:nvSpPr>
        <p:spPr>
          <a:xfrm>
            <a:off x="6245352" y="3977639"/>
            <a:ext cx="1975104" cy="640080"/>
          </a:xfrm>
          <a:prstGeom prst="roundRect">
            <a:avLst>
              <a:gd name="adj" fmla="val 3500"/>
            </a:avLst>
          </a:prstGeom>
          <a:solidFill>
            <a:srgbClr val="FFFFFF"/>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087368"/>
            <a:ext cx="1755648" cy="320040"/>
          </a:xfrm>
          <a:prstGeom prst="rect">
            <a:avLst/>
          </a:prstGeom>
          <a:noFill/>
        </p:spPr>
        <p:txBody>
          <a:bodyPr wrap="square" lIns="0" rIns="0" tIns="0" bIns="0" anchor="ctr">
            <a:spAutoFit/>
          </a:bodyPr>
          <a:lstStyle/>
          <a:p>
            <a:pPr algn="ctr">
              <a:spcAft>
                <a:spcPts val="600"/>
              </a:spcAft>
            </a:pPr>
            <a:r>
              <a:rPr sz="1700" b="1">
                <a:solidFill>
                  <a:srgbClr val="171717"/>
                </a:solidFill>
                <a:latin typeface="Malgun Gothic"/>
              </a:rPr>
              <a:t>검색</a:t>
            </a:r>
          </a:p>
        </p:txBody>
      </p:sp>
      <p:sp>
        <p:nvSpPr>
          <p:cNvPr id="21" name="TextBox 20"/>
          <p:cNvSpPr txBox="1"/>
          <p:nvPr/>
        </p:nvSpPr>
        <p:spPr>
          <a:xfrm>
            <a:off x="8247888" y="4114800"/>
            <a:ext cx="393192" cy="365760"/>
          </a:xfrm>
          <a:prstGeom prst="rect">
            <a:avLst/>
          </a:prstGeom>
          <a:noFill/>
        </p:spPr>
        <p:txBody>
          <a:bodyPr wrap="square" lIns="0" rIns="0" tIns="0" bIns="0" anchor="ctr">
            <a:spAutoFit/>
          </a:bodyPr>
          <a:lstStyle/>
          <a:p>
            <a:pPr algn="ctr">
              <a:spcAft>
                <a:spcPts val="500"/>
              </a:spcAft>
            </a:pPr>
            <a:r>
              <a:rPr sz="2500" b="0">
                <a:solidFill>
                  <a:srgbClr val="24805B"/>
                </a:solidFill>
                <a:latin typeface="Malgun Gothic"/>
              </a:rPr>
              <a:t>→</a:t>
            </a:r>
          </a:p>
        </p:txBody>
      </p:sp>
      <p:sp>
        <p:nvSpPr>
          <p:cNvPr id="22" name="Rounded Rectangle 21"/>
          <p:cNvSpPr/>
          <p:nvPr/>
        </p:nvSpPr>
        <p:spPr>
          <a:xfrm>
            <a:off x="8686800" y="3977639"/>
            <a:ext cx="1975104" cy="640080"/>
          </a:xfrm>
          <a:prstGeom prst="roundRect">
            <a:avLst>
              <a:gd name="adj" fmla="val 3500"/>
            </a:avLst>
          </a:prstGeom>
          <a:solidFill>
            <a:srgbClr val="FFFFFF"/>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96528" y="4087368"/>
            <a:ext cx="1755648" cy="320040"/>
          </a:xfrm>
          <a:prstGeom prst="rect">
            <a:avLst/>
          </a:prstGeom>
          <a:noFill/>
        </p:spPr>
        <p:txBody>
          <a:bodyPr wrap="square" lIns="0" rIns="0" tIns="0" bIns="0" anchor="ctr">
            <a:spAutoFit/>
          </a:bodyPr>
          <a:lstStyle/>
          <a:p>
            <a:pPr algn="ctr">
              <a:spcAft>
                <a:spcPts val="600"/>
              </a:spcAft>
            </a:pPr>
            <a:r>
              <a:rPr sz="1700" b="1">
                <a:solidFill>
                  <a:srgbClr val="171717"/>
                </a:solidFill>
                <a:latin typeface="Malgun Gothic"/>
              </a:rPr>
              <a:t>응답</a:t>
            </a:r>
          </a:p>
        </p:txBody>
      </p:sp>
      <p:sp>
        <p:nvSpPr>
          <p:cNvPr id="24" name="TextBox 23"/>
          <p:cNvSpPr txBox="1"/>
          <p:nvPr/>
        </p:nvSpPr>
        <p:spPr>
          <a:xfrm>
            <a:off x="777240" y="5641848"/>
            <a:ext cx="5120640" cy="310896"/>
          </a:xfrm>
          <a:prstGeom prst="rect">
            <a:avLst/>
          </a:prstGeom>
          <a:noFill/>
        </p:spPr>
        <p:txBody>
          <a:bodyPr wrap="square" lIns="0" rIns="0" tIns="0" bIns="0" anchor="ctr">
            <a:spAutoFit/>
          </a:bodyPr>
          <a:lstStyle/>
          <a:p>
            <a:pPr algn="l">
              <a:spcAft>
                <a:spcPts val="600"/>
              </a:spcAft>
            </a:pPr>
            <a:r>
              <a:rPr sz="1400" b="0">
                <a:solidFill>
                  <a:srgbClr val="707070"/>
                </a:solidFill>
                <a:latin typeface="Malgun Gothic"/>
              </a:rPr>
              <a:t>Java · 서비스 · DB</a:t>
            </a:r>
          </a:p>
        </p:txBody>
      </p:sp>
      <p:sp>
        <p:nvSpPr>
          <p:cNvPr id="25" name="TextBox 24"/>
          <p:cNvSpPr txBox="1"/>
          <p:nvPr/>
        </p:nvSpPr>
        <p:spPr>
          <a:xfrm>
            <a:off x="6281928" y="5641848"/>
            <a:ext cx="5120640" cy="310896"/>
          </a:xfrm>
          <a:prstGeom prst="rect">
            <a:avLst/>
          </a:prstGeom>
          <a:noFill/>
        </p:spPr>
        <p:txBody>
          <a:bodyPr wrap="square" lIns="0" rIns="0" tIns="0" bIns="0" anchor="ctr">
            <a:spAutoFit/>
          </a:bodyPr>
          <a:lstStyle/>
          <a:p>
            <a:pPr algn="l">
              <a:spcAft>
                <a:spcPts val="600"/>
              </a:spcAft>
            </a:pPr>
            <a:r>
              <a:rPr sz="1400" b="0">
                <a:solidFill>
                  <a:srgbClr val="707070"/>
                </a:solidFill>
                <a:latin typeface="Malgun Gothic"/>
              </a:rPr>
              <a:t>Python · AI 처리</a:t>
            </a:r>
          </a:p>
        </p:txBody>
      </p:sp>
      <p:sp>
        <p:nvSpPr>
          <p:cNvPr id="26" name="TextBox 25"/>
          <p:cNvSpPr txBox="1"/>
          <p:nvPr/>
        </p:nvSpPr>
        <p:spPr>
          <a:xfrm>
            <a:off x="777240" y="5925312"/>
            <a:ext cx="10515600" cy="338328"/>
          </a:xfrm>
          <a:prstGeom prst="rect">
            <a:avLst/>
          </a:prstGeom>
          <a:noFill/>
        </p:spPr>
        <p:txBody>
          <a:bodyPr wrap="square" lIns="0" rIns="0" tIns="0" bIns="0" anchor="ctr">
            <a:spAutoFit/>
          </a:bodyPr>
          <a:lstStyle/>
          <a:p>
            <a:pPr algn="l">
              <a:spcAft>
                <a:spcPts val="600"/>
              </a:spcAft>
            </a:pPr>
            <a:r>
              <a:rPr sz="1400" b="1">
                <a:solidFill>
                  <a:srgbClr val="24805B"/>
                </a:solidFill>
                <a:latin typeface="Malgun Gothic"/>
              </a:rPr>
              <a:t>입출력과 처리 제어의 분리</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777240" y="384048"/>
            <a:ext cx="7955279" cy="256032"/>
          </a:xfrm>
          <a:prstGeom prst="rect">
            <a:avLst/>
          </a:prstGeom>
          <a:noFill/>
        </p:spPr>
        <p:txBody>
          <a:bodyPr wrap="square" lIns="0" rIns="0" tIns="0" bIns="0" anchor="ctr">
            <a:spAutoFit/>
          </a:bodyPr>
          <a:lstStyle/>
          <a:p>
            <a:pPr algn="l">
              <a:spcAft>
                <a:spcPts val="500"/>
              </a:spcAft>
            </a:pPr>
            <a:r>
              <a:rPr sz="1050" b="1">
                <a:solidFill>
                  <a:srgbClr val="707070"/>
                </a:solidFill>
                <a:latin typeface="Malgun Gothic"/>
              </a:rPr>
              <a:t>TECHNICAL DESIGN · SECTION 03</a:t>
            </a:r>
          </a:p>
        </p:txBody>
      </p:sp>
      <p:sp>
        <p:nvSpPr>
          <p:cNvPr id="3" name="TextBox 2"/>
          <p:cNvSpPr txBox="1"/>
          <p:nvPr/>
        </p:nvSpPr>
        <p:spPr>
          <a:xfrm>
            <a:off x="777240" y="804672"/>
            <a:ext cx="10652760" cy="566928"/>
          </a:xfrm>
          <a:prstGeom prst="rect">
            <a:avLst/>
          </a:prstGeom>
          <a:noFill/>
        </p:spPr>
        <p:txBody>
          <a:bodyPr wrap="square" lIns="0" rIns="0" tIns="0" bIns="0" anchor="ctr">
            <a:spAutoFit/>
          </a:bodyPr>
          <a:lstStyle/>
          <a:p>
            <a:pPr algn="l">
              <a:spcAft>
                <a:spcPts val="600"/>
              </a:spcAft>
            </a:pPr>
            <a:r>
              <a:rPr sz="2900" b="1">
                <a:solidFill>
                  <a:srgbClr val="171717"/>
                </a:solidFill>
                <a:latin typeface="Malgun Gothic"/>
              </a:rPr>
              <a:t>대화에서 사용자 맥락으로</a:t>
            </a:r>
          </a:p>
        </p:txBody>
      </p:sp>
      <p:cxnSp>
        <p:nvCxnSpPr>
          <p:cNvPr id="4" name="Connector 3"/>
          <p:cNvCxnSpPr/>
          <p:nvPr/>
        </p:nvCxnSpPr>
        <p:spPr>
          <a:xfrm>
            <a:off x="777240" y="1508760"/>
            <a:ext cx="10634472" cy="0"/>
          </a:xfrm>
          <a:prstGeom prst="line">
            <a:avLst/>
          </a:prstGeom>
          <a:ln w="8890">
            <a:solidFill>
              <a:srgbClr val="E7E7E7"/>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631936" y="338328"/>
            <a:ext cx="2779776" cy="365760"/>
          </a:xfrm>
          <a:prstGeom prst="roundRect">
            <a:avLst>
              <a:gd name="adj" fmla="val 3500"/>
            </a:avLst>
          </a:prstGeom>
          <a:solidFill>
            <a:srgbClr val="EAF5EE"/>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23376" y="365760"/>
            <a:ext cx="2596896" cy="292608"/>
          </a:xfrm>
          <a:prstGeom prst="rect">
            <a:avLst/>
          </a:prstGeom>
          <a:noFill/>
        </p:spPr>
        <p:txBody>
          <a:bodyPr wrap="square" lIns="0" rIns="0" tIns="0" bIns="0" anchor="ctr">
            <a:spAutoFit/>
          </a:bodyPr>
          <a:lstStyle/>
          <a:p>
            <a:pPr algn="ctr">
              <a:spcAft>
                <a:spcPts val="500"/>
              </a:spcAft>
            </a:pPr>
            <a:r>
              <a:rPr sz="1070" b="1">
                <a:solidFill>
                  <a:srgbClr val="24805B"/>
                </a:solidFill>
                <a:latin typeface="Malgun Gothic"/>
              </a:rPr>
              <a:t>확장 설계안 · 미구현</a:t>
            </a:r>
          </a:p>
        </p:txBody>
      </p:sp>
      <p:sp>
        <p:nvSpPr>
          <p:cNvPr id="7" name="TextBox 6"/>
          <p:cNvSpPr txBox="1"/>
          <p:nvPr/>
        </p:nvSpPr>
        <p:spPr>
          <a:xfrm>
            <a:off x="10652760" y="6437376"/>
            <a:ext cx="758952" cy="219456"/>
          </a:xfrm>
          <a:prstGeom prst="rect">
            <a:avLst/>
          </a:prstGeom>
          <a:noFill/>
        </p:spPr>
        <p:txBody>
          <a:bodyPr wrap="square" lIns="0" rIns="0" tIns="0" bIns="0" anchor="ctr">
            <a:spAutoFit/>
          </a:bodyPr>
          <a:lstStyle/>
          <a:p>
            <a:pPr algn="r">
              <a:spcAft>
                <a:spcPts val="500"/>
              </a:spcAft>
            </a:pPr>
            <a:r>
              <a:rPr sz="1000" b="0">
                <a:solidFill>
                  <a:srgbClr val="707070"/>
                </a:solidFill>
                <a:latin typeface="Malgun Gothic"/>
              </a:rPr>
              <a:t>03 / 07</a:t>
            </a:r>
          </a:p>
        </p:txBody>
      </p:sp>
      <p:sp>
        <p:nvSpPr>
          <p:cNvPr id="8" name="Rounded Rectangle 7"/>
          <p:cNvSpPr/>
          <p:nvPr/>
        </p:nvSpPr>
        <p:spPr>
          <a:xfrm>
            <a:off x="777240" y="2011680"/>
            <a:ext cx="3154680" cy="3218688"/>
          </a:xfrm>
          <a:prstGeom prst="roundRect">
            <a:avLst>
              <a:gd name="adj" fmla="val 3500"/>
            </a:avLst>
          </a:prstGeom>
          <a:solidFill>
            <a:srgbClr val="FAFAFA"/>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249424"/>
            <a:ext cx="2697480" cy="411480"/>
          </a:xfrm>
          <a:prstGeom prst="rect">
            <a:avLst/>
          </a:prstGeom>
          <a:noFill/>
        </p:spPr>
        <p:txBody>
          <a:bodyPr wrap="square" lIns="0" rIns="0" tIns="0" bIns="0" anchor="ctr">
            <a:spAutoFit/>
          </a:bodyPr>
          <a:lstStyle/>
          <a:p>
            <a:pPr algn="l">
              <a:spcAft>
                <a:spcPts val="500"/>
              </a:spcAft>
            </a:pPr>
            <a:r>
              <a:rPr sz="2000" b="1">
                <a:solidFill>
                  <a:srgbClr val="171717"/>
                </a:solidFill>
                <a:latin typeface="Malgun Gothic"/>
              </a:rPr>
              <a:t>원본 대화</a:t>
            </a:r>
          </a:p>
        </p:txBody>
      </p:sp>
      <p:sp>
        <p:nvSpPr>
          <p:cNvPr id="10" name="TextBox 9"/>
          <p:cNvSpPr txBox="1"/>
          <p:nvPr/>
        </p:nvSpPr>
        <p:spPr>
          <a:xfrm>
            <a:off x="1005840" y="2916936"/>
            <a:ext cx="2697480" cy="2130552"/>
          </a:xfrm>
          <a:prstGeom prst="rect">
            <a:avLst/>
          </a:prstGeom>
          <a:noFill/>
        </p:spPr>
        <p:txBody>
          <a:bodyPr wrap="square" lIns="0" rIns="0" tIns="0" bIns="0" anchor="ctr">
            <a:spAutoFit/>
          </a:bodyPr>
          <a:lstStyle/>
          <a:p>
            <a:pPr algn="l">
              <a:spcAft>
                <a:spcPts val="600"/>
              </a:spcAft>
            </a:pPr>
            <a:r>
              <a:rPr sz="1700" b="0">
                <a:solidFill>
                  <a:srgbClr val="707070"/>
                </a:solidFill>
                <a:latin typeface="Malgun Gothic"/>
              </a:rPr>
              <a:t>발화 · 시점</a:t>
            </a:r>
          </a:p>
        </p:txBody>
      </p:sp>
      <p:sp>
        <p:nvSpPr>
          <p:cNvPr id="11" name="Rounded Rectangle 10"/>
          <p:cNvSpPr/>
          <p:nvPr/>
        </p:nvSpPr>
        <p:spPr>
          <a:xfrm>
            <a:off x="4517136" y="2011680"/>
            <a:ext cx="3154680" cy="3218688"/>
          </a:xfrm>
          <a:prstGeom prst="roundRect">
            <a:avLst>
              <a:gd name="adj" fmla="val 3500"/>
            </a:avLst>
          </a:prstGeom>
          <a:solidFill>
            <a:srgbClr val="1C1C1C"/>
          </a:solidFill>
          <a:ln w="8890">
            <a:solidFill>
              <a:srgbClr val="1C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45736" y="2249424"/>
            <a:ext cx="2697480" cy="411480"/>
          </a:xfrm>
          <a:prstGeom prst="rect">
            <a:avLst/>
          </a:prstGeom>
          <a:noFill/>
        </p:spPr>
        <p:txBody>
          <a:bodyPr wrap="square" lIns="0" rIns="0" tIns="0" bIns="0" anchor="ctr">
            <a:spAutoFit/>
          </a:bodyPr>
          <a:lstStyle/>
          <a:p>
            <a:pPr algn="l">
              <a:spcAft>
                <a:spcPts val="500"/>
              </a:spcAft>
            </a:pPr>
            <a:r>
              <a:rPr sz="2000" b="1">
                <a:solidFill>
                  <a:srgbClr val="FFFFFF"/>
                </a:solidFill>
                <a:latin typeface="Malgun Gothic"/>
              </a:rPr>
              <a:t>메모리 후보</a:t>
            </a:r>
          </a:p>
        </p:txBody>
      </p:sp>
      <p:sp>
        <p:nvSpPr>
          <p:cNvPr id="13" name="TextBox 12"/>
          <p:cNvSpPr txBox="1"/>
          <p:nvPr/>
        </p:nvSpPr>
        <p:spPr>
          <a:xfrm>
            <a:off x="4745736" y="2916936"/>
            <a:ext cx="2697480" cy="2130552"/>
          </a:xfrm>
          <a:prstGeom prst="rect">
            <a:avLst/>
          </a:prstGeom>
          <a:noFill/>
        </p:spPr>
        <p:txBody>
          <a:bodyPr wrap="square" lIns="0" rIns="0" tIns="0" bIns="0" anchor="ctr">
            <a:spAutoFit/>
          </a:bodyPr>
          <a:lstStyle/>
          <a:p>
            <a:pPr algn="l">
              <a:spcAft>
                <a:spcPts val="600"/>
              </a:spcAft>
            </a:pPr>
            <a:r>
              <a:rPr sz="1700" b="0">
                <a:solidFill>
                  <a:srgbClr val="DDDDDD"/>
                </a:solidFill>
                <a:latin typeface="Malgun Gothic"/>
              </a:rPr>
              <a:t>고민 · 목표 · 시도</a:t>
            </a:r>
          </a:p>
        </p:txBody>
      </p:sp>
      <p:sp>
        <p:nvSpPr>
          <p:cNvPr id="14" name="Rounded Rectangle 13"/>
          <p:cNvSpPr/>
          <p:nvPr/>
        </p:nvSpPr>
        <p:spPr>
          <a:xfrm>
            <a:off x="8257031" y="2011680"/>
            <a:ext cx="3154680" cy="3218688"/>
          </a:xfrm>
          <a:prstGeom prst="roundRect">
            <a:avLst>
              <a:gd name="adj" fmla="val 3500"/>
            </a:avLst>
          </a:prstGeom>
          <a:solidFill>
            <a:srgbClr val="FAFAFA"/>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85632" y="2249424"/>
            <a:ext cx="2697480" cy="411480"/>
          </a:xfrm>
          <a:prstGeom prst="rect">
            <a:avLst/>
          </a:prstGeom>
          <a:noFill/>
        </p:spPr>
        <p:txBody>
          <a:bodyPr wrap="square" lIns="0" rIns="0" tIns="0" bIns="0" anchor="ctr">
            <a:spAutoFit/>
          </a:bodyPr>
          <a:lstStyle/>
          <a:p>
            <a:pPr algn="l">
              <a:spcAft>
                <a:spcPts val="500"/>
              </a:spcAft>
            </a:pPr>
            <a:r>
              <a:rPr sz="2000" b="1">
                <a:solidFill>
                  <a:srgbClr val="171717"/>
                </a:solidFill>
                <a:latin typeface="Malgun Gothic"/>
              </a:rPr>
              <a:t>회원별 맥락</a:t>
            </a:r>
          </a:p>
        </p:txBody>
      </p:sp>
      <p:sp>
        <p:nvSpPr>
          <p:cNvPr id="16" name="TextBox 15"/>
          <p:cNvSpPr txBox="1"/>
          <p:nvPr/>
        </p:nvSpPr>
        <p:spPr>
          <a:xfrm>
            <a:off x="8485632" y="2916936"/>
            <a:ext cx="2697480" cy="2130552"/>
          </a:xfrm>
          <a:prstGeom prst="rect">
            <a:avLst/>
          </a:prstGeom>
          <a:noFill/>
        </p:spPr>
        <p:txBody>
          <a:bodyPr wrap="square" lIns="0" rIns="0" tIns="0" bIns="0" anchor="ctr">
            <a:spAutoFit/>
          </a:bodyPr>
          <a:lstStyle/>
          <a:p>
            <a:pPr algn="l">
              <a:spcAft>
                <a:spcPts val="600"/>
              </a:spcAft>
            </a:pPr>
            <a:r>
              <a:rPr sz="1700" b="0">
                <a:solidFill>
                  <a:srgbClr val="707070"/>
                </a:solidFill>
                <a:latin typeface="Malgun Gothic"/>
              </a:rPr>
              <a:t>근거 · 갱신</a:t>
            </a:r>
          </a:p>
        </p:txBody>
      </p:sp>
      <p:sp>
        <p:nvSpPr>
          <p:cNvPr id="17" name="TextBox 16"/>
          <p:cNvSpPr txBox="1"/>
          <p:nvPr/>
        </p:nvSpPr>
        <p:spPr>
          <a:xfrm>
            <a:off x="4005072" y="3355848"/>
            <a:ext cx="457200" cy="365760"/>
          </a:xfrm>
          <a:prstGeom prst="rect">
            <a:avLst/>
          </a:prstGeom>
          <a:noFill/>
        </p:spPr>
        <p:txBody>
          <a:bodyPr wrap="square" lIns="0" rIns="0" tIns="0" bIns="0" anchor="ctr">
            <a:spAutoFit/>
          </a:bodyPr>
          <a:lstStyle/>
          <a:p>
            <a:pPr algn="ctr">
              <a:spcAft>
                <a:spcPts val="500"/>
              </a:spcAft>
            </a:pPr>
            <a:r>
              <a:rPr sz="2500" b="0">
                <a:solidFill>
                  <a:srgbClr val="24805B"/>
                </a:solidFill>
                <a:latin typeface="Malgun Gothic"/>
              </a:rPr>
              <a:t>→</a:t>
            </a:r>
          </a:p>
        </p:txBody>
      </p:sp>
      <p:sp>
        <p:nvSpPr>
          <p:cNvPr id="18" name="TextBox 17"/>
          <p:cNvSpPr txBox="1"/>
          <p:nvPr/>
        </p:nvSpPr>
        <p:spPr>
          <a:xfrm>
            <a:off x="7744968" y="3355848"/>
            <a:ext cx="457200" cy="365760"/>
          </a:xfrm>
          <a:prstGeom prst="rect">
            <a:avLst/>
          </a:prstGeom>
          <a:noFill/>
        </p:spPr>
        <p:txBody>
          <a:bodyPr wrap="square" lIns="0" rIns="0" tIns="0" bIns="0" anchor="ctr">
            <a:spAutoFit/>
          </a:bodyPr>
          <a:lstStyle/>
          <a:p>
            <a:pPr algn="ctr">
              <a:spcAft>
                <a:spcPts val="500"/>
              </a:spcAft>
            </a:pPr>
            <a:r>
              <a:rPr sz="2500" b="0">
                <a:solidFill>
                  <a:srgbClr val="24805B"/>
                </a:solidFill>
                <a:latin typeface="Malgun Gothic"/>
              </a:rPr>
              <a:t>→</a:t>
            </a:r>
          </a:p>
        </p:txBody>
      </p:sp>
      <p:sp>
        <p:nvSpPr>
          <p:cNvPr id="19" name="Rounded Rectangle 18"/>
          <p:cNvSpPr/>
          <p:nvPr/>
        </p:nvSpPr>
        <p:spPr>
          <a:xfrm>
            <a:off x="777240" y="5449824"/>
            <a:ext cx="10634472" cy="484632"/>
          </a:xfrm>
          <a:prstGeom prst="roundRect">
            <a:avLst>
              <a:gd name="adj" fmla="val 3500"/>
            </a:avLst>
          </a:prstGeom>
          <a:solidFill>
            <a:srgbClr val="FAFAFA"/>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522976"/>
            <a:ext cx="10149840" cy="310896"/>
          </a:xfrm>
          <a:prstGeom prst="rect">
            <a:avLst/>
          </a:prstGeom>
          <a:noFill/>
        </p:spPr>
        <p:txBody>
          <a:bodyPr wrap="square" lIns="0" rIns="0" tIns="0" bIns="0" anchor="ctr">
            <a:spAutoFit/>
          </a:bodyPr>
          <a:lstStyle/>
          <a:p>
            <a:pPr algn="l">
              <a:spcAft>
                <a:spcPts val="600"/>
              </a:spcAft>
            </a:pPr>
            <a:r>
              <a:rPr sz="1400" b="0">
                <a:solidFill>
                  <a:srgbClr val="707070"/>
                </a:solidFill>
                <a:latin typeface="Malgun Gothic"/>
              </a:rPr>
              <a:t>발화 근거 · 시점 · 범위</a:t>
            </a:r>
          </a:p>
        </p:txBody>
      </p:sp>
      <p:sp>
        <p:nvSpPr>
          <p:cNvPr id="21" name="TextBox 20"/>
          <p:cNvSpPr txBox="1"/>
          <p:nvPr/>
        </p:nvSpPr>
        <p:spPr>
          <a:xfrm>
            <a:off x="777240" y="5925312"/>
            <a:ext cx="10515600" cy="338328"/>
          </a:xfrm>
          <a:prstGeom prst="rect">
            <a:avLst/>
          </a:prstGeom>
          <a:noFill/>
        </p:spPr>
        <p:txBody>
          <a:bodyPr wrap="square" lIns="0" rIns="0" tIns="0" bIns="0" anchor="ctr">
            <a:spAutoFit/>
          </a:bodyPr>
          <a:lstStyle/>
          <a:p>
            <a:pPr algn="l">
              <a:spcAft>
                <a:spcPts val="600"/>
              </a:spcAft>
            </a:pPr>
            <a:r>
              <a:rPr sz="1400" b="1">
                <a:solidFill>
                  <a:srgbClr val="24805B"/>
                </a:solidFill>
                <a:latin typeface="Malgun Gothic"/>
              </a:rPr>
              <a:t>원본 보존 · 맥락 갱신</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777240" y="384048"/>
            <a:ext cx="7955279" cy="256032"/>
          </a:xfrm>
          <a:prstGeom prst="rect">
            <a:avLst/>
          </a:prstGeom>
          <a:noFill/>
        </p:spPr>
        <p:txBody>
          <a:bodyPr wrap="square" lIns="0" rIns="0" tIns="0" bIns="0" anchor="ctr">
            <a:spAutoFit/>
          </a:bodyPr>
          <a:lstStyle/>
          <a:p>
            <a:pPr algn="l">
              <a:spcAft>
                <a:spcPts val="500"/>
              </a:spcAft>
            </a:pPr>
            <a:r>
              <a:rPr sz="1050" b="1">
                <a:solidFill>
                  <a:srgbClr val="707070"/>
                </a:solidFill>
                <a:latin typeface="Malgun Gothic"/>
              </a:rPr>
              <a:t>TECHNICAL DESIGN · SECTION 04</a:t>
            </a:r>
          </a:p>
        </p:txBody>
      </p:sp>
      <p:sp>
        <p:nvSpPr>
          <p:cNvPr id="3" name="TextBox 2"/>
          <p:cNvSpPr txBox="1"/>
          <p:nvPr/>
        </p:nvSpPr>
        <p:spPr>
          <a:xfrm>
            <a:off x="777240" y="804672"/>
            <a:ext cx="10652760" cy="566928"/>
          </a:xfrm>
          <a:prstGeom prst="rect">
            <a:avLst/>
          </a:prstGeom>
          <a:noFill/>
        </p:spPr>
        <p:txBody>
          <a:bodyPr wrap="square" lIns="0" rIns="0" tIns="0" bIns="0" anchor="ctr">
            <a:spAutoFit/>
          </a:bodyPr>
          <a:lstStyle/>
          <a:p>
            <a:pPr algn="l">
              <a:spcAft>
                <a:spcPts val="600"/>
              </a:spcAft>
            </a:pPr>
            <a:r>
              <a:rPr sz="2900" b="1">
                <a:solidFill>
                  <a:srgbClr val="171717"/>
                </a:solidFill>
                <a:latin typeface="Malgun Gothic"/>
              </a:rPr>
              <a:t>RAG · 두 가지 검색</a:t>
            </a:r>
          </a:p>
        </p:txBody>
      </p:sp>
      <p:cxnSp>
        <p:nvCxnSpPr>
          <p:cNvPr id="4" name="Connector 3"/>
          <p:cNvCxnSpPr/>
          <p:nvPr/>
        </p:nvCxnSpPr>
        <p:spPr>
          <a:xfrm>
            <a:off x="777240" y="1508760"/>
            <a:ext cx="10634472" cy="0"/>
          </a:xfrm>
          <a:prstGeom prst="line">
            <a:avLst/>
          </a:prstGeom>
          <a:ln w="8890">
            <a:solidFill>
              <a:srgbClr val="E7E7E7"/>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631936" y="338328"/>
            <a:ext cx="2779776" cy="365760"/>
          </a:xfrm>
          <a:prstGeom prst="roundRect">
            <a:avLst>
              <a:gd name="adj" fmla="val 3500"/>
            </a:avLst>
          </a:prstGeom>
          <a:solidFill>
            <a:srgbClr val="EAF5EE"/>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23376" y="365760"/>
            <a:ext cx="2596896" cy="292608"/>
          </a:xfrm>
          <a:prstGeom prst="rect">
            <a:avLst/>
          </a:prstGeom>
          <a:noFill/>
        </p:spPr>
        <p:txBody>
          <a:bodyPr wrap="square" lIns="0" rIns="0" tIns="0" bIns="0" anchor="ctr">
            <a:spAutoFit/>
          </a:bodyPr>
          <a:lstStyle/>
          <a:p>
            <a:pPr algn="ctr">
              <a:spcAft>
                <a:spcPts val="500"/>
              </a:spcAft>
            </a:pPr>
            <a:r>
              <a:rPr sz="1070" b="1">
                <a:solidFill>
                  <a:srgbClr val="24805B"/>
                </a:solidFill>
                <a:latin typeface="Malgun Gothic"/>
              </a:rPr>
              <a:t>검색 연결 설계 · 미구현</a:t>
            </a:r>
          </a:p>
        </p:txBody>
      </p:sp>
      <p:sp>
        <p:nvSpPr>
          <p:cNvPr id="7" name="TextBox 6"/>
          <p:cNvSpPr txBox="1"/>
          <p:nvPr/>
        </p:nvSpPr>
        <p:spPr>
          <a:xfrm>
            <a:off x="10652760" y="6437376"/>
            <a:ext cx="758952" cy="219456"/>
          </a:xfrm>
          <a:prstGeom prst="rect">
            <a:avLst/>
          </a:prstGeom>
          <a:noFill/>
        </p:spPr>
        <p:txBody>
          <a:bodyPr wrap="square" lIns="0" rIns="0" tIns="0" bIns="0" anchor="ctr">
            <a:spAutoFit/>
          </a:bodyPr>
          <a:lstStyle/>
          <a:p>
            <a:pPr algn="r">
              <a:spcAft>
                <a:spcPts val="500"/>
              </a:spcAft>
            </a:pPr>
            <a:r>
              <a:rPr sz="1000" b="0">
                <a:solidFill>
                  <a:srgbClr val="707070"/>
                </a:solidFill>
                <a:latin typeface="Malgun Gothic"/>
              </a:rPr>
              <a:t>04 / 07</a:t>
            </a:r>
          </a:p>
        </p:txBody>
      </p:sp>
      <p:sp>
        <p:nvSpPr>
          <p:cNvPr id="8" name="Rounded Rectangle 7"/>
          <p:cNvSpPr/>
          <p:nvPr/>
        </p:nvSpPr>
        <p:spPr>
          <a:xfrm>
            <a:off x="777240" y="2075688"/>
            <a:ext cx="2267712" cy="3300984"/>
          </a:xfrm>
          <a:prstGeom prst="roundRect">
            <a:avLst>
              <a:gd name="adj" fmla="val 3500"/>
            </a:avLst>
          </a:prstGeom>
          <a:solidFill>
            <a:srgbClr val="1C1C1C"/>
          </a:solidFill>
          <a:ln w="8890">
            <a:solidFill>
              <a:srgbClr val="1C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487168"/>
            <a:ext cx="1810512" cy="420624"/>
          </a:xfrm>
          <a:prstGeom prst="rect">
            <a:avLst/>
          </a:prstGeom>
          <a:noFill/>
        </p:spPr>
        <p:txBody>
          <a:bodyPr wrap="square" lIns="0" rIns="0" tIns="0" bIns="0" anchor="ctr">
            <a:spAutoFit/>
          </a:bodyPr>
          <a:lstStyle/>
          <a:p>
            <a:pPr algn="l">
              <a:spcAft>
                <a:spcPts val="500"/>
              </a:spcAft>
            </a:pPr>
            <a:r>
              <a:rPr sz="2100" b="1">
                <a:solidFill>
                  <a:srgbClr val="FFFFFF"/>
                </a:solidFill>
                <a:latin typeface="Malgun Gothic"/>
              </a:rPr>
              <a:t>현재 질문</a:t>
            </a:r>
          </a:p>
        </p:txBody>
      </p:sp>
      <p:sp>
        <p:nvSpPr>
          <p:cNvPr id="10" name="TextBox 9"/>
          <p:cNvSpPr txBox="1"/>
          <p:nvPr/>
        </p:nvSpPr>
        <p:spPr>
          <a:xfrm>
            <a:off x="1005840" y="3401568"/>
            <a:ext cx="1810512" cy="1325880"/>
          </a:xfrm>
          <a:prstGeom prst="rect">
            <a:avLst/>
          </a:prstGeom>
          <a:noFill/>
        </p:spPr>
        <p:txBody>
          <a:bodyPr wrap="square" lIns="0" rIns="0" tIns="0" bIns="0" anchor="ctr">
            <a:spAutoFit/>
          </a:bodyPr>
          <a:lstStyle/>
          <a:p>
            <a:pPr algn="l">
              <a:spcAft>
                <a:spcPts val="600"/>
              </a:spcAft>
            </a:pPr>
            <a:r>
              <a:rPr sz="1700" b="0">
                <a:solidFill>
                  <a:srgbClr val="DDDDDD"/>
                </a:solidFill>
                <a:latin typeface="Malgun Gothic"/>
              </a:rPr>
              <a:t>회원</a:t>
            </a:r>
          </a:p>
          <a:p>
            <a:pPr algn="l">
              <a:spcAft>
                <a:spcPts val="600"/>
              </a:spcAft>
            </a:pPr>
            <a:r>
              <a:rPr sz="1700" b="0">
                <a:solidFill>
                  <a:srgbClr val="DDDDDD"/>
                </a:solidFill>
                <a:latin typeface="Malgun Gothic"/>
              </a:rPr>
              <a:t>문제</a:t>
            </a:r>
          </a:p>
          <a:p>
            <a:pPr algn="l">
              <a:spcAft>
                <a:spcPts val="600"/>
              </a:spcAft>
            </a:pPr>
            <a:r>
              <a:rPr sz="1700" b="0">
                <a:solidFill>
                  <a:srgbClr val="DDDDDD"/>
                </a:solidFill>
                <a:latin typeface="Malgun Gothic"/>
              </a:rPr>
              <a:t>조건</a:t>
            </a:r>
          </a:p>
        </p:txBody>
      </p:sp>
      <p:sp>
        <p:nvSpPr>
          <p:cNvPr id="11" name="TextBox 10"/>
          <p:cNvSpPr txBox="1"/>
          <p:nvPr/>
        </p:nvSpPr>
        <p:spPr>
          <a:xfrm>
            <a:off x="3209544" y="3593592"/>
            <a:ext cx="502920" cy="365760"/>
          </a:xfrm>
          <a:prstGeom prst="rect">
            <a:avLst/>
          </a:prstGeom>
          <a:noFill/>
        </p:spPr>
        <p:txBody>
          <a:bodyPr wrap="square" lIns="0" rIns="0" tIns="0" bIns="0" anchor="ctr">
            <a:spAutoFit/>
          </a:bodyPr>
          <a:lstStyle/>
          <a:p>
            <a:pPr algn="ctr">
              <a:spcAft>
                <a:spcPts val="500"/>
              </a:spcAft>
            </a:pPr>
            <a:r>
              <a:rPr sz="2500" b="0">
                <a:solidFill>
                  <a:srgbClr val="24805B"/>
                </a:solidFill>
                <a:latin typeface="Malgun Gothic"/>
              </a:rPr>
              <a:t>→</a:t>
            </a:r>
          </a:p>
        </p:txBody>
      </p:sp>
      <p:sp>
        <p:nvSpPr>
          <p:cNvPr id="12" name="Rounded Rectangle 11"/>
          <p:cNvSpPr/>
          <p:nvPr/>
        </p:nvSpPr>
        <p:spPr>
          <a:xfrm>
            <a:off x="3867912" y="2075688"/>
            <a:ext cx="3758184" cy="1508760"/>
          </a:xfrm>
          <a:prstGeom prst="roundRect">
            <a:avLst>
              <a:gd name="adj" fmla="val 3500"/>
            </a:avLst>
          </a:prstGeom>
          <a:solidFill>
            <a:srgbClr val="FAFAFA"/>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6512" y="2313432"/>
            <a:ext cx="3300984" cy="411480"/>
          </a:xfrm>
          <a:prstGeom prst="rect">
            <a:avLst/>
          </a:prstGeom>
          <a:noFill/>
        </p:spPr>
        <p:txBody>
          <a:bodyPr wrap="square" lIns="0" rIns="0" tIns="0" bIns="0" anchor="ctr">
            <a:spAutoFit/>
          </a:bodyPr>
          <a:lstStyle/>
          <a:p>
            <a:pPr algn="l">
              <a:spcAft>
                <a:spcPts val="600"/>
              </a:spcAft>
            </a:pPr>
            <a:r>
              <a:rPr sz="2000" b="1">
                <a:solidFill>
                  <a:srgbClr val="171717"/>
                </a:solidFill>
                <a:latin typeface="Malgun Gothic"/>
              </a:rPr>
              <a:t>사용자 기록</a:t>
            </a:r>
          </a:p>
        </p:txBody>
      </p:sp>
      <p:sp>
        <p:nvSpPr>
          <p:cNvPr id="14" name="TextBox 13"/>
          <p:cNvSpPr txBox="1"/>
          <p:nvPr/>
        </p:nvSpPr>
        <p:spPr>
          <a:xfrm>
            <a:off x="4096512" y="2980944"/>
            <a:ext cx="3300984" cy="420623"/>
          </a:xfrm>
          <a:prstGeom prst="rect">
            <a:avLst/>
          </a:prstGeom>
          <a:noFill/>
        </p:spPr>
        <p:txBody>
          <a:bodyPr wrap="square" lIns="0" rIns="0" tIns="0" bIns="0" anchor="ctr">
            <a:spAutoFit/>
          </a:bodyPr>
          <a:lstStyle/>
          <a:p>
            <a:pPr algn="l">
              <a:spcAft>
                <a:spcPts val="600"/>
              </a:spcAft>
            </a:pPr>
            <a:r>
              <a:rPr sz="1700" b="0">
                <a:solidFill>
                  <a:srgbClr val="707070"/>
                </a:solidFill>
                <a:latin typeface="Malgun Gothic"/>
              </a:rPr>
              <a:t>고민 · 목표 · 시도</a:t>
            </a:r>
          </a:p>
        </p:txBody>
      </p:sp>
      <p:sp>
        <p:nvSpPr>
          <p:cNvPr id="15" name="Rounded Rectangle 14"/>
          <p:cNvSpPr/>
          <p:nvPr/>
        </p:nvSpPr>
        <p:spPr>
          <a:xfrm>
            <a:off x="3867912" y="3867912"/>
            <a:ext cx="3758184" cy="1508760"/>
          </a:xfrm>
          <a:prstGeom prst="roundRect">
            <a:avLst>
              <a:gd name="adj" fmla="val 3500"/>
            </a:avLst>
          </a:prstGeom>
          <a:solidFill>
            <a:srgbClr val="FAFAFA"/>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6512" y="4105656"/>
            <a:ext cx="3300984" cy="411480"/>
          </a:xfrm>
          <a:prstGeom prst="rect">
            <a:avLst/>
          </a:prstGeom>
          <a:noFill/>
        </p:spPr>
        <p:txBody>
          <a:bodyPr wrap="square" lIns="0" rIns="0" tIns="0" bIns="0" anchor="ctr">
            <a:spAutoFit/>
          </a:bodyPr>
          <a:lstStyle/>
          <a:p>
            <a:pPr algn="l">
              <a:spcAft>
                <a:spcPts val="600"/>
              </a:spcAft>
            </a:pPr>
            <a:r>
              <a:rPr sz="2000" b="1">
                <a:solidFill>
                  <a:srgbClr val="171717"/>
                </a:solidFill>
                <a:latin typeface="Malgun Gothic"/>
              </a:rPr>
              <a:t>전문가 지식</a:t>
            </a:r>
          </a:p>
        </p:txBody>
      </p:sp>
      <p:sp>
        <p:nvSpPr>
          <p:cNvPr id="17" name="TextBox 16"/>
          <p:cNvSpPr txBox="1"/>
          <p:nvPr/>
        </p:nvSpPr>
        <p:spPr>
          <a:xfrm>
            <a:off x="4096512" y="4773168"/>
            <a:ext cx="3300984" cy="420623"/>
          </a:xfrm>
          <a:prstGeom prst="rect">
            <a:avLst/>
          </a:prstGeom>
          <a:noFill/>
        </p:spPr>
        <p:txBody>
          <a:bodyPr wrap="square" lIns="0" rIns="0" tIns="0" bIns="0" anchor="ctr">
            <a:spAutoFit/>
          </a:bodyPr>
          <a:lstStyle/>
          <a:p>
            <a:pPr algn="l">
              <a:spcAft>
                <a:spcPts val="600"/>
              </a:spcAft>
            </a:pPr>
            <a:r>
              <a:rPr sz="1700" b="0">
                <a:solidFill>
                  <a:srgbClr val="707070"/>
                </a:solidFill>
                <a:latin typeface="Malgun Gothic"/>
              </a:rPr>
              <a:t>설명 · 조건 · 출처</a:t>
            </a:r>
          </a:p>
        </p:txBody>
      </p:sp>
      <p:sp>
        <p:nvSpPr>
          <p:cNvPr id="18" name="TextBox 17"/>
          <p:cNvSpPr txBox="1"/>
          <p:nvPr/>
        </p:nvSpPr>
        <p:spPr>
          <a:xfrm>
            <a:off x="7772400" y="3593592"/>
            <a:ext cx="502920" cy="365760"/>
          </a:xfrm>
          <a:prstGeom prst="rect">
            <a:avLst/>
          </a:prstGeom>
          <a:noFill/>
        </p:spPr>
        <p:txBody>
          <a:bodyPr wrap="square" lIns="0" rIns="0" tIns="0" bIns="0" anchor="ctr">
            <a:spAutoFit/>
          </a:bodyPr>
          <a:lstStyle/>
          <a:p>
            <a:pPr algn="ctr">
              <a:spcAft>
                <a:spcPts val="500"/>
              </a:spcAft>
            </a:pPr>
            <a:r>
              <a:rPr sz="2500" b="0">
                <a:solidFill>
                  <a:srgbClr val="24805B"/>
                </a:solidFill>
                <a:latin typeface="Malgun Gothic"/>
              </a:rPr>
              <a:t>→</a:t>
            </a:r>
          </a:p>
        </p:txBody>
      </p:sp>
      <p:sp>
        <p:nvSpPr>
          <p:cNvPr id="19" name="Rounded Rectangle 18"/>
          <p:cNvSpPr/>
          <p:nvPr/>
        </p:nvSpPr>
        <p:spPr>
          <a:xfrm>
            <a:off x="8403336" y="2075688"/>
            <a:ext cx="3008376" cy="3300984"/>
          </a:xfrm>
          <a:prstGeom prst="roundRect">
            <a:avLst>
              <a:gd name="adj" fmla="val 3500"/>
            </a:avLst>
          </a:prstGeom>
          <a:solidFill>
            <a:srgbClr val="1C1C1C"/>
          </a:solidFill>
          <a:ln w="8890">
            <a:solidFill>
              <a:srgbClr val="1C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50224" y="2487168"/>
            <a:ext cx="2514600" cy="420624"/>
          </a:xfrm>
          <a:prstGeom prst="rect">
            <a:avLst/>
          </a:prstGeom>
          <a:noFill/>
        </p:spPr>
        <p:txBody>
          <a:bodyPr wrap="square" lIns="0" rIns="0" tIns="0" bIns="0" anchor="ctr">
            <a:spAutoFit/>
          </a:bodyPr>
          <a:lstStyle/>
          <a:p>
            <a:pPr algn="l">
              <a:spcAft>
                <a:spcPts val="600"/>
              </a:spcAft>
            </a:pPr>
            <a:r>
              <a:rPr sz="2000" b="1">
                <a:solidFill>
                  <a:srgbClr val="FFFFFF"/>
                </a:solidFill>
                <a:latin typeface="Malgun Gothic"/>
              </a:rPr>
              <a:t>답변 근거</a:t>
            </a:r>
          </a:p>
        </p:txBody>
      </p:sp>
      <p:sp>
        <p:nvSpPr>
          <p:cNvPr id="21" name="TextBox 20"/>
          <p:cNvSpPr txBox="1"/>
          <p:nvPr/>
        </p:nvSpPr>
        <p:spPr>
          <a:xfrm>
            <a:off x="8650224" y="3383280"/>
            <a:ext cx="2514600" cy="1325880"/>
          </a:xfrm>
          <a:prstGeom prst="rect">
            <a:avLst/>
          </a:prstGeom>
          <a:noFill/>
        </p:spPr>
        <p:txBody>
          <a:bodyPr wrap="square" lIns="0" rIns="0" tIns="0" bIns="0" anchor="ctr">
            <a:spAutoFit/>
          </a:bodyPr>
          <a:lstStyle/>
          <a:p>
            <a:pPr algn="l">
              <a:spcAft>
                <a:spcPts val="600"/>
              </a:spcAft>
            </a:pPr>
            <a:r>
              <a:rPr sz="1700" b="0">
                <a:solidFill>
                  <a:srgbClr val="DDDDDD"/>
                </a:solidFill>
                <a:latin typeface="Malgun Gothic"/>
              </a:rPr>
              <a:t>개인 맥락</a:t>
            </a:r>
          </a:p>
          <a:p>
            <a:pPr algn="l">
              <a:spcAft>
                <a:spcPts val="600"/>
              </a:spcAft>
            </a:pPr>
            <a:r>
              <a:rPr sz="1700" b="0">
                <a:solidFill>
                  <a:srgbClr val="DDDDDD"/>
                </a:solidFill>
                <a:latin typeface="Malgun Gothic"/>
              </a:rPr>
              <a:t>전문가 설명</a:t>
            </a:r>
          </a:p>
        </p:txBody>
      </p:sp>
      <p:sp>
        <p:nvSpPr>
          <p:cNvPr id="22" name="TextBox 21"/>
          <p:cNvSpPr txBox="1"/>
          <p:nvPr/>
        </p:nvSpPr>
        <p:spPr>
          <a:xfrm>
            <a:off x="777240" y="5596128"/>
            <a:ext cx="10634472" cy="320040"/>
          </a:xfrm>
          <a:prstGeom prst="rect">
            <a:avLst/>
          </a:prstGeom>
          <a:noFill/>
        </p:spPr>
        <p:txBody>
          <a:bodyPr wrap="square" lIns="0" rIns="0" tIns="0" bIns="0" anchor="ctr">
            <a:spAutoFit/>
          </a:bodyPr>
          <a:lstStyle/>
          <a:p>
            <a:pPr algn="l">
              <a:spcAft>
                <a:spcPts val="600"/>
              </a:spcAft>
            </a:pPr>
            <a:r>
              <a:rPr sz="1400" b="0">
                <a:solidFill>
                  <a:srgbClr val="707070"/>
                </a:solidFill>
                <a:latin typeface="Malgun Gothic"/>
              </a:rPr>
              <a:t>필터 → 유사도 → 조건 확인</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777240" y="384048"/>
            <a:ext cx="7955279" cy="256032"/>
          </a:xfrm>
          <a:prstGeom prst="rect">
            <a:avLst/>
          </a:prstGeom>
          <a:noFill/>
        </p:spPr>
        <p:txBody>
          <a:bodyPr wrap="square" lIns="0" rIns="0" tIns="0" bIns="0" anchor="ctr">
            <a:spAutoFit/>
          </a:bodyPr>
          <a:lstStyle/>
          <a:p>
            <a:pPr algn="l">
              <a:spcAft>
                <a:spcPts val="500"/>
              </a:spcAft>
            </a:pPr>
            <a:r>
              <a:rPr sz="1050" b="1">
                <a:solidFill>
                  <a:srgbClr val="707070"/>
                </a:solidFill>
                <a:latin typeface="Malgun Gothic"/>
              </a:rPr>
              <a:t>TECHNICAL DESIGN · SECTION 05</a:t>
            </a:r>
          </a:p>
        </p:txBody>
      </p:sp>
      <p:sp>
        <p:nvSpPr>
          <p:cNvPr id="3" name="TextBox 2"/>
          <p:cNvSpPr txBox="1"/>
          <p:nvPr/>
        </p:nvSpPr>
        <p:spPr>
          <a:xfrm>
            <a:off x="777240" y="804672"/>
            <a:ext cx="10652760" cy="566928"/>
          </a:xfrm>
          <a:prstGeom prst="rect">
            <a:avLst/>
          </a:prstGeom>
          <a:noFill/>
        </p:spPr>
        <p:txBody>
          <a:bodyPr wrap="square" lIns="0" rIns="0" tIns="0" bIns="0" anchor="ctr">
            <a:spAutoFit/>
          </a:bodyPr>
          <a:lstStyle/>
          <a:p>
            <a:pPr algn="l">
              <a:spcAft>
                <a:spcPts val="600"/>
              </a:spcAft>
            </a:pPr>
            <a:r>
              <a:rPr sz="2900" b="1">
                <a:solidFill>
                  <a:srgbClr val="171717"/>
                </a:solidFill>
                <a:latin typeface="Malgun Gothic"/>
              </a:rPr>
              <a:t>단서에서 문제 정의로</a:t>
            </a:r>
          </a:p>
        </p:txBody>
      </p:sp>
      <p:cxnSp>
        <p:nvCxnSpPr>
          <p:cNvPr id="4" name="Connector 3"/>
          <p:cNvCxnSpPr/>
          <p:nvPr/>
        </p:nvCxnSpPr>
        <p:spPr>
          <a:xfrm>
            <a:off x="777240" y="1508760"/>
            <a:ext cx="10634472" cy="0"/>
          </a:xfrm>
          <a:prstGeom prst="line">
            <a:avLst/>
          </a:prstGeom>
          <a:ln w="8890">
            <a:solidFill>
              <a:srgbClr val="E7E7E7"/>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631936" y="338328"/>
            <a:ext cx="2779776" cy="365760"/>
          </a:xfrm>
          <a:prstGeom prst="roundRect">
            <a:avLst>
              <a:gd name="adj" fmla="val 3500"/>
            </a:avLst>
          </a:prstGeom>
          <a:solidFill>
            <a:srgbClr val="EAF5EE"/>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23376" y="365760"/>
            <a:ext cx="2596896" cy="292608"/>
          </a:xfrm>
          <a:prstGeom prst="rect">
            <a:avLst/>
          </a:prstGeom>
          <a:noFill/>
        </p:spPr>
        <p:txBody>
          <a:bodyPr wrap="square" lIns="0" rIns="0" tIns="0" bIns="0" anchor="ctr">
            <a:spAutoFit/>
          </a:bodyPr>
          <a:lstStyle/>
          <a:p>
            <a:pPr algn="ctr">
              <a:spcAft>
                <a:spcPts val="500"/>
              </a:spcAft>
            </a:pPr>
            <a:r>
              <a:rPr sz="1070" b="1">
                <a:solidFill>
                  <a:srgbClr val="24805B"/>
                </a:solidFill>
                <a:latin typeface="Malgun Gothic"/>
              </a:rPr>
              <a:t>확장 설계 · 영상 추출 방식 검토</a:t>
            </a:r>
          </a:p>
        </p:txBody>
      </p:sp>
      <p:sp>
        <p:nvSpPr>
          <p:cNvPr id="7" name="TextBox 6"/>
          <p:cNvSpPr txBox="1"/>
          <p:nvPr/>
        </p:nvSpPr>
        <p:spPr>
          <a:xfrm>
            <a:off x="10652760" y="6437376"/>
            <a:ext cx="758952" cy="219456"/>
          </a:xfrm>
          <a:prstGeom prst="rect">
            <a:avLst/>
          </a:prstGeom>
          <a:noFill/>
        </p:spPr>
        <p:txBody>
          <a:bodyPr wrap="square" lIns="0" rIns="0" tIns="0" bIns="0" anchor="ctr">
            <a:spAutoFit/>
          </a:bodyPr>
          <a:lstStyle/>
          <a:p>
            <a:pPr algn="r">
              <a:spcAft>
                <a:spcPts val="500"/>
              </a:spcAft>
            </a:pPr>
            <a:r>
              <a:rPr sz="1000" b="0">
                <a:solidFill>
                  <a:srgbClr val="707070"/>
                </a:solidFill>
                <a:latin typeface="Malgun Gothic"/>
              </a:rPr>
              <a:t>05 / 07</a:t>
            </a:r>
          </a:p>
        </p:txBody>
      </p:sp>
      <p:sp>
        <p:nvSpPr>
          <p:cNvPr id="8" name="Rounded Rectangle 7"/>
          <p:cNvSpPr/>
          <p:nvPr/>
        </p:nvSpPr>
        <p:spPr>
          <a:xfrm>
            <a:off x="777240" y="2011680"/>
            <a:ext cx="3008376" cy="1508760"/>
          </a:xfrm>
          <a:prstGeom prst="roundRect">
            <a:avLst>
              <a:gd name="adj" fmla="val 3500"/>
            </a:avLst>
          </a:prstGeom>
          <a:solidFill>
            <a:srgbClr val="FAFAFA"/>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249424"/>
            <a:ext cx="2551176" cy="411480"/>
          </a:xfrm>
          <a:prstGeom prst="rect">
            <a:avLst/>
          </a:prstGeom>
          <a:noFill/>
        </p:spPr>
        <p:txBody>
          <a:bodyPr wrap="square" lIns="0" rIns="0" tIns="0" bIns="0" anchor="ctr">
            <a:spAutoFit/>
          </a:bodyPr>
          <a:lstStyle/>
          <a:p>
            <a:pPr algn="l">
              <a:spcAft>
                <a:spcPts val="500"/>
              </a:spcAft>
            </a:pPr>
            <a:r>
              <a:rPr sz="2000" b="1">
                <a:solidFill>
                  <a:srgbClr val="171717"/>
                </a:solidFill>
                <a:latin typeface="Malgun Gothic"/>
              </a:rPr>
              <a:t>채팅 단서</a:t>
            </a:r>
          </a:p>
        </p:txBody>
      </p:sp>
      <p:sp>
        <p:nvSpPr>
          <p:cNvPr id="10" name="TextBox 9"/>
          <p:cNvSpPr txBox="1"/>
          <p:nvPr/>
        </p:nvSpPr>
        <p:spPr>
          <a:xfrm>
            <a:off x="1005840" y="2916936"/>
            <a:ext cx="2551176" cy="420623"/>
          </a:xfrm>
          <a:prstGeom prst="rect">
            <a:avLst/>
          </a:prstGeom>
          <a:noFill/>
        </p:spPr>
        <p:txBody>
          <a:bodyPr wrap="square" lIns="0" rIns="0" tIns="0" bIns="0" anchor="ctr">
            <a:spAutoFit/>
          </a:bodyPr>
          <a:lstStyle/>
          <a:p>
            <a:pPr algn="l">
              <a:spcAft>
                <a:spcPts val="600"/>
              </a:spcAft>
            </a:pPr>
            <a:r>
              <a:rPr sz="1700" b="0">
                <a:solidFill>
                  <a:srgbClr val="707070"/>
                </a:solidFill>
                <a:latin typeface="Malgun Gothic"/>
              </a:rPr>
              <a:t>고민 · 상황</a:t>
            </a:r>
          </a:p>
        </p:txBody>
      </p:sp>
      <p:sp>
        <p:nvSpPr>
          <p:cNvPr id="11" name="Rounded Rectangle 10"/>
          <p:cNvSpPr/>
          <p:nvPr/>
        </p:nvSpPr>
        <p:spPr>
          <a:xfrm>
            <a:off x="777240" y="3758184"/>
            <a:ext cx="3008376" cy="1508760"/>
          </a:xfrm>
          <a:prstGeom prst="roundRect">
            <a:avLst>
              <a:gd name="adj" fmla="val 3500"/>
            </a:avLst>
          </a:prstGeom>
          <a:solidFill>
            <a:srgbClr val="FAFAFA"/>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995928"/>
            <a:ext cx="2551176" cy="411480"/>
          </a:xfrm>
          <a:prstGeom prst="rect">
            <a:avLst/>
          </a:prstGeom>
          <a:noFill/>
        </p:spPr>
        <p:txBody>
          <a:bodyPr wrap="square" lIns="0" rIns="0" tIns="0" bIns="0" anchor="ctr">
            <a:spAutoFit/>
          </a:bodyPr>
          <a:lstStyle/>
          <a:p>
            <a:pPr algn="l">
              <a:spcAft>
                <a:spcPts val="500"/>
              </a:spcAft>
            </a:pPr>
            <a:r>
              <a:rPr sz="2000" b="1">
                <a:solidFill>
                  <a:srgbClr val="171717"/>
                </a:solidFill>
                <a:latin typeface="Malgun Gothic"/>
              </a:rPr>
              <a:t>영상 단서</a:t>
            </a:r>
          </a:p>
        </p:txBody>
      </p:sp>
      <p:sp>
        <p:nvSpPr>
          <p:cNvPr id="13" name="TextBox 12"/>
          <p:cNvSpPr txBox="1"/>
          <p:nvPr/>
        </p:nvSpPr>
        <p:spPr>
          <a:xfrm>
            <a:off x="1005840" y="4663440"/>
            <a:ext cx="2551176" cy="420623"/>
          </a:xfrm>
          <a:prstGeom prst="rect">
            <a:avLst/>
          </a:prstGeom>
          <a:noFill/>
        </p:spPr>
        <p:txBody>
          <a:bodyPr wrap="square" lIns="0" rIns="0" tIns="0" bIns="0" anchor="ctr">
            <a:spAutoFit/>
          </a:bodyPr>
          <a:lstStyle/>
          <a:p>
            <a:pPr algn="l">
              <a:spcAft>
                <a:spcPts val="600"/>
              </a:spcAft>
            </a:pPr>
            <a:r>
              <a:rPr sz="1700" b="0">
                <a:solidFill>
                  <a:srgbClr val="707070"/>
                </a:solidFill>
                <a:latin typeface="Malgun Gothic"/>
              </a:rPr>
              <a:t>관찰 · 한계</a:t>
            </a:r>
          </a:p>
        </p:txBody>
      </p:sp>
      <p:sp>
        <p:nvSpPr>
          <p:cNvPr id="14" name="TextBox 13"/>
          <p:cNvSpPr txBox="1"/>
          <p:nvPr/>
        </p:nvSpPr>
        <p:spPr>
          <a:xfrm>
            <a:off x="3941063" y="3474720"/>
            <a:ext cx="411480" cy="365760"/>
          </a:xfrm>
          <a:prstGeom prst="rect">
            <a:avLst/>
          </a:prstGeom>
          <a:noFill/>
        </p:spPr>
        <p:txBody>
          <a:bodyPr wrap="square" lIns="0" rIns="0" tIns="0" bIns="0" anchor="ctr">
            <a:spAutoFit/>
          </a:bodyPr>
          <a:lstStyle/>
          <a:p>
            <a:pPr algn="ctr">
              <a:spcAft>
                <a:spcPts val="500"/>
              </a:spcAft>
            </a:pPr>
            <a:r>
              <a:rPr sz="2500" b="0">
                <a:solidFill>
                  <a:srgbClr val="24805B"/>
                </a:solidFill>
                <a:latin typeface="Malgun Gothic"/>
              </a:rPr>
              <a:t>→</a:t>
            </a:r>
          </a:p>
        </p:txBody>
      </p:sp>
      <p:sp>
        <p:nvSpPr>
          <p:cNvPr id="15" name="Rounded Rectangle 14"/>
          <p:cNvSpPr/>
          <p:nvPr/>
        </p:nvSpPr>
        <p:spPr>
          <a:xfrm>
            <a:off x="4526280" y="2011680"/>
            <a:ext cx="3273552" cy="3255264"/>
          </a:xfrm>
          <a:prstGeom prst="roundRect">
            <a:avLst>
              <a:gd name="adj" fmla="val 3500"/>
            </a:avLst>
          </a:prstGeom>
          <a:solidFill>
            <a:srgbClr val="1C1C1C"/>
          </a:solidFill>
          <a:ln w="8890">
            <a:solidFill>
              <a:srgbClr val="1C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91456" y="2359152"/>
            <a:ext cx="2743200" cy="420624"/>
          </a:xfrm>
          <a:prstGeom prst="rect">
            <a:avLst/>
          </a:prstGeom>
          <a:noFill/>
        </p:spPr>
        <p:txBody>
          <a:bodyPr wrap="square" lIns="0" rIns="0" tIns="0" bIns="0" anchor="ctr">
            <a:spAutoFit/>
          </a:bodyPr>
          <a:lstStyle/>
          <a:p>
            <a:pPr algn="l">
              <a:spcAft>
                <a:spcPts val="600"/>
              </a:spcAft>
            </a:pPr>
            <a:r>
              <a:rPr sz="2100" b="1">
                <a:solidFill>
                  <a:srgbClr val="FFFFFF"/>
                </a:solidFill>
                <a:latin typeface="Malgun Gothic"/>
              </a:rPr>
              <a:t>문제 후보</a:t>
            </a:r>
          </a:p>
        </p:txBody>
      </p:sp>
      <p:sp>
        <p:nvSpPr>
          <p:cNvPr id="17" name="TextBox 16"/>
          <p:cNvSpPr txBox="1"/>
          <p:nvPr/>
        </p:nvSpPr>
        <p:spPr>
          <a:xfrm>
            <a:off x="4791456" y="3118104"/>
            <a:ext cx="2743200" cy="1005840"/>
          </a:xfrm>
          <a:prstGeom prst="rect">
            <a:avLst/>
          </a:prstGeom>
          <a:noFill/>
        </p:spPr>
        <p:txBody>
          <a:bodyPr wrap="square" lIns="0" rIns="0" tIns="0" bIns="0" anchor="ctr">
            <a:spAutoFit/>
          </a:bodyPr>
          <a:lstStyle/>
          <a:p>
            <a:pPr algn="l">
              <a:spcAft>
                <a:spcPts val="600"/>
              </a:spcAft>
            </a:pPr>
            <a:r>
              <a:rPr sz="1800" b="0">
                <a:solidFill>
                  <a:srgbClr val="FFFFFF"/>
                </a:solidFill>
                <a:latin typeface="Malgun Gothic"/>
              </a:rPr>
              <a:t>오른쪽으로</a:t>
            </a:r>
          </a:p>
          <a:p>
            <a:pPr algn="l">
              <a:spcAft>
                <a:spcPts val="600"/>
              </a:spcAft>
            </a:pPr>
            <a:r>
              <a:rPr sz="1800" b="0">
                <a:solidFill>
                  <a:srgbClr val="FFFFFF"/>
                </a:solidFill>
                <a:latin typeface="Malgun Gothic"/>
              </a:rPr>
              <a:t>벗어나는 구질</a:t>
            </a:r>
          </a:p>
        </p:txBody>
      </p:sp>
      <p:sp>
        <p:nvSpPr>
          <p:cNvPr id="18" name="TextBox 17"/>
          <p:cNvSpPr txBox="1"/>
          <p:nvPr/>
        </p:nvSpPr>
        <p:spPr>
          <a:xfrm>
            <a:off x="4791456" y="4498848"/>
            <a:ext cx="2743200" cy="292608"/>
          </a:xfrm>
          <a:prstGeom prst="rect">
            <a:avLst/>
          </a:prstGeom>
          <a:noFill/>
        </p:spPr>
        <p:txBody>
          <a:bodyPr wrap="square" lIns="0" rIns="0" tIns="0" bIns="0" anchor="ctr">
            <a:spAutoFit/>
          </a:bodyPr>
          <a:lstStyle/>
          <a:p>
            <a:pPr algn="l">
              <a:spcAft>
                <a:spcPts val="600"/>
              </a:spcAft>
            </a:pPr>
            <a:r>
              <a:rPr sz="1700" b="0">
                <a:solidFill>
                  <a:srgbClr val="DDDDDD"/>
                </a:solidFill>
                <a:latin typeface="Malgun Gothic"/>
              </a:rPr>
              <a:t>원인 단정 제외</a:t>
            </a:r>
          </a:p>
        </p:txBody>
      </p:sp>
      <p:sp>
        <p:nvSpPr>
          <p:cNvPr id="19" name="TextBox 18"/>
          <p:cNvSpPr txBox="1"/>
          <p:nvPr/>
        </p:nvSpPr>
        <p:spPr>
          <a:xfrm>
            <a:off x="7936992" y="3474720"/>
            <a:ext cx="393192" cy="365760"/>
          </a:xfrm>
          <a:prstGeom prst="rect">
            <a:avLst/>
          </a:prstGeom>
          <a:noFill/>
        </p:spPr>
        <p:txBody>
          <a:bodyPr wrap="square" lIns="0" rIns="0" tIns="0" bIns="0" anchor="ctr">
            <a:spAutoFit/>
          </a:bodyPr>
          <a:lstStyle/>
          <a:p>
            <a:pPr algn="ctr">
              <a:spcAft>
                <a:spcPts val="500"/>
              </a:spcAft>
            </a:pPr>
            <a:r>
              <a:rPr sz="2500" b="0">
                <a:solidFill>
                  <a:srgbClr val="24805B"/>
                </a:solidFill>
                <a:latin typeface="Malgun Gothic"/>
              </a:rPr>
              <a:t>→</a:t>
            </a:r>
          </a:p>
        </p:txBody>
      </p:sp>
      <p:sp>
        <p:nvSpPr>
          <p:cNvPr id="20" name="Rounded Rectangle 19"/>
          <p:cNvSpPr/>
          <p:nvPr/>
        </p:nvSpPr>
        <p:spPr>
          <a:xfrm>
            <a:off x="8494776" y="2011680"/>
            <a:ext cx="2916936" cy="1508760"/>
          </a:xfrm>
          <a:prstGeom prst="roundRect">
            <a:avLst>
              <a:gd name="adj" fmla="val 3500"/>
            </a:avLst>
          </a:prstGeom>
          <a:solidFill>
            <a:srgbClr val="FAFAFA"/>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23376" y="2249424"/>
            <a:ext cx="2459736" cy="411480"/>
          </a:xfrm>
          <a:prstGeom prst="rect">
            <a:avLst/>
          </a:prstGeom>
          <a:noFill/>
        </p:spPr>
        <p:txBody>
          <a:bodyPr wrap="square" lIns="0" rIns="0" tIns="0" bIns="0" anchor="ctr">
            <a:spAutoFit/>
          </a:bodyPr>
          <a:lstStyle/>
          <a:p>
            <a:pPr algn="l">
              <a:spcAft>
                <a:spcPts val="500"/>
              </a:spcAft>
            </a:pPr>
            <a:r>
              <a:rPr sz="2000" b="1">
                <a:solidFill>
                  <a:srgbClr val="171717"/>
                </a:solidFill>
                <a:latin typeface="Malgun Gothic"/>
              </a:rPr>
              <a:t>정보 부족</a:t>
            </a:r>
          </a:p>
        </p:txBody>
      </p:sp>
      <p:sp>
        <p:nvSpPr>
          <p:cNvPr id="22" name="TextBox 21"/>
          <p:cNvSpPr txBox="1"/>
          <p:nvPr/>
        </p:nvSpPr>
        <p:spPr>
          <a:xfrm>
            <a:off x="8723376" y="2916936"/>
            <a:ext cx="2459736" cy="420623"/>
          </a:xfrm>
          <a:prstGeom prst="rect">
            <a:avLst/>
          </a:prstGeom>
          <a:noFill/>
        </p:spPr>
        <p:txBody>
          <a:bodyPr wrap="square" lIns="0" rIns="0" tIns="0" bIns="0" anchor="ctr">
            <a:spAutoFit/>
          </a:bodyPr>
          <a:lstStyle/>
          <a:p>
            <a:pPr algn="l">
              <a:spcAft>
                <a:spcPts val="600"/>
              </a:spcAft>
            </a:pPr>
            <a:r>
              <a:rPr sz="1700" b="0">
                <a:solidFill>
                  <a:srgbClr val="707070"/>
                </a:solidFill>
                <a:latin typeface="Malgun Gothic"/>
              </a:rPr>
              <a:t>확인 질문</a:t>
            </a:r>
          </a:p>
        </p:txBody>
      </p:sp>
      <p:sp>
        <p:nvSpPr>
          <p:cNvPr id="23" name="Rounded Rectangle 22"/>
          <p:cNvSpPr/>
          <p:nvPr/>
        </p:nvSpPr>
        <p:spPr>
          <a:xfrm>
            <a:off x="8494776" y="3758184"/>
            <a:ext cx="2916936" cy="1508760"/>
          </a:xfrm>
          <a:prstGeom prst="roundRect">
            <a:avLst>
              <a:gd name="adj" fmla="val 3500"/>
            </a:avLst>
          </a:prstGeom>
          <a:solidFill>
            <a:srgbClr val="FAFAFA"/>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23376" y="3995928"/>
            <a:ext cx="2459736" cy="411480"/>
          </a:xfrm>
          <a:prstGeom prst="rect">
            <a:avLst/>
          </a:prstGeom>
          <a:noFill/>
        </p:spPr>
        <p:txBody>
          <a:bodyPr wrap="square" lIns="0" rIns="0" tIns="0" bIns="0" anchor="ctr">
            <a:spAutoFit/>
          </a:bodyPr>
          <a:lstStyle/>
          <a:p>
            <a:pPr algn="l">
              <a:spcAft>
                <a:spcPts val="500"/>
              </a:spcAft>
            </a:pPr>
            <a:r>
              <a:rPr sz="2000" b="1">
                <a:solidFill>
                  <a:srgbClr val="171717"/>
                </a:solidFill>
                <a:latin typeface="Malgun Gothic"/>
              </a:rPr>
              <a:t>조건 확인</a:t>
            </a:r>
          </a:p>
        </p:txBody>
      </p:sp>
      <p:sp>
        <p:nvSpPr>
          <p:cNvPr id="25" name="TextBox 24"/>
          <p:cNvSpPr txBox="1"/>
          <p:nvPr/>
        </p:nvSpPr>
        <p:spPr>
          <a:xfrm>
            <a:off x="8723376" y="4663440"/>
            <a:ext cx="2459736" cy="420623"/>
          </a:xfrm>
          <a:prstGeom prst="rect">
            <a:avLst/>
          </a:prstGeom>
          <a:noFill/>
        </p:spPr>
        <p:txBody>
          <a:bodyPr wrap="square" lIns="0" rIns="0" tIns="0" bIns="0" anchor="ctr">
            <a:spAutoFit/>
          </a:bodyPr>
          <a:lstStyle/>
          <a:p>
            <a:pPr algn="l">
              <a:spcAft>
                <a:spcPts val="600"/>
              </a:spcAft>
            </a:pPr>
            <a:r>
              <a:rPr sz="1700" b="0">
                <a:solidFill>
                  <a:srgbClr val="707070"/>
                </a:solidFill>
                <a:latin typeface="Malgun Gothic"/>
              </a:rPr>
              <a:t>전문가 검색</a:t>
            </a:r>
          </a:p>
        </p:txBody>
      </p:sp>
      <p:sp>
        <p:nvSpPr>
          <p:cNvPr id="26" name="TextBox 25"/>
          <p:cNvSpPr txBox="1"/>
          <p:nvPr/>
        </p:nvSpPr>
        <p:spPr>
          <a:xfrm>
            <a:off x="777240" y="5925312"/>
            <a:ext cx="10515600" cy="338328"/>
          </a:xfrm>
          <a:prstGeom prst="rect">
            <a:avLst/>
          </a:prstGeom>
          <a:noFill/>
        </p:spPr>
        <p:txBody>
          <a:bodyPr wrap="square" lIns="0" rIns="0" tIns="0" bIns="0" anchor="ctr">
            <a:spAutoFit/>
          </a:bodyPr>
          <a:lstStyle/>
          <a:p>
            <a:pPr algn="l">
              <a:spcAft>
                <a:spcPts val="600"/>
              </a:spcAft>
            </a:pPr>
            <a:r>
              <a:rPr sz="1400" b="1">
                <a:solidFill>
                  <a:srgbClr val="24805B"/>
                </a:solidFill>
                <a:latin typeface="Malgun Gothic"/>
              </a:rPr>
              <a:t>체감(FEEL) ≠ 관찰(OBSERVATION)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777240" y="384048"/>
            <a:ext cx="7955279" cy="256032"/>
          </a:xfrm>
          <a:prstGeom prst="rect">
            <a:avLst/>
          </a:prstGeom>
          <a:noFill/>
        </p:spPr>
        <p:txBody>
          <a:bodyPr wrap="square" lIns="0" rIns="0" tIns="0" bIns="0" anchor="ctr">
            <a:spAutoFit/>
          </a:bodyPr>
          <a:lstStyle/>
          <a:p>
            <a:pPr algn="l">
              <a:spcAft>
                <a:spcPts val="500"/>
              </a:spcAft>
            </a:pPr>
            <a:r>
              <a:rPr sz="1050" b="1">
                <a:solidFill>
                  <a:srgbClr val="707070"/>
                </a:solidFill>
                <a:latin typeface="Malgun Gothic"/>
              </a:rPr>
              <a:t>TECHNICAL DESIGN · SECTION 06</a:t>
            </a:r>
          </a:p>
        </p:txBody>
      </p:sp>
      <p:sp>
        <p:nvSpPr>
          <p:cNvPr id="3" name="TextBox 2"/>
          <p:cNvSpPr txBox="1"/>
          <p:nvPr/>
        </p:nvSpPr>
        <p:spPr>
          <a:xfrm>
            <a:off x="777240" y="804672"/>
            <a:ext cx="10652760" cy="566928"/>
          </a:xfrm>
          <a:prstGeom prst="rect">
            <a:avLst/>
          </a:prstGeom>
          <a:noFill/>
        </p:spPr>
        <p:txBody>
          <a:bodyPr wrap="square" lIns="0" rIns="0" tIns="0" bIns="0" anchor="ctr">
            <a:spAutoFit/>
          </a:bodyPr>
          <a:lstStyle/>
          <a:p>
            <a:pPr algn="l">
              <a:spcAft>
                <a:spcPts val="600"/>
              </a:spcAft>
            </a:pPr>
            <a:r>
              <a:rPr sz="2900" b="1">
                <a:solidFill>
                  <a:srgbClr val="171717"/>
                </a:solidFill>
                <a:latin typeface="Malgun Gothic"/>
              </a:rPr>
              <a:t>핵심 USP · 영업형 대화</a:t>
            </a:r>
          </a:p>
        </p:txBody>
      </p:sp>
      <p:cxnSp>
        <p:nvCxnSpPr>
          <p:cNvPr id="4" name="Connector 3"/>
          <p:cNvCxnSpPr/>
          <p:nvPr/>
        </p:nvCxnSpPr>
        <p:spPr>
          <a:xfrm>
            <a:off x="777240" y="1508760"/>
            <a:ext cx="10634472" cy="0"/>
          </a:xfrm>
          <a:prstGeom prst="line">
            <a:avLst/>
          </a:prstGeom>
          <a:ln w="8890">
            <a:solidFill>
              <a:srgbClr val="E7E7E7"/>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631936" y="338328"/>
            <a:ext cx="2779776" cy="365760"/>
          </a:xfrm>
          <a:prstGeom prst="roundRect">
            <a:avLst>
              <a:gd name="adj" fmla="val 3500"/>
            </a:avLst>
          </a:prstGeom>
          <a:solidFill>
            <a:srgbClr val="EAF5EE"/>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23376" y="365760"/>
            <a:ext cx="2596896" cy="292608"/>
          </a:xfrm>
          <a:prstGeom prst="rect">
            <a:avLst/>
          </a:prstGeom>
          <a:noFill/>
        </p:spPr>
        <p:txBody>
          <a:bodyPr wrap="square" lIns="0" rIns="0" tIns="0" bIns="0" anchor="ctr">
            <a:spAutoFit/>
          </a:bodyPr>
          <a:lstStyle/>
          <a:p>
            <a:pPr algn="ctr">
              <a:spcAft>
                <a:spcPts val="500"/>
              </a:spcAft>
            </a:pPr>
            <a:r>
              <a:rPr sz="1070" b="1">
                <a:solidFill>
                  <a:srgbClr val="24805B"/>
                </a:solidFill>
                <a:latin typeface="Malgun Gothic"/>
              </a:rPr>
              <a:t>별도 POC 기반 · 통합 설계안</a:t>
            </a:r>
          </a:p>
        </p:txBody>
      </p:sp>
      <p:sp>
        <p:nvSpPr>
          <p:cNvPr id="7" name="TextBox 6"/>
          <p:cNvSpPr txBox="1"/>
          <p:nvPr/>
        </p:nvSpPr>
        <p:spPr>
          <a:xfrm>
            <a:off x="10652760" y="6437376"/>
            <a:ext cx="758952" cy="219456"/>
          </a:xfrm>
          <a:prstGeom prst="rect">
            <a:avLst/>
          </a:prstGeom>
          <a:noFill/>
        </p:spPr>
        <p:txBody>
          <a:bodyPr wrap="square" lIns="0" rIns="0" tIns="0" bIns="0" anchor="ctr">
            <a:spAutoFit/>
          </a:bodyPr>
          <a:lstStyle/>
          <a:p>
            <a:pPr algn="r">
              <a:spcAft>
                <a:spcPts val="500"/>
              </a:spcAft>
            </a:pPr>
            <a:r>
              <a:rPr sz="1000" b="0">
                <a:solidFill>
                  <a:srgbClr val="707070"/>
                </a:solidFill>
                <a:latin typeface="Malgun Gothic"/>
              </a:rPr>
              <a:t>06 / 07</a:t>
            </a:r>
          </a:p>
        </p:txBody>
      </p:sp>
      <p:sp>
        <p:nvSpPr>
          <p:cNvPr id="8" name="Rounded Rectangle 7"/>
          <p:cNvSpPr/>
          <p:nvPr/>
        </p:nvSpPr>
        <p:spPr>
          <a:xfrm>
            <a:off x="777240" y="1993392"/>
            <a:ext cx="10634472" cy="676656"/>
          </a:xfrm>
          <a:prstGeom prst="roundRect">
            <a:avLst>
              <a:gd name="adj" fmla="val 3500"/>
            </a:avLst>
          </a:prstGeom>
          <a:solidFill>
            <a:srgbClr val="FAFAFA"/>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148840"/>
            <a:ext cx="2523744" cy="310896"/>
          </a:xfrm>
          <a:prstGeom prst="rect">
            <a:avLst/>
          </a:prstGeom>
          <a:noFill/>
        </p:spPr>
        <p:txBody>
          <a:bodyPr wrap="square" lIns="0" rIns="0" tIns="0" bIns="0" anchor="ctr">
            <a:spAutoFit/>
          </a:bodyPr>
          <a:lstStyle/>
          <a:p>
            <a:pPr algn="l">
              <a:spcAft>
                <a:spcPts val="500"/>
              </a:spcAft>
            </a:pPr>
            <a:r>
              <a:rPr sz="1600" b="1">
                <a:solidFill>
                  <a:srgbClr val="171717"/>
                </a:solidFill>
                <a:latin typeface="Malgun Gothic"/>
              </a:rPr>
              <a:t>정보 부족</a:t>
            </a:r>
          </a:p>
        </p:txBody>
      </p:sp>
      <p:sp>
        <p:nvSpPr>
          <p:cNvPr id="10" name="TextBox 9"/>
          <p:cNvSpPr txBox="1"/>
          <p:nvPr/>
        </p:nvSpPr>
        <p:spPr>
          <a:xfrm>
            <a:off x="3447288" y="2139696"/>
            <a:ext cx="411480" cy="365760"/>
          </a:xfrm>
          <a:prstGeom prst="rect">
            <a:avLst/>
          </a:prstGeom>
          <a:noFill/>
        </p:spPr>
        <p:txBody>
          <a:bodyPr wrap="square" lIns="0" rIns="0" tIns="0" bIns="0" anchor="ctr">
            <a:spAutoFit/>
          </a:bodyPr>
          <a:lstStyle/>
          <a:p>
            <a:pPr algn="ctr">
              <a:spcAft>
                <a:spcPts val="500"/>
              </a:spcAft>
            </a:pPr>
            <a:r>
              <a:rPr sz="2500" b="0">
                <a:solidFill>
                  <a:srgbClr val="24805B"/>
                </a:solidFill>
                <a:latin typeface="Malgun Gothic"/>
              </a:rPr>
              <a:t>→</a:t>
            </a:r>
          </a:p>
        </p:txBody>
      </p:sp>
      <p:sp>
        <p:nvSpPr>
          <p:cNvPr id="11" name="TextBox 10"/>
          <p:cNvSpPr txBox="1"/>
          <p:nvPr/>
        </p:nvSpPr>
        <p:spPr>
          <a:xfrm>
            <a:off x="4105656" y="2148840"/>
            <a:ext cx="3657600" cy="310896"/>
          </a:xfrm>
          <a:prstGeom prst="rect">
            <a:avLst/>
          </a:prstGeom>
          <a:noFill/>
        </p:spPr>
        <p:txBody>
          <a:bodyPr wrap="square" lIns="0" rIns="0" tIns="0" bIns="0" anchor="ctr">
            <a:spAutoFit/>
          </a:bodyPr>
          <a:lstStyle/>
          <a:p>
            <a:pPr algn="l">
              <a:spcAft>
                <a:spcPts val="600"/>
              </a:spcAft>
            </a:pPr>
            <a:r>
              <a:rPr sz="1700" b="1">
                <a:solidFill>
                  <a:srgbClr val="171717"/>
                </a:solidFill>
                <a:latin typeface="Malgun Gothic"/>
              </a:rPr>
              <a:t>질문 하나</a:t>
            </a:r>
          </a:p>
        </p:txBody>
      </p:sp>
      <p:sp>
        <p:nvSpPr>
          <p:cNvPr id="12" name="TextBox 11"/>
          <p:cNvSpPr txBox="1"/>
          <p:nvPr/>
        </p:nvSpPr>
        <p:spPr>
          <a:xfrm>
            <a:off x="8339327" y="2148840"/>
            <a:ext cx="2779776" cy="310896"/>
          </a:xfrm>
          <a:prstGeom prst="rect">
            <a:avLst/>
          </a:prstGeom>
          <a:noFill/>
        </p:spPr>
        <p:txBody>
          <a:bodyPr wrap="square" lIns="0" rIns="0" tIns="0" bIns="0" anchor="ctr">
            <a:spAutoFit/>
          </a:bodyPr>
          <a:lstStyle/>
          <a:p>
            <a:pPr algn="l">
              <a:spcAft>
                <a:spcPts val="600"/>
              </a:spcAft>
            </a:pPr>
            <a:r>
              <a:rPr sz="1700" b="0">
                <a:solidFill>
                  <a:srgbClr val="707070"/>
                </a:solidFill>
                <a:latin typeface="Malgun Gothic"/>
              </a:rPr>
              <a:t>문제 구체화</a:t>
            </a:r>
          </a:p>
        </p:txBody>
      </p:sp>
      <p:sp>
        <p:nvSpPr>
          <p:cNvPr id="13" name="Rounded Rectangle 12"/>
          <p:cNvSpPr/>
          <p:nvPr/>
        </p:nvSpPr>
        <p:spPr>
          <a:xfrm>
            <a:off x="777240" y="2834640"/>
            <a:ext cx="10634472" cy="676656"/>
          </a:xfrm>
          <a:prstGeom prst="roundRect">
            <a:avLst>
              <a:gd name="adj" fmla="val 3500"/>
            </a:avLst>
          </a:prstGeom>
          <a:solidFill>
            <a:srgbClr val="1C1C1C"/>
          </a:solidFill>
          <a:ln w="8890">
            <a:solidFill>
              <a:srgbClr val="1C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2990088"/>
            <a:ext cx="2523744" cy="310896"/>
          </a:xfrm>
          <a:prstGeom prst="rect">
            <a:avLst/>
          </a:prstGeom>
          <a:noFill/>
        </p:spPr>
        <p:txBody>
          <a:bodyPr wrap="square" lIns="0" rIns="0" tIns="0" bIns="0" anchor="ctr">
            <a:spAutoFit/>
          </a:bodyPr>
          <a:lstStyle/>
          <a:p>
            <a:pPr algn="l">
              <a:spcAft>
                <a:spcPts val="500"/>
              </a:spcAft>
            </a:pPr>
            <a:r>
              <a:rPr sz="1600" b="1">
                <a:solidFill>
                  <a:srgbClr val="FFFFFF"/>
                </a:solidFill>
                <a:latin typeface="Malgun Gothic"/>
              </a:rPr>
              <a:t>질문 명확</a:t>
            </a:r>
          </a:p>
        </p:txBody>
      </p:sp>
      <p:sp>
        <p:nvSpPr>
          <p:cNvPr id="15" name="TextBox 14"/>
          <p:cNvSpPr txBox="1"/>
          <p:nvPr/>
        </p:nvSpPr>
        <p:spPr>
          <a:xfrm>
            <a:off x="3447288" y="2980944"/>
            <a:ext cx="411480" cy="365760"/>
          </a:xfrm>
          <a:prstGeom prst="rect">
            <a:avLst/>
          </a:prstGeom>
          <a:noFill/>
        </p:spPr>
        <p:txBody>
          <a:bodyPr wrap="square" lIns="0" rIns="0" tIns="0" bIns="0" anchor="ctr">
            <a:spAutoFit/>
          </a:bodyPr>
          <a:lstStyle/>
          <a:p>
            <a:pPr algn="ctr">
              <a:spcAft>
                <a:spcPts val="500"/>
              </a:spcAft>
            </a:pPr>
            <a:r>
              <a:rPr sz="2500" b="0">
                <a:solidFill>
                  <a:srgbClr val="24805B"/>
                </a:solidFill>
                <a:latin typeface="Malgun Gothic"/>
              </a:rPr>
              <a:t>→</a:t>
            </a:r>
          </a:p>
        </p:txBody>
      </p:sp>
      <p:sp>
        <p:nvSpPr>
          <p:cNvPr id="16" name="TextBox 15"/>
          <p:cNvSpPr txBox="1"/>
          <p:nvPr/>
        </p:nvSpPr>
        <p:spPr>
          <a:xfrm>
            <a:off x="4105656" y="2990088"/>
            <a:ext cx="3657600" cy="310896"/>
          </a:xfrm>
          <a:prstGeom prst="rect">
            <a:avLst/>
          </a:prstGeom>
          <a:noFill/>
        </p:spPr>
        <p:txBody>
          <a:bodyPr wrap="square" lIns="0" rIns="0" tIns="0" bIns="0" anchor="ctr">
            <a:spAutoFit/>
          </a:bodyPr>
          <a:lstStyle/>
          <a:p>
            <a:pPr algn="l">
              <a:spcAft>
                <a:spcPts val="600"/>
              </a:spcAft>
            </a:pPr>
            <a:r>
              <a:rPr sz="1700" b="1">
                <a:solidFill>
                  <a:srgbClr val="FFFFFF"/>
                </a:solidFill>
                <a:latin typeface="Malgun Gothic"/>
              </a:rPr>
              <a:t>설명 · 길이 조절</a:t>
            </a:r>
          </a:p>
        </p:txBody>
      </p:sp>
      <p:sp>
        <p:nvSpPr>
          <p:cNvPr id="17" name="TextBox 16"/>
          <p:cNvSpPr txBox="1"/>
          <p:nvPr/>
        </p:nvSpPr>
        <p:spPr>
          <a:xfrm>
            <a:off x="8339327" y="2990088"/>
            <a:ext cx="2779776" cy="310896"/>
          </a:xfrm>
          <a:prstGeom prst="rect">
            <a:avLst/>
          </a:prstGeom>
          <a:noFill/>
        </p:spPr>
        <p:txBody>
          <a:bodyPr wrap="square" lIns="0" rIns="0" tIns="0" bIns="0" anchor="ctr">
            <a:spAutoFit/>
          </a:bodyPr>
          <a:lstStyle/>
          <a:p>
            <a:pPr algn="l">
              <a:spcAft>
                <a:spcPts val="600"/>
              </a:spcAft>
            </a:pPr>
            <a:r>
              <a:rPr sz="1700" b="0">
                <a:solidFill>
                  <a:srgbClr val="DDDDDD"/>
                </a:solidFill>
                <a:latin typeface="Malgun Gothic"/>
              </a:rPr>
              <a:t>이해</a:t>
            </a:r>
          </a:p>
        </p:txBody>
      </p:sp>
      <p:sp>
        <p:nvSpPr>
          <p:cNvPr id="18" name="Rounded Rectangle 17"/>
          <p:cNvSpPr/>
          <p:nvPr/>
        </p:nvSpPr>
        <p:spPr>
          <a:xfrm>
            <a:off x="777240" y="3675888"/>
            <a:ext cx="10634472" cy="676656"/>
          </a:xfrm>
          <a:prstGeom prst="roundRect">
            <a:avLst>
              <a:gd name="adj" fmla="val 3500"/>
            </a:avLst>
          </a:prstGeom>
          <a:solidFill>
            <a:srgbClr val="FAFAFA"/>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4128" y="3831336"/>
            <a:ext cx="2523744" cy="310896"/>
          </a:xfrm>
          <a:prstGeom prst="rect">
            <a:avLst/>
          </a:prstGeom>
          <a:noFill/>
        </p:spPr>
        <p:txBody>
          <a:bodyPr wrap="square" lIns="0" rIns="0" tIns="0" bIns="0" anchor="ctr">
            <a:spAutoFit/>
          </a:bodyPr>
          <a:lstStyle/>
          <a:p>
            <a:pPr algn="l">
              <a:spcAft>
                <a:spcPts val="500"/>
              </a:spcAft>
            </a:pPr>
            <a:r>
              <a:rPr sz="1600" b="1">
                <a:solidFill>
                  <a:srgbClr val="171717"/>
                </a:solidFill>
                <a:latin typeface="Malgun Gothic"/>
              </a:rPr>
              <a:t>개선 근거 확인</a:t>
            </a:r>
          </a:p>
        </p:txBody>
      </p:sp>
      <p:sp>
        <p:nvSpPr>
          <p:cNvPr id="20" name="TextBox 19"/>
          <p:cNvSpPr txBox="1"/>
          <p:nvPr/>
        </p:nvSpPr>
        <p:spPr>
          <a:xfrm>
            <a:off x="3447288" y="3822192"/>
            <a:ext cx="411480" cy="365760"/>
          </a:xfrm>
          <a:prstGeom prst="rect">
            <a:avLst/>
          </a:prstGeom>
          <a:noFill/>
        </p:spPr>
        <p:txBody>
          <a:bodyPr wrap="square" lIns="0" rIns="0" tIns="0" bIns="0" anchor="ctr">
            <a:spAutoFit/>
          </a:bodyPr>
          <a:lstStyle/>
          <a:p>
            <a:pPr algn="ctr">
              <a:spcAft>
                <a:spcPts val="500"/>
              </a:spcAft>
            </a:pPr>
            <a:r>
              <a:rPr sz="2500" b="0">
                <a:solidFill>
                  <a:srgbClr val="24805B"/>
                </a:solidFill>
                <a:latin typeface="Malgun Gothic"/>
              </a:rPr>
              <a:t>→</a:t>
            </a:r>
          </a:p>
        </p:txBody>
      </p:sp>
      <p:sp>
        <p:nvSpPr>
          <p:cNvPr id="21" name="TextBox 20"/>
          <p:cNvSpPr txBox="1"/>
          <p:nvPr/>
        </p:nvSpPr>
        <p:spPr>
          <a:xfrm>
            <a:off x="4105656" y="3831336"/>
            <a:ext cx="3657600" cy="310896"/>
          </a:xfrm>
          <a:prstGeom prst="rect">
            <a:avLst/>
          </a:prstGeom>
          <a:noFill/>
        </p:spPr>
        <p:txBody>
          <a:bodyPr wrap="square" lIns="0" rIns="0" tIns="0" bIns="0" anchor="ctr">
            <a:spAutoFit/>
          </a:bodyPr>
          <a:lstStyle/>
          <a:p>
            <a:pPr algn="l">
              <a:spcAft>
                <a:spcPts val="500"/>
              </a:spcAft>
            </a:pPr>
            <a:r>
              <a:rPr sz="1700" b="1">
                <a:solidFill>
                  <a:srgbClr val="171717"/>
                </a:solidFill>
                <a:latin typeface="Malgun Gothic"/>
              </a:rPr>
              <a:t>발전 인정</a:t>
            </a:r>
          </a:p>
        </p:txBody>
      </p:sp>
      <p:sp>
        <p:nvSpPr>
          <p:cNvPr id="22" name="TextBox 21"/>
          <p:cNvSpPr txBox="1"/>
          <p:nvPr/>
        </p:nvSpPr>
        <p:spPr>
          <a:xfrm>
            <a:off x="8339327" y="3831336"/>
            <a:ext cx="2779776" cy="310896"/>
          </a:xfrm>
          <a:prstGeom prst="rect">
            <a:avLst/>
          </a:prstGeom>
          <a:noFill/>
        </p:spPr>
        <p:txBody>
          <a:bodyPr wrap="square" lIns="0" rIns="0" tIns="0" bIns="0" anchor="ctr">
            <a:spAutoFit/>
          </a:bodyPr>
          <a:lstStyle/>
          <a:p>
            <a:pPr algn="l">
              <a:spcAft>
                <a:spcPts val="600"/>
              </a:spcAft>
            </a:pPr>
            <a:r>
              <a:rPr sz="1700" b="0">
                <a:solidFill>
                  <a:srgbClr val="707070"/>
                </a:solidFill>
                <a:latin typeface="Malgun Gothic"/>
              </a:rPr>
              <a:t>신뢰</a:t>
            </a:r>
          </a:p>
        </p:txBody>
      </p:sp>
      <p:sp>
        <p:nvSpPr>
          <p:cNvPr id="23" name="Rounded Rectangle 22"/>
          <p:cNvSpPr/>
          <p:nvPr/>
        </p:nvSpPr>
        <p:spPr>
          <a:xfrm>
            <a:off x="777240" y="4517136"/>
            <a:ext cx="10634472" cy="676656"/>
          </a:xfrm>
          <a:prstGeom prst="roundRect">
            <a:avLst>
              <a:gd name="adj" fmla="val 3500"/>
            </a:avLst>
          </a:prstGeom>
          <a:solidFill>
            <a:srgbClr val="FAFAFA"/>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24128" y="4672584"/>
            <a:ext cx="2523744" cy="310896"/>
          </a:xfrm>
          <a:prstGeom prst="rect">
            <a:avLst/>
          </a:prstGeom>
          <a:noFill/>
        </p:spPr>
        <p:txBody>
          <a:bodyPr wrap="square" lIns="0" rIns="0" tIns="0" bIns="0" anchor="ctr">
            <a:spAutoFit/>
          </a:bodyPr>
          <a:lstStyle/>
          <a:p>
            <a:pPr algn="l">
              <a:spcAft>
                <a:spcPts val="500"/>
              </a:spcAft>
            </a:pPr>
            <a:r>
              <a:rPr sz="1600" b="1">
                <a:solidFill>
                  <a:srgbClr val="171717"/>
                </a:solidFill>
                <a:latin typeface="Malgun Gothic"/>
              </a:rPr>
              <a:t>다음 행동 필요</a:t>
            </a:r>
          </a:p>
        </p:txBody>
      </p:sp>
      <p:sp>
        <p:nvSpPr>
          <p:cNvPr id="25" name="TextBox 24"/>
          <p:cNvSpPr txBox="1"/>
          <p:nvPr/>
        </p:nvSpPr>
        <p:spPr>
          <a:xfrm>
            <a:off x="3447288" y="4663440"/>
            <a:ext cx="411480" cy="365760"/>
          </a:xfrm>
          <a:prstGeom prst="rect">
            <a:avLst/>
          </a:prstGeom>
          <a:noFill/>
        </p:spPr>
        <p:txBody>
          <a:bodyPr wrap="square" lIns="0" rIns="0" tIns="0" bIns="0" anchor="ctr">
            <a:spAutoFit/>
          </a:bodyPr>
          <a:lstStyle/>
          <a:p>
            <a:pPr algn="ctr">
              <a:spcAft>
                <a:spcPts val="500"/>
              </a:spcAft>
            </a:pPr>
            <a:r>
              <a:rPr sz="2500" b="0">
                <a:solidFill>
                  <a:srgbClr val="24805B"/>
                </a:solidFill>
                <a:latin typeface="Malgun Gothic"/>
              </a:rPr>
              <a:t>→</a:t>
            </a:r>
          </a:p>
        </p:txBody>
      </p:sp>
      <p:sp>
        <p:nvSpPr>
          <p:cNvPr id="26" name="TextBox 25"/>
          <p:cNvSpPr txBox="1"/>
          <p:nvPr/>
        </p:nvSpPr>
        <p:spPr>
          <a:xfrm>
            <a:off x="4105656" y="4672584"/>
            <a:ext cx="3657600" cy="310896"/>
          </a:xfrm>
          <a:prstGeom prst="rect">
            <a:avLst/>
          </a:prstGeom>
          <a:noFill/>
        </p:spPr>
        <p:txBody>
          <a:bodyPr wrap="square" lIns="0" rIns="0" tIns="0" bIns="0" anchor="ctr">
            <a:spAutoFit/>
          </a:bodyPr>
          <a:lstStyle/>
          <a:p>
            <a:pPr algn="l">
              <a:spcAft>
                <a:spcPts val="600"/>
              </a:spcAft>
            </a:pPr>
            <a:r>
              <a:rPr sz="1700" b="1">
                <a:solidFill>
                  <a:srgbClr val="171717"/>
                </a:solidFill>
                <a:latin typeface="Malgun Gothic"/>
              </a:rPr>
              <a:t>다음 과제</a:t>
            </a:r>
          </a:p>
        </p:txBody>
      </p:sp>
      <p:sp>
        <p:nvSpPr>
          <p:cNvPr id="27" name="TextBox 26"/>
          <p:cNvSpPr txBox="1"/>
          <p:nvPr/>
        </p:nvSpPr>
        <p:spPr>
          <a:xfrm>
            <a:off x="8339327" y="4672584"/>
            <a:ext cx="2779776" cy="310896"/>
          </a:xfrm>
          <a:prstGeom prst="rect">
            <a:avLst/>
          </a:prstGeom>
          <a:noFill/>
        </p:spPr>
        <p:txBody>
          <a:bodyPr wrap="square" lIns="0" rIns="0" tIns="0" bIns="0" anchor="ctr">
            <a:spAutoFit/>
          </a:bodyPr>
          <a:lstStyle/>
          <a:p>
            <a:pPr algn="l">
              <a:spcAft>
                <a:spcPts val="600"/>
              </a:spcAft>
            </a:pPr>
            <a:r>
              <a:rPr sz="1700" b="0">
                <a:solidFill>
                  <a:srgbClr val="707070"/>
                </a:solidFill>
                <a:latin typeface="Malgun Gothic"/>
              </a:rPr>
              <a:t>Open Loop</a:t>
            </a:r>
          </a:p>
        </p:txBody>
      </p:sp>
      <p:sp>
        <p:nvSpPr>
          <p:cNvPr id="28" name="TextBox 27"/>
          <p:cNvSpPr txBox="1"/>
          <p:nvPr/>
        </p:nvSpPr>
        <p:spPr>
          <a:xfrm>
            <a:off x="777240" y="5925312"/>
            <a:ext cx="10515600" cy="338328"/>
          </a:xfrm>
          <a:prstGeom prst="rect">
            <a:avLst/>
          </a:prstGeom>
          <a:noFill/>
        </p:spPr>
        <p:txBody>
          <a:bodyPr wrap="square" lIns="0" rIns="0" tIns="0" bIns="0" anchor="ctr">
            <a:spAutoFit/>
          </a:bodyPr>
          <a:lstStyle/>
          <a:p>
            <a:pPr algn="l">
              <a:spcAft>
                <a:spcPts val="600"/>
              </a:spcAft>
            </a:pPr>
            <a:r>
              <a:rPr sz="1400" b="1">
                <a:solidFill>
                  <a:srgbClr val="24805B"/>
                </a:solidFill>
                <a:latin typeface="Malgun Gothic"/>
              </a:rPr>
              <a:t>상황에 따른 전략 선택</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777240" y="384048"/>
            <a:ext cx="7955279" cy="256032"/>
          </a:xfrm>
          <a:prstGeom prst="rect">
            <a:avLst/>
          </a:prstGeom>
          <a:noFill/>
        </p:spPr>
        <p:txBody>
          <a:bodyPr wrap="square" lIns="0" rIns="0" tIns="0" bIns="0" anchor="ctr">
            <a:spAutoFit/>
          </a:bodyPr>
          <a:lstStyle/>
          <a:p>
            <a:pPr algn="l">
              <a:spcAft>
                <a:spcPts val="500"/>
              </a:spcAft>
            </a:pPr>
            <a:r>
              <a:rPr sz="1050" b="1">
                <a:solidFill>
                  <a:srgbClr val="707070"/>
                </a:solidFill>
                <a:latin typeface="Malgun Gothic"/>
              </a:rPr>
              <a:t>TECHNICAL DESIGN · SECTION 07</a:t>
            </a:r>
          </a:p>
        </p:txBody>
      </p:sp>
      <p:sp>
        <p:nvSpPr>
          <p:cNvPr id="3" name="TextBox 2"/>
          <p:cNvSpPr txBox="1"/>
          <p:nvPr/>
        </p:nvSpPr>
        <p:spPr>
          <a:xfrm>
            <a:off x="777240" y="804672"/>
            <a:ext cx="10652760" cy="566928"/>
          </a:xfrm>
          <a:prstGeom prst="rect">
            <a:avLst/>
          </a:prstGeom>
          <a:noFill/>
        </p:spPr>
        <p:txBody>
          <a:bodyPr wrap="square" lIns="0" rIns="0" tIns="0" bIns="0" anchor="ctr">
            <a:spAutoFit/>
          </a:bodyPr>
          <a:lstStyle/>
          <a:p>
            <a:pPr algn="l">
              <a:spcAft>
                <a:spcPts val="600"/>
              </a:spcAft>
            </a:pPr>
            <a:r>
              <a:rPr sz="2900" b="1">
                <a:solidFill>
                  <a:srgbClr val="171717"/>
                </a:solidFill>
                <a:latin typeface="Malgun Gothic"/>
              </a:rPr>
              <a:t>불확실할 때의 처리</a:t>
            </a:r>
          </a:p>
        </p:txBody>
      </p:sp>
      <p:cxnSp>
        <p:nvCxnSpPr>
          <p:cNvPr id="4" name="Connector 3"/>
          <p:cNvCxnSpPr/>
          <p:nvPr/>
        </p:nvCxnSpPr>
        <p:spPr>
          <a:xfrm>
            <a:off x="777240" y="1508760"/>
            <a:ext cx="10634472" cy="0"/>
          </a:xfrm>
          <a:prstGeom prst="line">
            <a:avLst/>
          </a:prstGeom>
          <a:ln w="8890">
            <a:solidFill>
              <a:srgbClr val="E7E7E7"/>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631936" y="338328"/>
            <a:ext cx="2779776" cy="365760"/>
          </a:xfrm>
          <a:prstGeom prst="roundRect">
            <a:avLst>
              <a:gd name="adj" fmla="val 3500"/>
            </a:avLst>
          </a:prstGeom>
          <a:solidFill>
            <a:srgbClr val="EAF5EE"/>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23376" y="365760"/>
            <a:ext cx="2596896" cy="292608"/>
          </a:xfrm>
          <a:prstGeom prst="rect">
            <a:avLst/>
          </a:prstGeom>
          <a:noFill/>
        </p:spPr>
        <p:txBody>
          <a:bodyPr wrap="square" lIns="0" rIns="0" tIns="0" bIns="0" anchor="ctr">
            <a:spAutoFit/>
          </a:bodyPr>
          <a:lstStyle/>
          <a:p>
            <a:pPr algn="ctr">
              <a:spcAft>
                <a:spcPts val="500"/>
              </a:spcAft>
            </a:pPr>
            <a:r>
              <a:rPr sz="1070" b="1">
                <a:solidFill>
                  <a:srgbClr val="24805B"/>
                </a:solidFill>
                <a:latin typeface="Malgun Gothic"/>
              </a:rPr>
              <a:t>기존 근거 검사 + 검색 확장 설계</a:t>
            </a:r>
          </a:p>
        </p:txBody>
      </p:sp>
      <p:sp>
        <p:nvSpPr>
          <p:cNvPr id="7" name="TextBox 6"/>
          <p:cNvSpPr txBox="1"/>
          <p:nvPr/>
        </p:nvSpPr>
        <p:spPr>
          <a:xfrm>
            <a:off x="10652760" y="6437376"/>
            <a:ext cx="758952" cy="219456"/>
          </a:xfrm>
          <a:prstGeom prst="rect">
            <a:avLst/>
          </a:prstGeom>
          <a:noFill/>
        </p:spPr>
        <p:txBody>
          <a:bodyPr wrap="square" lIns="0" rIns="0" tIns="0" bIns="0" anchor="ctr">
            <a:spAutoFit/>
          </a:bodyPr>
          <a:lstStyle/>
          <a:p>
            <a:pPr algn="r">
              <a:spcAft>
                <a:spcPts val="500"/>
              </a:spcAft>
            </a:pPr>
            <a:r>
              <a:rPr sz="1000" b="0">
                <a:solidFill>
                  <a:srgbClr val="707070"/>
                </a:solidFill>
                <a:latin typeface="Malgun Gothic"/>
              </a:rPr>
              <a:t>07 / 07</a:t>
            </a:r>
          </a:p>
        </p:txBody>
      </p:sp>
      <p:sp>
        <p:nvSpPr>
          <p:cNvPr id="8" name="Rounded Rectangle 7"/>
          <p:cNvSpPr/>
          <p:nvPr/>
        </p:nvSpPr>
        <p:spPr>
          <a:xfrm>
            <a:off x="777240" y="2029968"/>
            <a:ext cx="10634472" cy="896112"/>
          </a:xfrm>
          <a:prstGeom prst="roundRect">
            <a:avLst>
              <a:gd name="adj" fmla="val 3500"/>
            </a:avLst>
          </a:prstGeom>
          <a:solidFill>
            <a:srgbClr val="1C1C1C"/>
          </a:solidFill>
          <a:ln w="8890">
            <a:solidFill>
              <a:srgbClr val="1C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185416"/>
            <a:ext cx="2743200" cy="320040"/>
          </a:xfrm>
          <a:prstGeom prst="rect">
            <a:avLst/>
          </a:prstGeom>
          <a:noFill/>
        </p:spPr>
        <p:txBody>
          <a:bodyPr wrap="square" lIns="0" rIns="0" tIns="0" bIns="0" anchor="ctr">
            <a:spAutoFit/>
          </a:bodyPr>
          <a:lstStyle/>
          <a:p>
            <a:pPr algn="l">
              <a:spcAft>
                <a:spcPts val="600"/>
              </a:spcAft>
            </a:pPr>
            <a:r>
              <a:rPr sz="1800" b="1">
                <a:solidFill>
                  <a:srgbClr val="FFFFFF"/>
                </a:solidFill>
                <a:latin typeface="Malgun Gothic"/>
              </a:rPr>
              <a:t>근거 없음</a:t>
            </a:r>
          </a:p>
        </p:txBody>
      </p:sp>
      <p:sp>
        <p:nvSpPr>
          <p:cNvPr id="10" name="TextBox 9"/>
          <p:cNvSpPr txBox="1"/>
          <p:nvPr/>
        </p:nvSpPr>
        <p:spPr>
          <a:xfrm>
            <a:off x="3813048" y="2313432"/>
            <a:ext cx="402336" cy="365760"/>
          </a:xfrm>
          <a:prstGeom prst="rect">
            <a:avLst/>
          </a:prstGeom>
          <a:noFill/>
        </p:spPr>
        <p:txBody>
          <a:bodyPr wrap="square" lIns="0" rIns="0" tIns="0" bIns="0" anchor="ctr">
            <a:spAutoFit/>
          </a:bodyPr>
          <a:lstStyle/>
          <a:p>
            <a:pPr algn="ctr">
              <a:spcAft>
                <a:spcPts val="500"/>
              </a:spcAft>
            </a:pPr>
            <a:r>
              <a:rPr sz="2500" b="0">
                <a:solidFill>
                  <a:srgbClr val="24805B"/>
                </a:solidFill>
                <a:latin typeface="Malgun Gothic"/>
              </a:rPr>
              <a:t>→</a:t>
            </a:r>
          </a:p>
        </p:txBody>
      </p:sp>
      <p:sp>
        <p:nvSpPr>
          <p:cNvPr id="11" name="TextBox 10"/>
          <p:cNvSpPr txBox="1"/>
          <p:nvPr/>
        </p:nvSpPr>
        <p:spPr>
          <a:xfrm>
            <a:off x="4434840" y="2185416"/>
            <a:ext cx="2999232" cy="320040"/>
          </a:xfrm>
          <a:prstGeom prst="rect">
            <a:avLst/>
          </a:prstGeom>
          <a:noFill/>
        </p:spPr>
        <p:txBody>
          <a:bodyPr wrap="square" lIns="0" rIns="0" tIns="0" bIns="0" anchor="ctr">
            <a:spAutoFit/>
          </a:bodyPr>
          <a:lstStyle/>
          <a:p>
            <a:pPr algn="l">
              <a:spcAft>
                <a:spcPts val="600"/>
              </a:spcAft>
            </a:pPr>
            <a:r>
              <a:rPr sz="1700" b="1">
                <a:solidFill>
                  <a:srgbClr val="FFFFFF"/>
                </a:solidFill>
                <a:latin typeface="Malgun Gothic"/>
              </a:rPr>
              <a:t>확인 질문</a:t>
            </a:r>
          </a:p>
        </p:txBody>
      </p:sp>
      <p:sp>
        <p:nvSpPr>
          <p:cNvPr id="12" name="TextBox 11"/>
          <p:cNvSpPr txBox="1"/>
          <p:nvPr/>
        </p:nvSpPr>
        <p:spPr>
          <a:xfrm>
            <a:off x="7790688" y="2194560"/>
            <a:ext cx="3355848" cy="502920"/>
          </a:xfrm>
          <a:prstGeom prst="rect">
            <a:avLst/>
          </a:prstGeom>
          <a:noFill/>
        </p:spPr>
        <p:txBody>
          <a:bodyPr wrap="square" lIns="0" rIns="0" tIns="0" bIns="0" anchor="ctr">
            <a:spAutoFit/>
          </a:bodyPr>
          <a:lstStyle/>
          <a:p>
            <a:pPr algn="l">
              <a:spcAft>
                <a:spcPts val="600"/>
              </a:spcAft>
            </a:pPr>
            <a:r>
              <a:rPr sz="1700" b="0">
                <a:solidFill>
                  <a:srgbClr val="DDDDDD"/>
                </a:solidFill>
                <a:latin typeface="Malgun Gothic"/>
              </a:rPr>
              <a:t>추측 제외</a:t>
            </a:r>
          </a:p>
        </p:txBody>
      </p:sp>
      <p:sp>
        <p:nvSpPr>
          <p:cNvPr id="13" name="Rounded Rectangle 12"/>
          <p:cNvSpPr/>
          <p:nvPr/>
        </p:nvSpPr>
        <p:spPr>
          <a:xfrm>
            <a:off x="777240" y="3127248"/>
            <a:ext cx="10634472" cy="896112"/>
          </a:xfrm>
          <a:prstGeom prst="roundRect">
            <a:avLst>
              <a:gd name="adj" fmla="val 3500"/>
            </a:avLst>
          </a:prstGeom>
          <a:solidFill>
            <a:srgbClr val="FAFAFA"/>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3282696"/>
            <a:ext cx="2743200" cy="320040"/>
          </a:xfrm>
          <a:prstGeom prst="rect">
            <a:avLst/>
          </a:prstGeom>
          <a:noFill/>
        </p:spPr>
        <p:txBody>
          <a:bodyPr wrap="square" lIns="0" rIns="0" tIns="0" bIns="0" anchor="ctr">
            <a:spAutoFit/>
          </a:bodyPr>
          <a:lstStyle/>
          <a:p>
            <a:pPr algn="l">
              <a:spcAft>
                <a:spcPts val="600"/>
              </a:spcAft>
            </a:pPr>
            <a:r>
              <a:rPr sz="1800" b="1">
                <a:solidFill>
                  <a:srgbClr val="171717"/>
                </a:solidFill>
                <a:latin typeface="Malgun Gothic"/>
              </a:rPr>
              <a:t>설명 충돌</a:t>
            </a:r>
          </a:p>
        </p:txBody>
      </p:sp>
      <p:sp>
        <p:nvSpPr>
          <p:cNvPr id="15" name="TextBox 14"/>
          <p:cNvSpPr txBox="1"/>
          <p:nvPr/>
        </p:nvSpPr>
        <p:spPr>
          <a:xfrm>
            <a:off x="3813048" y="3410712"/>
            <a:ext cx="402336" cy="365760"/>
          </a:xfrm>
          <a:prstGeom prst="rect">
            <a:avLst/>
          </a:prstGeom>
          <a:noFill/>
        </p:spPr>
        <p:txBody>
          <a:bodyPr wrap="square" lIns="0" rIns="0" tIns="0" bIns="0" anchor="ctr">
            <a:spAutoFit/>
          </a:bodyPr>
          <a:lstStyle/>
          <a:p>
            <a:pPr algn="ctr">
              <a:spcAft>
                <a:spcPts val="500"/>
              </a:spcAft>
            </a:pPr>
            <a:r>
              <a:rPr sz="2500" b="0">
                <a:solidFill>
                  <a:srgbClr val="24805B"/>
                </a:solidFill>
                <a:latin typeface="Malgun Gothic"/>
              </a:rPr>
              <a:t>→</a:t>
            </a:r>
          </a:p>
        </p:txBody>
      </p:sp>
      <p:sp>
        <p:nvSpPr>
          <p:cNvPr id="16" name="TextBox 15"/>
          <p:cNvSpPr txBox="1"/>
          <p:nvPr/>
        </p:nvSpPr>
        <p:spPr>
          <a:xfrm>
            <a:off x="4434840" y="3282696"/>
            <a:ext cx="2999232" cy="320040"/>
          </a:xfrm>
          <a:prstGeom prst="rect">
            <a:avLst/>
          </a:prstGeom>
          <a:noFill/>
        </p:spPr>
        <p:txBody>
          <a:bodyPr wrap="square" lIns="0" rIns="0" tIns="0" bIns="0" anchor="ctr">
            <a:spAutoFit/>
          </a:bodyPr>
          <a:lstStyle/>
          <a:p>
            <a:pPr algn="l">
              <a:spcAft>
                <a:spcPts val="600"/>
              </a:spcAft>
            </a:pPr>
            <a:r>
              <a:rPr sz="1700" b="1">
                <a:solidFill>
                  <a:srgbClr val="171717"/>
                </a:solidFill>
                <a:latin typeface="Malgun Gothic"/>
              </a:rPr>
              <a:t>조건 · 출처 비교</a:t>
            </a:r>
          </a:p>
        </p:txBody>
      </p:sp>
      <p:sp>
        <p:nvSpPr>
          <p:cNvPr id="17" name="TextBox 16"/>
          <p:cNvSpPr txBox="1"/>
          <p:nvPr/>
        </p:nvSpPr>
        <p:spPr>
          <a:xfrm>
            <a:off x="7790688" y="3291840"/>
            <a:ext cx="3355848" cy="502920"/>
          </a:xfrm>
          <a:prstGeom prst="rect">
            <a:avLst/>
          </a:prstGeom>
          <a:noFill/>
        </p:spPr>
        <p:txBody>
          <a:bodyPr wrap="square" lIns="0" rIns="0" tIns="0" bIns="0" anchor="ctr">
            <a:spAutoFit/>
          </a:bodyPr>
          <a:lstStyle/>
          <a:p>
            <a:pPr algn="l">
              <a:spcAft>
                <a:spcPts val="600"/>
              </a:spcAft>
            </a:pPr>
            <a:r>
              <a:rPr sz="1700" b="0">
                <a:solidFill>
                  <a:srgbClr val="707070"/>
                </a:solidFill>
                <a:latin typeface="Malgun Gothic"/>
              </a:rPr>
              <a:t>단정 보류</a:t>
            </a:r>
          </a:p>
        </p:txBody>
      </p:sp>
      <p:sp>
        <p:nvSpPr>
          <p:cNvPr id="18" name="Rounded Rectangle 17"/>
          <p:cNvSpPr/>
          <p:nvPr/>
        </p:nvSpPr>
        <p:spPr>
          <a:xfrm>
            <a:off x="777240" y="4224528"/>
            <a:ext cx="10634472" cy="896112"/>
          </a:xfrm>
          <a:prstGeom prst="roundRect">
            <a:avLst>
              <a:gd name="adj" fmla="val 3500"/>
            </a:avLst>
          </a:prstGeom>
          <a:solidFill>
            <a:srgbClr val="FAFAFA"/>
          </a:solidFill>
          <a:ln w="889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4128" y="4379976"/>
            <a:ext cx="2743200" cy="320040"/>
          </a:xfrm>
          <a:prstGeom prst="rect">
            <a:avLst/>
          </a:prstGeom>
          <a:noFill/>
        </p:spPr>
        <p:txBody>
          <a:bodyPr wrap="square" lIns="0" rIns="0" tIns="0" bIns="0" anchor="ctr">
            <a:spAutoFit/>
          </a:bodyPr>
          <a:lstStyle/>
          <a:p>
            <a:pPr algn="l">
              <a:spcAft>
                <a:spcPts val="600"/>
              </a:spcAft>
            </a:pPr>
            <a:r>
              <a:rPr sz="1800" b="1">
                <a:solidFill>
                  <a:srgbClr val="171717"/>
                </a:solidFill>
                <a:latin typeface="Malgun Gothic"/>
              </a:rPr>
              <a:t>분류 불명</a:t>
            </a:r>
          </a:p>
        </p:txBody>
      </p:sp>
      <p:sp>
        <p:nvSpPr>
          <p:cNvPr id="20" name="TextBox 19"/>
          <p:cNvSpPr txBox="1"/>
          <p:nvPr/>
        </p:nvSpPr>
        <p:spPr>
          <a:xfrm>
            <a:off x="3813048" y="4507992"/>
            <a:ext cx="402336" cy="365760"/>
          </a:xfrm>
          <a:prstGeom prst="rect">
            <a:avLst/>
          </a:prstGeom>
          <a:noFill/>
        </p:spPr>
        <p:txBody>
          <a:bodyPr wrap="square" lIns="0" rIns="0" tIns="0" bIns="0" anchor="ctr">
            <a:spAutoFit/>
          </a:bodyPr>
          <a:lstStyle/>
          <a:p>
            <a:pPr algn="ctr">
              <a:spcAft>
                <a:spcPts val="500"/>
              </a:spcAft>
            </a:pPr>
            <a:r>
              <a:rPr sz="2500" b="0">
                <a:solidFill>
                  <a:srgbClr val="24805B"/>
                </a:solidFill>
                <a:latin typeface="Malgun Gothic"/>
              </a:rPr>
              <a:t>→</a:t>
            </a:r>
          </a:p>
        </p:txBody>
      </p:sp>
      <p:sp>
        <p:nvSpPr>
          <p:cNvPr id="21" name="TextBox 20"/>
          <p:cNvSpPr txBox="1"/>
          <p:nvPr/>
        </p:nvSpPr>
        <p:spPr>
          <a:xfrm>
            <a:off x="4434840" y="4379976"/>
            <a:ext cx="2999232" cy="320040"/>
          </a:xfrm>
          <a:prstGeom prst="rect">
            <a:avLst/>
          </a:prstGeom>
          <a:noFill/>
        </p:spPr>
        <p:txBody>
          <a:bodyPr wrap="square" lIns="0" rIns="0" tIns="0" bIns="0" anchor="ctr">
            <a:spAutoFit/>
          </a:bodyPr>
          <a:lstStyle/>
          <a:p>
            <a:pPr algn="l">
              <a:spcAft>
                <a:spcPts val="600"/>
              </a:spcAft>
            </a:pPr>
            <a:r>
              <a:rPr sz="1700" b="1">
                <a:solidFill>
                  <a:srgbClr val="171717"/>
                </a:solidFill>
                <a:latin typeface="Malgun Gothic"/>
              </a:rPr>
              <a:t>문제 후보 유지</a:t>
            </a:r>
          </a:p>
        </p:txBody>
      </p:sp>
      <p:sp>
        <p:nvSpPr>
          <p:cNvPr id="22" name="TextBox 21"/>
          <p:cNvSpPr txBox="1"/>
          <p:nvPr/>
        </p:nvSpPr>
        <p:spPr>
          <a:xfrm>
            <a:off x="7790688" y="4389120"/>
            <a:ext cx="3355848" cy="502920"/>
          </a:xfrm>
          <a:prstGeom prst="rect">
            <a:avLst/>
          </a:prstGeom>
          <a:noFill/>
        </p:spPr>
        <p:txBody>
          <a:bodyPr wrap="square" lIns="0" rIns="0" tIns="0" bIns="0" anchor="ctr">
            <a:spAutoFit/>
          </a:bodyPr>
          <a:lstStyle/>
          <a:p>
            <a:pPr algn="l">
              <a:spcAft>
                <a:spcPts val="600"/>
              </a:spcAft>
            </a:pPr>
            <a:r>
              <a:rPr sz="1700" b="0">
                <a:solidFill>
                  <a:srgbClr val="707070"/>
                </a:solidFill>
                <a:latin typeface="Malgun Gothic"/>
              </a:rPr>
              <a:t>재질문</a:t>
            </a:r>
          </a:p>
        </p:txBody>
      </p:sp>
      <p:sp>
        <p:nvSpPr>
          <p:cNvPr id="23" name="TextBox 22"/>
          <p:cNvSpPr txBox="1"/>
          <p:nvPr/>
        </p:nvSpPr>
        <p:spPr>
          <a:xfrm>
            <a:off x="777240" y="5925312"/>
            <a:ext cx="10515600" cy="338328"/>
          </a:xfrm>
          <a:prstGeom prst="rect">
            <a:avLst/>
          </a:prstGeom>
          <a:noFill/>
        </p:spPr>
        <p:txBody>
          <a:bodyPr wrap="square" lIns="0" rIns="0" tIns="0" bIns="0" anchor="ctr">
            <a:spAutoFit/>
          </a:bodyPr>
          <a:lstStyle/>
          <a:p>
            <a:pPr algn="l">
              <a:spcAft>
                <a:spcPts val="600"/>
              </a:spcAft>
            </a:pPr>
            <a:r>
              <a:rPr sz="1400" b="1">
                <a:solidFill>
                  <a:srgbClr val="24805B"/>
                </a:solidFill>
                <a:latin typeface="Malgun Gothic"/>
              </a:rPr>
              <a:t>기억 · 검색 · 응답 오류 분리</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384048"/>
            <a:ext cx="9875520" cy="265176"/>
          </a:xfrm>
          <a:prstGeom prst="rect">
            <a:avLst/>
          </a:prstGeom>
          <a:noFill/>
          <a:ln/>
        </p:spPr>
        <p:txBody>
          <a:bodyPr wrap="square" lIns="0" tIns="0" rIns="0" bIns="0" rtlCol="0" anchor="ctr">
            <a:normAutofit/>
          </a:bodyPr>
          <a:lstStyle/>
          <a:p>
            <a:pPr indent="0" marL="0">
              <a:buNone/>
            </a:pPr>
            <a:r>
              <a:rPr lang="en-US" sz="1030" b="1" spc="120" kern="0" dirty="0">
                <a:solidFill>
                  <a:srgbClr val="707070"/>
                </a:solidFill>
                <a:latin typeface="Arial" pitchFamily="34" charset="0"/>
                <a:ea typeface="Arial" pitchFamily="34" charset="-122"/>
                <a:cs typeface="Arial" pitchFamily="34" charset="-120"/>
              </a:rPr>
              <a:t>PRODUCT · CHAT AND ANALYSIS</a:t>
            </a:r>
            <a:endParaRPr lang="en-US" sz="1030" dirty="0"/>
          </a:p>
        </p:txBody>
      </p:sp>
      <p:sp>
        <p:nvSpPr>
          <p:cNvPr id="3" name="Text 1"/>
          <p:cNvSpPr/>
          <p:nvPr/>
        </p:nvSpPr>
        <p:spPr>
          <a:xfrm>
            <a:off x="777240" y="786384"/>
            <a:ext cx="10652760" cy="612648"/>
          </a:xfrm>
          <a:prstGeom prst="rect">
            <a:avLst/>
          </a:prstGeom>
          <a:noFill/>
          <a:ln/>
        </p:spPr>
        <p:txBody>
          <a:bodyPr wrap="square" lIns="0" tIns="0" rIns="0" bIns="0" rtlCol="0" anchor="ctr">
            <a:normAutofit/>
          </a:bodyPr>
          <a:lstStyle/>
          <a:p>
            <a:pPr indent="0" marL="0">
              <a:buNone/>
            </a:pPr>
            <a:r>
              <a:rPr lang="en-US" sz="3100" b="1" dirty="0">
                <a:solidFill>
                  <a:srgbClr val="171717"/>
                </a:solidFill>
                <a:latin typeface="Malgun Gothic" pitchFamily="34" charset="0"/>
                <a:ea typeface="Malgun Gothic" pitchFamily="34" charset="-122"/>
                <a:cs typeface="Malgun Gothic" pitchFamily="34" charset="-120"/>
              </a:rPr>
              <a:t>핵심 인터페이스 — 챗봇 · 스윙 분석</a:t>
            </a:r>
            <a:endParaRPr lang="en-US" sz="3100" dirty="0"/>
          </a:p>
        </p:txBody>
      </p:sp>
      <p:sp>
        <p:nvSpPr>
          <p:cNvPr id="4" name="Shape 2"/>
          <p:cNvSpPr/>
          <p:nvPr/>
        </p:nvSpPr>
        <p:spPr>
          <a:xfrm>
            <a:off x="777240" y="1508760"/>
            <a:ext cx="10634472" cy="0"/>
          </a:xfrm>
          <a:prstGeom prst="line">
            <a:avLst/>
          </a:prstGeom>
          <a:noFill/>
          <a:ln w="10160">
            <a:solidFill>
              <a:srgbClr val="EDEDED"/>
            </a:solidFill>
            <a:prstDash val="solid"/>
          </a:ln>
        </p:spPr>
      </p:sp>
      <p:sp>
        <p:nvSpPr>
          <p:cNvPr id="5" name="Text 3"/>
          <p:cNvSpPr/>
          <p:nvPr/>
        </p:nvSpPr>
        <p:spPr>
          <a:xfrm>
            <a:off x="10652760" y="6446520"/>
            <a:ext cx="758952" cy="201168"/>
          </a:xfrm>
          <a:prstGeom prst="rect">
            <a:avLst/>
          </a:prstGeom>
          <a:noFill/>
          <a:ln/>
        </p:spPr>
        <p:txBody>
          <a:bodyPr wrap="square" lIns="0" tIns="0" rIns="0" bIns="0" rtlCol="0" anchor="ctr">
            <a:normAutofit/>
          </a:bodyPr>
          <a:lstStyle/>
          <a:p>
            <a:pPr algn="r" indent="0" marL="0">
              <a:buNone/>
            </a:pPr>
            <a:r>
              <a:rPr lang="en-US" sz="1040" dirty="0">
                <a:solidFill>
                  <a:srgbClr val="707070"/>
                </a:solidFill>
                <a:latin typeface="Arial" pitchFamily="34" charset="0"/>
                <a:ea typeface="Arial" pitchFamily="34" charset="-122"/>
                <a:cs typeface="Arial" pitchFamily="34" charset="-120"/>
              </a:rPr>
              <a:t>17 / 18</a:t>
            </a:r>
            <a:endParaRPr lang="en-US" sz="1040" dirty="0"/>
          </a:p>
        </p:txBody>
      </p:sp>
      <p:sp>
        <p:nvSpPr>
          <p:cNvPr id="6" name="Shape 4"/>
          <p:cNvSpPr/>
          <p:nvPr/>
        </p:nvSpPr>
        <p:spPr>
          <a:xfrm>
            <a:off x="777240" y="1947672"/>
            <a:ext cx="5138928" cy="4279392"/>
          </a:xfrm>
          <a:prstGeom prst="roundRect">
            <a:avLst>
              <a:gd name="adj" fmla="val 2564"/>
            </a:avLst>
          </a:prstGeom>
          <a:solidFill>
            <a:srgbClr val="FFFFFF"/>
          </a:solidFill>
          <a:ln w="10160">
            <a:solidFill>
              <a:srgbClr val="DFDFDF"/>
            </a:solidFill>
            <a:prstDash val="solid"/>
          </a:ln>
        </p:spPr>
      </p:sp>
      <p:pic>
        <p:nvPicPr>
          <p:cNvPr id="7" name="Image 0" descr="C:\Users\user\.codex\visualizations\2026\09\11\01a08f86-6b4e-7d20-944b-d65325364c8f\swing-presentation\fifteen-slide\original-slide-1-image-1.png">    </p:cNvPr>
          <p:cNvPicPr>
            <a:picLocks noChangeAspect="1"/>
          </p:cNvPicPr>
          <p:nvPr/>
        </p:nvPicPr>
        <p:blipFill>
          <a:blip r:embed="rId1"/>
          <a:stretch>
            <a:fillRect/>
          </a:stretch>
        </p:blipFill>
        <p:spPr>
          <a:xfrm>
            <a:off x="1106424" y="2057400"/>
            <a:ext cx="2148840" cy="4050792"/>
          </a:xfrm>
          <a:prstGeom prst="rect">
            <a:avLst/>
          </a:prstGeom>
        </p:spPr>
      </p:pic>
      <p:sp>
        <p:nvSpPr>
          <p:cNvPr id="8" name="Shape 5"/>
          <p:cNvSpPr/>
          <p:nvPr/>
        </p:nvSpPr>
        <p:spPr>
          <a:xfrm>
            <a:off x="3520440" y="3090672"/>
            <a:ext cx="109728" cy="109728"/>
          </a:xfrm>
          <a:prstGeom prst="ellipse">
            <a:avLst/>
          </a:prstGeom>
          <a:solidFill>
            <a:srgbClr val="3ECF8E"/>
          </a:solidFill>
          <a:ln w="12700">
            <a:solidFill>
              <a:srgbClr val="3ECF8E">
                <a:alpha val="0"/>
              </a:srgbClr>
            </a:solidFill>
            <a:prstDash val="solid"/>
          </a:ln>
        </p:spPr>
      </p:sp>
      <p:sp>
        <p:nvSpPr>
          <p:cNvPr id="9" name="Text 6"/>
          <p:cNvSpPr/>
          <p:nvPr/>
        </p:nvSpPr>
        <p:spPr>
          <a:xfrm>
            <a:off x="3520440" y="3401568"/>
            <a:ext cx="2066544" cy="658368"/>
          </a:xfrm>
          <a:prstGeom prst="rect">
            <a:avLst/>
          </a:prstGeom>
          <a:noFill/>
          <a:ln/>
        </p:spPr>
        <p:txBody>
          <a:bodyPr wrap="square" lIns="0" tIns="0" rIns="0" bIns="0" rtlCol="0" anchor="ctr">
            <a:normAutofit/>
          </a:bodyPr>
          <a:lstStyle/>
          <a:p>
            <a:pPr indent="0" marL="0">
              <a:buNone/>
            </a:pPr>
            <a:r>
              <a:rPr lang="en-US" sz="1960" b="1" dirty="0">
                <a:solidFill>
                  <a:srgbClr val="171717"/>
                </a:solidFill>
                <a:latin typeface="Malgun Gothic" pitchFamily="34" charset="0"/>
                <a:ea typeface="Malgun Gothic" pitchFamily="34" charset="-122"/>
                <a:cs typeface="Malgun Gothic" pitchFamily="34" charset="-120"/>
              </a:rPr>
              <a:t>챗봇</a:t>
            </a:r>
            <a:endParaRPr lang="en-US" sz="1960" dirty="0"/>
          </a:p>
        </p:txBody>
      </p:sp>
      <p:sp>
        <p:nvSpPr>
          <p:cNvPr id="10" name="Text 7"/>
          <p:cNvSpPr/>
          <p:nvPr/>
        </p:nvSpPr>
        <p:spPr>
          <a:xfrm>
            <a:off x="3520440" y="4251960"/>
            <a:ext cx="2066544" cy="713232"/>
          </a:xfrm>
          <a:prstGeom prst="rect">
            <a:avLst/>
          </a:prstGeom>
          <a:noFill/>
          <a:ln/>
        </p:spPr>
        <p:txBody>
          <a:bodyPr wrap="square" lIns="0" tIns="0" rIns="0" bIns="0" rtlCol="0" anchor="ctr">
            <a:normAutofit/>
          </a:bodyPr>
          <a:lstStyle/>
          <a:p>
            <a:pPr indent="0" marL="0">
              <a:buNone/>
            </a:pPr>
            <a:r>
              <a:rPr lang="en-US" sz="1320" dirty="0">
                <a:solidFill>
                  <a:srgbClr val="707070"/>
                </a:solidFill>
                <a:latin typeface="Malgun Gothic" pitchFamily="34" charset="0"/>
                <a:ea typeface="Malgun Gothic" pitchFamily="34" charset="-122"/>
                <a:cs typeface="Malgun Gothic" pitchFamily="34" charset="-120"/>
              </a:rPr>
              <a:t>텍스트 · 미디어 질문</a:t>
            </a:r>
            <a:endParaRPr lang="en-US" sz="1320" dirty="0"/>
          </a:p>
        </p:txBody>
      </p:sp>
      <p:sp>
        <p:nvSpPr>
          <p:cNvPr id="11" name="Shape 8"/>
          <p:cNvSpPr/>
          <p:nvPr/>
        </p:nvSpPr>
        <p:spPr>
          <a:xfrm>
            <a:off x="6272784" y="1947672"/>
            <a:ext cx="5138928" cy="4279392"/>
          </a:xfrm>
          <a:prstGeom prst="roundRect">
            <a:avLst>
              <a:gd name="adj" fmla="val 2564"/>
            </a:avLst>
          </a:prstGeom>
          <a:solidFill>
            <a:srgbClr val="FFFFFF"/>
          </a:solidFill>
          <a:ln w="10160">
            <a:solidFill>
              <a:srgbClr val="DFDFDF"/>
            </a:solidFill>
            <a:prstDash val="solid"/>
          </a:ln>
        </p:spPr>
      </p:sp>
      <p:pic>
        <p:nvPicPr>
          <p:cNvPr id="12" name="Image 1" descr="C:\Users\user\.codex\visualizations\2026\09\11\01a08f86-6b4e-7d20-944b-d65325364c8f\swing-presentation\fifteen-slide\original-slide-7-image-1.png">    </p:cNvPr>
          <p:cNvPicPr>
            <a:picLocks noChangeAspect="1"/>
          </p:cNvPicPr>
          <p:nvPr/>
        </p:nvPicPr>
        <p:blipFill>
          <a:blip r:embed="rId2"/>
          <a:stretch>
            <a:fillRect/>
          </a:stretch>
        </p:blipFill>
        <p:spPr>
          <a:xfrm>
            <a:off x="6601968" y="2057400"/>
            <a:ext cx="2148840" cy="4050792"/>
          </a:xfrm>
          <a:prstGeom prst="rect">
            <a:avLst/>
          </a:prstGeom>
        </p:spPr>
      </p:pic>
      <p:sp>
        <p:nvSpPr>
          <p:cNvPr id="13" name="Shape 9"/>
          <p:cNvSpPr/>
          <p:nvPr/>
        </p:nvSpPr>
        <p:spPr>
          <a:xfrm>
            <a:off x="9015984" y="3090672"/>
            <a:ext cx="109728" cy="109728"/>
          </a:xfrm>
          <a:prstGeom prst="ellipse">
            <a:avLst/>
          </a:prstGeom>
          <a:solidFill>
            <a:srgbClr val="3ECF8E"/>
          </a:solidFill>
          <a:ln w="12700">
            <a:solidFill>
              <a:srgbClr val="3ECF8E">
                <a:alpha val="0"/>
              </a:srgbClr>
            </a:solidFill>
            <a:prstDash val="solid"/>
          </a:ln>
        </p:spPr>
      </p:sp>
      <p:sp>
        <p:nvSpPr>
          <p:cNvPr id="14" name="Text 10"/>
          <p:cNvSpPr/>
          <p:nvPr/>
        </p:nvSpPr>
        <p:spPr>
          <a:xfrm>
            <a:off x="9015984" y="3401568"/>
            <a:ext cx="2066544" cy="658368"/>
          </a:xfrm>
          <a:prstGeom prst="rect">
            <a:avLst/>
          </a:prstGeom>
          <a:noFill/>
          <a:ln/>
        </p:spPr>
        <p:txBody>
          <a:bodyPr wrap="square" lIns="0" tIns="0" rIns="0" bIns="0" rtlCol="0" anchor="ctr">
            <a:normAutofit/>
          </a:bodyPr>
          <a:lstStyle/>
          <a:p>
            <a:pPr indent="0" marL="0">
              <a:buNone/>
            </a:pPr>
            <a:r>
              <a:rPr lang="en-US" sz="1960" b="1" dirty="0">
                <a:solidFill>
                  <a:srgbClr val="171717"/>
                </a:solidFill>
                <a:latin typeface="Malgun Gothic" pitchFamily="34" charset="0"/>
                <a:ea typeface="Malgun Gothic" pitchFamily="34" charset="-122"/>
                <a:cs typeface="Malgun Gothic" pitchFamily="34" charset="-120"/>
              </a:rPr>
              <a:t>스윙 분석 응답</a:t>
            </a:r>
            <a:endParaRPr lang="en-US" sz="1960" dirty="0"/>
          </a:p>
        </p:txBody>
      </p:sp>
      <p:sp>
        <p:nvSpPr>
          <p:cNvPr id="15" name="Text 11"/>
          <p:cNvSpPr/>
          <p:nvPr/>
        </p:nvSpPr>
        <p:spPr>
          <a:xfrm>
            <a:off x="9015984" y="4251960"/>
            <a:ext cx="2066544" cy="713232"/>
          </a:xfrm>
          <a:prstGeom prst="rect">
            <a:avLst/>
          </a:prstGeom>
          <a:noFill/>
          <a:ln/>
        </p:spPr>
        <p:txBody>
          <a:bodyPr wrap="square" lIns="0" tIns="0" rIns="0" bIns="0" rtlCol="0" anchor="ctr">
            <a:normAutofit/>
          </a:bodyPr>
          <a:lstStyle/>
          <a:p>
            <a:pPr indent="0" marL="0">
              <a:buNone/>
            </a:pPr>
            <a:r>
              <a:rPr lang="en-US" sz="1320" dirty="0">
                <a:solidFill>
                  <a:srgbClr val="707070"/>
                </a:solidFill>
                <a:latin typeface="Malgun Gothic" pitchFamily="34" charset="0"/>
                <a:ea typeface="Malgun Gothic" pitchFamily="34" charset="-122"/>
                <a:cs typeface="Malgun Gothic" pitchFamily="34" charset="-120"/>
              </a:rPr>
              <a:t>우선 과제 · 다음 검증</a:t>
            </a:r>
            <a:endParaRPr lang="en-US" sz="1320" dirty="0"/>
          </a:p>
        </p:txBody>
      </p:sp>
      <p:sp>
        <p:nvSpPr>
          <p:cNvPr id="16" name="Text 12"/>
          <p:cNvSpPr/>
          <p:nvPr/>
        </p:nvSpPr>
        <p:spPr>
          <a:xfrm>
            <a:off x="777240" y="6437376"/>
            <a:ext cx="8092440" cy="201168"/>
          </a:xfrm>
          <a:prstGeom prst="rect">
            <a:avLst/>
          </a:prstGeom>
          <a:noFill/>
          <a:ln/>
        </p:spPr>
        <p:txBody>
          <a:bodyPr wrap="square" lIns="0" tIns="0" rIns="0" bIns="0" rtlCol="0" anchor="ctr">
            <a:normAutofit/>
          </a:bodyPr>
          <a:lstStyle/>
          <a:p>
            <a:pPr indent="0" marL="0">
              <a:buNone/>
            </a:pPr>
            <a:r>
              <a:rPr lang="en-US" sz="1020" dirty="0">
                <a:solidFill>
                  <a:srgbClr val="707070"/>
                </a:solidFill>
                <a:latin typeface="Malgun Gothic" pitchFamily="34" charset="0"/>
                <a:ea typeface="Malgun Gothic" pitchFamily="34" charset="-122"/>
                <a:cs typeface="Malgun Gothic" pitchFamily="34" charset="-120"/>
              </a:rPr>
              <a:t>UI 재현 화면 · mock API</a:t>
            </a:r>
            <a:endParaRPr lang="en-US" sz="10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384048"/>
            <a:ext cx="9875520" cy="265176"/>
          </a:xfrm>
          <a:prstGeom prst="rect">
            <a:avLst/>
          </a:prstGeom>
          <a:noFill/>
          <a:ln/>
        </p:spPr>
        <p:txBody>
          <a:bodyPr wrap="square" lIns="0" tIns="0" rIns="0" bIns="0" rtlCol="0" anchor="ctr">
            <a:normAutofit/>
          </a:bodyPr>
          <a:lstStyle/>
          <a:p>
            <a:pPr indent="0" marL="0">
              <a:buNone/>
            </a:pPr>
            <a:r>
              <a:rPr lang="en-US" sz="1030" b="1" spc="120" kern="0" dirty="0">
                <a:solidFill>
                  <a:srgbClr val="707070"/>
                </a:solidFill>
                <a:latin typeface="Arial" pitchFamily="34" charset="0"/>
                <a:ea typeface="Arial" pitchFamily="34" charset="-122"/>
                <a:cs typeface="Arial" pitchFamily="34" charset="-120"/>
              </a:rPr>
              <a:t>PRODUCT · MEMBER STATE</a:t>
            </a:r>
            <a:endParaRPr lang="en-US" sz="1030" dirty="0"/>
          </a:p>
        </p:txBody>
      </p:sp>
      <p:sp>
        <p:nvSpPr>
          <p:cNvPr id="3" name="Text 1"/>
          <p:cNvSpPr/>
          <p:nvPr/>
        </p:nvSpPr>
        <p:spPr>
          <a:xfrm>
            <a:off x="777240" y="786384"/>
            <a:ext cx="10652760" cy="612648"/>
          </a:xfrm>
          <a:prstGeom prst="rect">
            <a:avLst/>
          </a:prstGeom>
          <a:noFill/>
          <a:ln/>
        </p:spPr>
        <p:txBody>
          <a:bodyPr wrap="square" lIns="0" tIns="0" rIns="0" bIns="0" rtlCol="0" anchor="ctr">
            <a:normAutofit/>
          </a:bodyPr>
          <a:lstStyle/>
          <a:p>
            <a:pPr indent="0" marL="0">
              <a:buNone/>
            </a:pPr>
            <a:r>
              <a:rPr lang="en-US" sz="3100" b="1" dirty="0">
                <a:solidFill>
                  <a:srgbClr val="171717"/>
                </a:solidFill>
                <a:latin typeface="Malgun Gothic" pitchFamily="34" charset="0"/>
                <a:ea typeface="Malgun Gothic" pitchFamily="34" charset="-122"/>
                <a:cs typeface="Malgun Gothic" pitchFamily="34" charset="-120"/>
              </a:rPr>
              <a:t>회원별 코칭 — 프로필 · 로드맵 · 재로그인</a:t>
            </a:r>
            <a:endParaRPr lang="en-US" sz="3100" dirty="0"/>
          </a:p>
        </p:txBody>
      </p:sp>
      <p:sp>
        <p:nvSpPr>
          <p:cNvPr id="4" name="Shape 2"/>
          <p:cNvSpPr/>
          <p:nvPr/>
        </p:nvSpPr>
        <p:spPr>
          <a:xfrm>
            <a:off x="777240" y="1508760"/>
            <a:ext cx="10634472" cy="0"/>
          </a:xfrm>
          <a:prstGeom prst="line">
            <a:avLst/>
          </a:prstGeom>
          <a:noFill/>
          <a:ln w="10160">
            <a:solidFill>
              <a:srgbClr val="EDEDED"/>
            </a:solidFill>
            <a:prstDash val="solid"/>
          </a:ln>
        </p:spPr>
      </p:sp>
      <p:sp>
        <p:nvSpPr>
          <p:cNvPr id="5" name="Text 3"/>
          <p:cNvSpPr/>
          <p:nvPr/>
        </p:nvSpPr>
        <p:spPr>
          <a:xfrm>
            <a:off x="10652760" y="6446520"/>
            <a:ext cx="758952" cy="201168"/>
          </a:xfrm>
          <a:prstGeom prst="rect">
            <a:avLst/>
          </a:prstGeom>
          <a:noFill/>
          <a:ln/>
        </p:spPr>
        <p:txBody>
          <a:bodyPr wrap="square" lIns="0" tIns="0" rIns="0" bIns="0" rtlCol="0" anchor="ctr">
            <a:normAutofit/>
          </a:bodyPr>
          <a:lstStyle/>
          <a:p>
            <a:pPr algn="r" indent="0" marL="0">
              <a:buNone/>
            </a:pPr>
            <a:r>
              <a:rPr lang="en-US" sz="1040" dirty="0">
                <a:solidFill>
                  <a:srgbClr val="707070"/>
                </a:solidFill>
                <a:latin typeface="Arial" pitchFamily="34" charset="0"/>
                <a:ea typeface="Arial" pitchFamily="34" charset="-122"/>
                <a:cs typeface="Arial" pitchFamily="34" charset="-120"/>
              </a:rPr>
              <a:t>18 / 18</a:t>
            </a:r>
            <a:endParaRPr lang="en-US" sz="1040" dirty="0"/>
          </a:p>
        </p:txBody>
      </p:sp>
      <p:sp>
        <p:nvSpPr>
          <p:cNvPr id="6" name="Shape 4"/>
          <p:cNvSpPr/>
          <p:nvPr/>
        </p:nvSpPr>
        <p:spPr>
          <a:xfrm>
            <a:off x="777240" y="1947672"/>
            <a:ext cx="10634472" cy="4279392"/>
          </a:xfrm>
          <a:prstGeom prst="roundRect">
            <a:avLst>
              <a:gd name="adj" fmla="val 2564"/>
            </a:avLst>
          </a:prstGeom>
          <a:solidFill>
            <a:srgbClr val="FFFFFF"/>
          </a:solidFill>
          <a:ln w="10160">
            <a:solidFill>
              <a:srgbClr val="DFDFDF"/>
            </a:solidFill>
            <a:prstDash val="solid"/>
          </a:ln>
        </p:spPr>
      </p:sp>
      <p:pic>
        <p:nvPicPr>
          <p:cNvPr id="7" name="Image 0" descr="C:\Users\user\.codex\visualizations\2026\09\11\01a08f86-6b4e-7d20-944b-d65325364c8f\swing-presentation\05-relogin-roadmap.png">    </p:cNvPr>
          <p:cNvPicPr>
            <a:picLocks noChangeAspect="1"/>
          </p:cNvPicPr>
          <p:nvPr/>
        </p:nvPicPr>
        <p:blipFill>
          <a:blip r:embed="rId1"/>
          <a:stretch>
            <a:fillRect/>
          </a:stretch>
        </p:blipFill>
        <p:spPr>
          <a:xfrm>
            <a:off x="1097280" y="2057400"/>
            <a:ext cx="2148840" cy="4050792"/>
          </a:xfrm>
          <a:prstGeom prst="rect">
            <a:avLst/>
          </a:prstGeom>
        </p:spPr>
      </p:pic>
      <p:sp>
        <p:nvSpPr>
          <p:cNvPr id="8" name="Shape 5"/>
          <p:cNvSpPr/>
          <p:nvPr/>
        </p:nvSpPr>
        <p:spPr>
          <a:xfrm>
            <a:off x="3675888" y="2843784"/>
            <a:ext cx="3182112" cy="2176272"/>
          </a:xfrm>
          <a:prstGeom prst="roundRect">
            <a:avLst>
              <a:gd name="adj" fmla="val 5042"/>
            </a:avLst>
          </a:prstGeom>
          <a:solidFill>
            <a:srgbClr val="1C1C1C"/>
          </a:solidFill>
          <a:ln w="10160">
            <a:solidFill>
              <a:srgbClr val="1C1C1C"/>
            </a:solidFill>
            <a:prstDash val="solid"/>
          </a:ln>
        </p:spPr>
      </p:sp>
      <p:sp>
        <p:nvSpPr>
          <p:cNvPr id="9" name="Shape 6"/>
          <p:cNvSpPr/>
          <p:nvPr/>
        </p:nvSpPr>
        <p:spPr>
          <a:xfrm>
            <a:off x="3968496" y="3182112"/>
            <a:ext cx="109728" cy="109728"/>
          </a:xfrm>
          <a:prstGeom prst="ellipse">
            <a:avLst/>
          </a:prstGeom>
          <a:solidFill>
            <a:srgbClr val="3ECF8E"/>
          </a:solidFill>
          <a:ln w="12700">
            <a:solidFill>
              <a:srgbClr val="3ECF8E">
                <a:alpha val="0"/>
              </a:srgbClr>
            </a:solidFill>
            <a:prstDash val="solid"/>
          </a:ln>
        </p:spPr>
      </p:sp>
      <p:sp>
        <p:nvSpPr>
          <p:cNvPr id="10" name="Text 7"/>
          <p:cNvSpPr/>
          <p:nvPr/>
        </p:nvSpPr>
        <p:spPr>
          <a:xfrm>
            <a:off x="3968496" y="3557016"/>
            <a:ext cx="2596896" cy="475488"/>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회원 인증</a:t>
            </a:r>
            <a:endParaRPr lang="en-US" sz="2000" dirty="0"/>
          </a:p>
        </p:txBody>
      </p:sp>
      <p:sp>
        <p:nvSpPr>
          <p:cNvPr id="11" name="Text 8"/>
          <p:cNvSpPr/>
          <p:nvPr/>
        </p:nvSpPr>
        <p:spPr>
          <a:xfrm>
            <a:off x="3968496" y="4160520"/>
            <a:ext cx="2596896" cy="393192"/>
          </a:xfrm>
          <a:prstGeom prst="rect">
            <a:avLst/>
          </a:prstGeom>
          <a:noFill/>
          <a:ln/>
        </p:spPr>
        <p:txBody>
          <a:bodyPr wrap="square" lIns="0" tIns="0" rIns="0" bIns="0" rtlCol="0" anchor="ctr">
            <a:normAutofit/>
          </a:bodyPr>
          <a:lstStyle/>
          <a:p>
            <a:pPr indent="0" marL="0">
              <a:buNone/>
            </a:pPr>
            <a:r>
              <a:rPr lang="en-US" sz="1520" dirty="0">
                <a:solidFill>
                  <a:srgbClr val="DFDFDF"/>
                </a:solidFill>
                <a:latin typeface="Malgun Gothic" pitchFamily="34" charset="0"/>
                <a:ea typeface="Malgun Gothic" pitchFamily="34" charset="-122"/>
                <a:cs typeface="Malgun Gothic" pitchFamily="34" charset="-120"/>
              </a:rPr>
              <a:t>JWT 기반 소유자 식별</a:t>
            </a:r>
            <a:endParaRPr lang="en-US" sz="1520" dirty="0"/>
          </a:p>
        </p:txBody>
      </p:sp>
      <p:sp>
        <p:nvSpPr>
          <p:cNvPr id="12" name="Text 9"/>
          <p:cNvSpPr/>
          <p:nvPr/>
        </p:nvSpPr>
        <p:spPr>
          <a:xfrm>
            <a:off x="7022592" y="3749040"/>
            <a:ext cx="310896" cy="384048"/>
          </a:xfrm>
          <a:prstGeom prst="rect">
            <a:avLst/>
          </a:prstGeom>
          <a:noFill/>
          <a:ln/>
        </p:spPr>
        <p:txBody>
          <a:bodyPr wrap="square" lIns="0" tIns="0" rIns="0" bIns="0" rtlCol="0" anchor="ctr">
            <a:normAutofit/>
          </a:bodyPr>
          <a:lstStyle/>
          <a:p>
            <a:pPr algn="ctr" indent="0" marL="0">
              <a:buNone/>
            </a:pPr>
            <a:r>
              <a:rPr lang="en-US" sz="2600" dirty="0">
                <a:solidFill>
                  <a:srgbClr val="24B47E"/>
                </a:solidFill>
                <a:latin typeface="Arial" pitchFamily="34" charset="0"/>
                <a:ea typeface="Arial" pitchFamily="34" charset="-122"/>
                <a:cs typeface="Arial" pitchFamily="34" charset="-120"/>
              </a:rPr>
              <a:t>→</a:t>
            </a:r>
            <a:endParaRPr lang="en-US" sz="2600" dirty="0"/>
          </a:p>
        </p:txBody>
      </p:sp>
      <p:sp>
        <p:nvSpPr>
          <p:cNvPr id="13" name="Shape 10"/>
          <p:cNvSpPr/>
          <p:nvPr/>
        </p:nvSpPr>
        <p:spPr>
          <a:xfrm>
            <a:off x="7488936" y="2843784"/>
            <a:ext cx="3401568" cy="2176272"/>
          </a:xfrm>
          <a:prstGeom prst="roundRect">
            <a:avLst>
              <a:gd name="adj" fmla="val 5042"/>
            </a:avLst>
          </a:prstGeom>
          <a:solidFill>
            <a:srgbClr val="FAFAFA"/>
          </a:solidFill>
          <a:ln w="10160">
            <a:solidFill>
              <a:srgbClr val="EDEDED"/>
            </a:solidFill>
            <a:prstDash val="solid"/>
          </a:ln>
        </p:spPr>
      </p:sp>
      <p:sp>
        <p:nvSpPr>
          <p:cNvPr id="14" name="Shape 11"/>
          <p:cNvSpPr/>
          <p:nvPr/>
        </p:nvSpPr>
        <p:spPr>
          <a:xfrm>
            <a:off x="7781544" y="3182112"/>
            <a:ext cx="109728" cy="109728"/>
          </a:xfrm>
          <a:prstGeom prst="ellipse">
            <a:avLst/>
          </a:prstGeom>
          <a:solidFill>
            <a:srgbClr val="3ECF8E"/>
          </a:solidFill>
          <a:ln w="12700">
            <a:solidFill>
              <a:srgbClr val="3ECF8E">
                <a:alpha val="0"/>
              </a:srgbClr>
            </a:solidFill>
            <a:prstDash val="solid"/>
          </a:ln>
        </p:spPr>
      </p:sp>
      <p:sp>
        <p:nvSpPr>
          <p:cNvPr id="15" name="Text 12"/>
          <p:cNvSpPr/>
          <p:nvPr/>
        </p:nvSpPr>
        <p:spPr>
          <a:xfrm>
            <a:off x="7781544" y="3557016"/>
            <a:ext cx="2816352" cy="475488"/>
          </a:xfrm>
          <a:prstGeom prst="rect">
            <a:avLst/>
          </a:prstGeom>
          <a:noFill/>
          <a:ln/>
        </p:spPr>
        <p:txBody>
          <a:bodyPr wrap="square" lIns="0" tIns="0" rIns="0" bIns="0" rtlCol="0" anchor="ctr">
            <a:normAutofit/>
          </a:bodyPr>
          <a:lstStyle/>
          <a:p>
            <a:pPr indent="0" marL="0">
              <a:buNone/>
            </a:pPr>
            <a:r>
              <a:rPr lang="en-US" sz="2000" b="1" dirty="0">
                <a:solidFill>
                  <a:srgbClr val="171717"/>
                </a:solidFill>
                <a:latin typeface="Malgun Gothic" pitchFamily="34" charset="0"/>
                <a:ea typeface="Malgun Gothic" pitchFamily="34" charset="-122"/>
                <a:cs typeface="Malgun Gothic" pitchFamily="34" charset="-120"/>
              </a:rPr>
              <a:t>Java 제품 DB</a:t>
            </a:r>
            <a:endParaRPr lang="en-US" sz="2000" dirty="0"/>
          </a:p>
        </p:txBody>
      </p:sp>
      <p:sp>
        <p:nvSpPr>
          <p:cNvPr id="16" name="Text 13"/>
          <p:cNvSpPr/>
          <p:nvPr/>
        </p:nvSpPr>
        <p:spPr>
          <a:xfrm>
            <a:off x="7781544" y="4160520"/>
            <a:ext cx="2816352" cy="393192"/>
          </a:xfrm>
          <a:prstGeom prst="rect">
            <a:avLst/>
          </a:prstGeom>
          <a:noFill/>
          <a:ln/>
        </p:spPr>
        <p:txBody>
          <a:bodyPr wrap="square" lIns="0" tIns="0" rIns="0" bIns="0" rtlCol="0" anchor="ctr">
            <a:normAutofit/>
          </a:bodyPr>
          <a:lstStyle/>
          <a:p>
            <a:pPr indent="0" marL="0">
              <a:buNone/>
            </a:pPr>
            <a:r>
              <a:rPr lang="en-US" sz="1410" dirty="0">
                <a:solidFill>
                  <a:srgbClr val="707070"/>
                </a:solidFill>
                <a:latin typeface="Malgun Gothic" pitchFamily="34" charset="0"/>
                <a:ea typeface="Malgun Gothic" pitchFamily="34" charset="-122"/>
                <a:cs typeface="Malgun Gothic" pitchFamily="34" charset="-120"/>
              </a:rPr>
              <a:t>장기 프로필 · 활성 로드맵</a:t>
            </a:r>
            <a:endParaRPr lang="en-US" sz="1410" dirty="0"/>
          </a:p>
        </p:txBody>
      </p:sp>
      <p:sp>
        <p:nvSpPr>
          <p:cNvPr id="17" name="Text 14"/>
          <p:cNvSpPr/>
          <p:nvPr/>
        </p:nvSpPr>
        <p:spPr>
          <a:xfrm>
            <a:off x="777240" y="6437376"/>
            <a:ext cx="8092440" cy="201168"/>
          </a:xfrm>
          <a:prstGeom prst="rect">
            <a:avLst/>
          </a:prstGeom>
          <a:noFill/>
          <a:ln/>
        </p:spPr>
        <p:txBody>
          <a:bodyPr wrap="square" lIns="0" tIns="0" rIns="0" bIns="0" rtlCol="0" anchor="ctr">
            <a:normAutofit/>
          </a:bodyPr>
          <a:lstStyle/>
          <a:p>
            <a:pPr indent="0" marL="0">
              <a:buNone/>
            </a:pPr>
            <a:r>
              <a:rPr lang="en-US" sz="1020" dirty="0">
                <a:solidFill>
                  <a:srgbClr val="707070"/>
                </a:solidFill>
                <a:latin typeface="Malgun Gothic" pitchFamily="34" charset="0"/>
                <a:ea typeface="Malgun Gothic" pitchFamily="34" charset="-122"/>
                <a:cs typeface="Malgun Gothic" pitchFamily="34" charset="-120"/>
              </a:rPr>
              <a:t>초기 로드맵 생성 · 재조회 구현 / 다단계 자동 갱신은 별도</a:t>
            </a:r>
            <a:endParaRPr lang="en-US" sz="1020" dirty="0"/>
          </a:p>
        </p:txBody>
      </p:sp>
      <p:sp>
        <p:nvSpPr>
          <p:cNvPr id="18" name="Topic explanation 18"/>
          <p:cNvSpPr/>
          <p:nvPr/>
        </p:nvSpPr>
        <p:spPr>
          <a:xfrm>
            <a:off x="3666744" y="2459736"/>
            <a:ext cx="7406640" cy="310896"/>
          </a:xfrm>
          <a:prstGeom prst="rect">
            <a:avLst/>
          </a:prstGeom>
          <a:noFill/>
          <a:ln/>
        </p:spPr>
        <p:txBody>
          <a:bodyPr wrap="square" lIns="0" tIns="0" rIns="0" bIns="0" rtlCol="0" anchor="ctr">
            <a:normAutofit/>
          </a:bodyPr>
          <a:lstStyle/>
          <a:p>
            <a:pPr indent="0" marL="0">
              <a:buNone/>
            </a:pPr>
            <a:r>
              <a:rPr lang="en-US" sz="1500" b="0" dirty="0">
                <a:solidFill>
                  <a:srgbClr val="333333"/>
                </a:solidFill>
                <a:latin typeface="Malgun Gothic" pitchFamily="34" charset="0"/>
                <a:ea typeface="Malgun Gothic" pitchFamily="34" charset="-122"/>
                <a:cs typeface="Malgun Gothic" pitchFamily="34" charset="-120"/>
              </a:rPr>
              <a:t>분석 결과 → 변경점 · 확인 기준 → 초기 로드맵</a:t>
            </a:r>
            <a:endParaRPr lang="en-US" sz="1500" dirty="0" b="0"/>
          </a:p>
        </p:txBody>
      </p:sp>
      <p:sp>
        <p:nvSpPr>
          <p:cNvPr id="19" name="Topic explanation 19"/>
          <p:cNvSpPr/>
          <p:nvPr/>
        </p:nvSpPr>
        <p:spPr>
          <a:xfrm>
            <a:off x="3666744" y="5349240"/>
            <a:ext cx="7406640" cy="310896"/>
          </a:xfrm>
          <a:prstGeom prst="rect">
            <a:avLst/>
          </a:prstGeom>
          <a:noFill/>
          <a:ln/>
        </p:spPr>
        <p:txBody>
          <a:bodyPr wrap="square" lIns="0" tIns="0" rIns="0" bIns="0" rtlCol="0" anchor="ctr">
            <a:normAutofit/>
          </a:bodyPr>
          <a:lstStyle/>
          <a:p>
            <a:pPr indent="0" marL="0">
              <a:buNone/>
            </a:pPr>
            <a:r>
              <a:rPr lang="en-US" sz="1400" b="0" dirty="0">
                <a:solidFill>
                  <a:srgbClr val="555555"/>
                </a:solidFill>
                <a:latin typeface="Malgun Gothic" pitchFamily="34" charset="0"/>
                <a:ea typeface="Malgun Gothic" pitchFamily="34" charset="-122"/>
                <a:cs typeface="Malgun Gothic" pitchFamily="34" charset="-120"/>
              </a:rPr>
              <a:t>재로그인 → 동일 회원의 프로필 · 활성 로드맵 조회</a:t>
            </a:r>
            <a:endParaRPr lang="en-US" sz="1400" dirty="0" b="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Swing Analyzer — Bootcamp Presentation</dc:title>
  <dc:subject>Development learning, implementation boundaries, LangGraph, product summary</dc:subject>
  <dc:creator>Swing Analyzer</dc:creator>
  <cp:lastModifiedBy>Swing Analyzer</cp:lastModifiedBy>
  <cp:revision>1</cp:revision>
  <dcterms:created xsi:type="dcterms:W3CDTF">2026-09-15T12:05:25Z</dcterms:created>
  <dcterms:modified xsi:type="dcterms:W3CDTF">2026-09-15T12:05:25Z</dcterms:modified>
</cp:coreProperties>
</file>